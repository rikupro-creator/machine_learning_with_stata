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embeddedFontLst>
    <p:embeddedFont>
      <p:font typeface="Roboto Mono"/>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Mono-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Mono-italic.fntdata"/><Relationship Id="rId30" Type="http://schemas.openxmlformats.org/officeDocument/2006/relationships/font" Target="fonts/RobotoMono-bold.fntdata"/><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RobotoMono-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7825e5751f2a3a4a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7825e5751f2a3a4a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7825e5751f2a3a4a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7825e5751f2a3a4a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7825e5751f2a3a4a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7825e5751f2a3a4a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7825e5751f2a3a4a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7825e5751f2a3a4a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7825e5751f2a3a4a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7825e5751f2a3a4a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7825e5751f2a3a4a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7825e5751f2a3a4a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7825e5751f2a3a4a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7825e5751f2a3a4a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7825e5751f2a3a4a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7825e5751f2a3a4a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7825e5751f2a3a4a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7825e5751f2a3a4a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7825e5751f2a3a4a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7825e5751f2a3a4a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7825e5751f2a3a4a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7825e5751f2a3a4a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7825e5751f2a3a4a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7825e5751f2a3a4a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7825e5751f2a3a4a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7825e5751f2a3a4a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7825e5751f2a3a4a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7825e5751f2a3a4a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7825e5751f2a3a4a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7825e5751f2a3a4a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7825e5751f2a3a4a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7825e5751f2a3a4a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7825e5751f2a3a4a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7825e5751f2a3a4a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7825e5751f2a3a4a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7825e5751f2a3a4a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7825e5751f2a3a4a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7825e5751f2a3a4a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7825e5751f2a3a4a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7825e5751f2a3a4a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7825e5751f2a3a4a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7825e5751f2a3a4a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7825e5751f2a3a4a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7825e5751f2a3a4a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A Guide for Efficient Data Cleaning in Stata</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100">
                <a:solidFill>
                  <a:schemeClr val="dk1"/>
                </a:solidFill>
              </a:rPr>
              <a:t>Why It Matters:</a:t>
            </a:r>
            <a:endParaRPr b="1" sz="11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Missing values affect model performance.</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Efficient handling ensures reliable results.</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Objective:</a:t>
            </a:r>
            <a:r>
              <a:rPr lang="en" sz="1100">
                <a:solidFill>
                  <a:schemeClr val="dk1"/>
                </a:solidFill>
              </a:rPr>
              <a:t> Overview of methods to handle missing data.</a:t>
            </a:r>
            <a:endParaRPr sz="1100">
              <a:solidFill>
                <a:schemeClr val="dk1"/>
              </a:solidFill>
            </a:endParaRPr>
          </a:p>
          <a:p>
            <a:pPr indent="0" lvl="0" marL="0" rtl="0" algn="l">
              <a:spcBef>
                <a:spcPts val="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Types of Missing Values</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100">
                <a:solidFill>
                  <a:schemeClr val="dk1"/>
                </a:solidFill>
              </a:rPr>
              <a:t>MCAR:</a:t>
            </a:r>
            <a:r>
              <a:rPr lang="en" sz="1100">
                <a:solidFill>
                  <a:schemeClr val="dk1"/>
                </a:solidFill>
              </a:rPr>
              <a:t> Missing Completely at Random</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MAR:</a:t>
            </a:r>
            <a:r>
              <a:rPr lang="en" sz="1100">
                <a:solidFill>
                  <a:schemeClr val="dk1"/>
                </a:solidFill>
              </a:rPr>
              <a:t> Missing at Random</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MNAR:</a:t>
            </a:r>
            <a:r>
              <a:rPr lang="en" sz="1100">
                <a:solidFill>
                  <a:schemeClr val="dk1"/>
                </a:solidFill>
              </a:rPr>
              <a:t> Missing Not at Random</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do we care about missing values?</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Many machine learning algorithms fail if the dataset contains missing values. However, algorithms like K-nearest and Naive Bayes support data with missing values.</a:t>
            </a:r>
            <a:endParaRPr/>
          </a:p>
          <a:p>
            <a:pPr indent="-342900" lvl="0" marL="457200" rtl="0" algn="l">
              <a:spcBef>
                <a:spcPts val="0"/>
              </a:spcBef>
              <a:spcAft>
                <a:spcPts val="0"/>
              </a:spcAft>
              <a:buSzPts val="1800"/>
              <a:buChar char="●"/>
            </a:pPr>
            <a:r>
              <a:rPr lang="en"/>
              <a:t>You may end up building a biased machine learning model, leading to incorrect results if the missing values are not handled properly.</a:t>
            </a:r>
            <a:endParaRPr/>
          </a:p>
          <a:p>
            <a:pPr indent="-342900" lvl="0" marL="457200" rtl="0" algn="l">
              <a:spcBef>
                <a:spcPts val="0"/>
              </a:spcBef>
              <a:spcAft>
                <a:spcPts val="0"/>
              </a:spcAft>
              <a:buSzPts val="1800"/>
              <a:buChar char="●"/>
            </a:pPr>
            <a:r>
              <a:rPr lang="en"/>
              <a:t>Missing data can lead to a lack of precision in the statistical analysis.</a:t>
            </a:r>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MCAR in Detail</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chemeClr val="dk1"/>
              </a:buClr>
              <a:buSzPts val="1100"/>
              <a:buChar char="●"/>
            </a:pPr>
            <a:r>
              <a:rPr lang="en"/>
              <a:t>No relationship between missing data and other variables.</a:t>
            </a:r>
            <a:endParaRPr/>
          </a:p>
          <a:p>
            <a:pPr indent="-298450" lvl="0" marL="457200" rtl="0" algn="l">
              <a:spcBef>
                <a:spcPts val="0"/>
              </a:spcBef>
              <a:spcAft>
                <a:spcPts val="0"/>
              </a:spcAft>
              <a:buClr>
                <a:schemeClr val="dk1"/>
              </a:buClr>
              <a:buSzPts val="1100"/>
              <a:buChar char="●"/>
            </a:pPr>
            <a:r>
              <a:rPr lang="en"/>
              <a:t>Example: Random survey responses missing.</a:t>
            </a:r>
            <a:endParaRPr/>
          </a:p>
          <a:p>
            <a:pPr indent="0" lvl="0" marL="0" rtl="0" algn="l">
              <a:spcBef>
                <a:spcPts val="1200"/>
              </a:spcBef>
              <a:spcAft>
                <a:spcPts val="0"/>
              </a:spcAft>
              <a:buNone/>
            </a:pPr>
            <a:r>
              <a:rPr lang="en"/>
              <a:t>Eg.</a:t>
            </a:r>
            <a:endParaRPr/>
          </a:p>
          <a:p>
            <a:pPr indent="0" lvl="0" marL="0" rtl="0" algn="l">
              <a:spcBef>
                <a:spcPts val="1200"/>
              </a:spcBef>
              <a:spcAft>
                <a:spcPts val="1200"/>
              </a:spcAft>
              <a:buNone/>
            </a:pPr>
            <a:r>
              <a:rPr lang="en"/>
              <a:t>E.g., Suppose that after the customer service call ends, we would be asked to give ratings to the customer representative. Not all the customers would do this and any customer who decides to give feedback is completely random irrespective of their experience or any other factors. In this case the missing values in the feedback column would be an MCAR.</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MAR in Detail</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chemeClr val="dk1"/>
              </a:buClr>
              <a:buSzPts val="1100"/>
              <a:buChar char="●"/>
            </a:pPr>
            <a:r>
              <a:rPr lang="en"/>
              <a:t>Missingness explained by other observed data.</a:t>
            </a:r>
            <a:endParaRPr/>
          </a:p>
          <a:p>
            <a:pPr indent="-298450" lvl="0" marL="457200" rtl="0" algn="l">
              <a:spcBef>
                <a:spcPts val="0"/>
              </a:spcBef>
              <a:spcAft>
                <a:spcPts val="0"/>
              </a:spcAft>
              <a:buClr>
                <a:schemeClr val="dk1"/>
              </a:buClr>
              <a:buSzPts val="1100"/>
              <a:buChar char="●"/>
            </a:pPr>
            <a:r>
              <a:rPr lang="en"/>
              <a:t>Example: Gender influencing survey responses.</a:t>
            </a:r>
            <a:endParaRPr/>
          </a:p>
          <a:p>
            <a:pPr indent="0" lvl="0" marL="0" rtl="0" algn="l">
              <a:spcBef>
                <a:spcPts val="1200"/>
              </a:spcBef>
              <a:spcAft>
                <a:spcPts val="0"/>
              </a:spcAft>
              <a:buNone/>
            </a:pPr>
            <a:r>
              <a:rPr lang="en"/>
              <a:t>Eg. </a:t>
            </a:r>
            <a:br>
              <a:rPr lang="en"/>
            </a:br>
            <a:r>
              <a:rPr lang="en"/>
              <a:t>For e.g., suppose a survey is taken at a dermatology clinic where the gender and their skincare routine is asked. Assume that most of the females answer the survey whereas men are less likely to answer. So here, why the data is missing could be explained by the factor, that is gender. In this case, the missing data in the skincare routine column is MAR.</a:t>
            </a:r>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MNAR in Detail</a:t>
            </a:r>
            <a:endParaRPr/>
          </a:p>
        </p:txBody>
      </p:sp>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Missing values related to unobserved data.</a:t>
            </a:r>
            <a:endParaRPr/>
          </a:p>
          <a:p>
            <a:pPr indent="0" lvl="0" marL="0" rtl="0" algn="l">
              <a:spcBef>
                <a:spcPts val="1200"/>
              </a:spcBef>
              <a:spcAft>
                <a:spcPts val="0"/>
              </a:spcAft>
              <a:buNone/>
            </a:pPr>
            <a:r>
              <a:rPr lang="en"/>
              <a:t>Example: High-income individuals not disclosing income.</a:t>
            </a:r>
            <a:endParaRPr/>
          </a:p>
          <a:p>
            <a:pPr indent="0" lvl="0" marL="0" rtl="0" algn="l">
              <a:spcBef>
                <a:spcPts val="1200"/>
              </a:spcBef>
              <a:spcAft>
                <a:spcPts val="0"/>
              </a:spcAft>
              <a:buNone/>
            </a:pPr>
            <a:r>
              <a:t/>
            </a:r>
            <a:endParaRPr/>
          </a:p>
          <a:p>
            <a:pPr indent="0" lvl="0" marL="0" rtl="0" algn="l">
              <a:spcBef>
                <a:spcPts val="1200"/>
              </a:spcBef>
              <a:spcAft>
                <a:spcPts val="0"/>
              </a:spcAft>
              <a:buClr>
                <a:schemeClr val="dk1"/>
              </a:buClr>
              <a:buSzPts val="1100"/>
              <a:buFont typeface="Arial"/>
              <a:buNone/>
            </a:pPr>
            <a:r>
              <a:rPr lang="en"/>
              <a:t>Eg.</a:t>
            </a:r>
            <a:br>
              <a:rPr lang="en"/>
            </a:br>
            <a:r>
              <a:rPr lang="en"/>
              <a:t>For example people having more income may refuse to share the exact information in a survey or questionnaire.</a:t>
            </a:r>
            <a:endParaRPr/>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Identifying Missing Data in Stata</a:t>
            </a:r>
            <a:endParaRPr/>
          </a:p>
        </p:txBody>
      </p:sp>
      <p:sp>
        <p:nvSpPr>
          <p:cNvPr id="97" name="Google Shape;9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1200"/>
              </a:spcBef>
              <a:spcAft>
                <a:spcPts val="0"/>
              </a:spcAft>
              <a:buClr>
                <a:schemeClr val="dk1"/>
              </a:buClr>
              <a:buSzPts val="1800"/>
              <a:buChar char="●"/>
            </a:pPr>
            <a:r>
              <a:rPr lang="en">
                <a:solidFill>
                  <a:schemeClr val="dk1"/>
                </a:solidFill>
              </a:rPr>
              <a:t>Use </a:t>
            </a:r>
            <a:r>
              <a:rPr lang="en">
                <a:solidFill>
                  <a:srgbClr val="188038"/>
                </a:solidFill>
                <a:latin typeface="Roboto Mono"/>
                <a:ea typeface="Roboto Mono"/>
                <a:cs typeface="Roboto Mono"/>
                <a:sym typeface="Roboto Mono"/>
              </a:rPr>
              <a:t>misstable summarize</a:t>
            </a:r>
            <a:r>
              <a:rPr lang="en">
                <a:solidFill>
                  <a:schemeClr val="dk1"/>
                </a:solidFill>
              </a:rPr>
              <a:t> for an overview.</a:t>
            </a:r>
            <a:endParaRPr>
              <a:solidFill>
                <a:schemeClr val="dk1"/>
              </a:solidFill>
            </a:endParaRPr>
          </a:p>
          <a:p>
            <a:pPr indent="0" lvl="0" marL="0" rtl="0" algn="l">
              <a:spcBef>
                <a:spcPts val="1200"/>
              </a:spcBef>
              <a:spcAft>
                <a:spcPts val="0"/>
              </a:spcAft>
              <a:buNone/>
            </a:pPr>
            <a:r>
              <a:rPr lang="en">
                <a:solidFill>
                  <a:schemeClr val="dk1"/>
                </a:solidFill>
              </a:rPr>
              <a:t>Example Command:</a:t>
            </a:r>
            <a:br>
              <a:rPr lang="en">
                <a:solidFill>
                  <a:schemeClr val="dk1"/>
                </a:solidFill>
              </a:rPr>
            </a:br>
            <a:br>
              <a:rPr lang="en">
                <a:solidFill>
                  <a:schemeClr val="dk1"/>
                </a:solidFill>
              </a:rPr>
            </a:br>
            <a:r>
              <a:rPr lang="en">
                <a:solidFill>
                  <a:srgbClr val="188038"/>
                </a:solidFill>
                <a:latin typeface="Roboto Mono"/>
                <a:ea typeface="Roboto Mono"/>
                <a:cs typeface="Roboto Mono"/>
                <a:sym typeface="Roboto Mono"/>
              </a:rPr>
              <a:t>misstable summarize</a:t>
            </a:r>
            <a:endParaRPr>
              <a:solidFill>
                <a:srgbClr val="188038"/>
              </a:solidFill>
              <a:latin typeface="Roboto Mono"/>
              <a:ea typeface="Roboto Mono"/>
              <a:cs typeface="Roboto Mono"/>
              <a:sym typeface="Roboto Mono"/>
            </a:endParaRPr>
          </a:p>
          <a:p>
            <a:pPr indent="-342900" lvl="0" marL="457200" rtl="0" algn="l">
              <a:spcBef>
                <a:spcPts val="1200"/>
              </a:spcBef>
              <a:spcAft>
                <a:spcPts val="0"/>
              </a:spcAft>
              <a:buClr>
                <a:schemeClr val="dk1"/>
              </a:buClr>
              <a:buSzPts val="1800"/>
              <a:buChar char="●"/>
            </a:pPr>
            <a:r>
              <a:t/>
            </a:r>
            <a:endParaRPr>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Deleting Columns</a:t>
            </a:r>
            <a:endParaRPr/>
          </a:p>
        </p:txBody>
      </p:sp>
      <p:sp>
        <p:nvSpPr>
          <p:cNvPr id="103" name="Google Shape;103;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1200"/>
              </a:spcBef>
              <a:spcAft>
                <a:spcPts val="0"/>
              </a:spcAft>
              <a:buClr>
                <a:schemeClr val="dk1"/>
              </a:buClr>
              <a:buSzPts val="1800"/>
              <a:buChar char="●"/>
            </a:pPr>
            <a:r>
              <a:rPr b="1" lang="en">
                <a:solidFill>
                  <a:schemeClr val="dk1"/>
                </a:solidFill>
              </a:rPr>
              <a:t>When to Use:</a:t>
            </a:r>
            <a:endParaRPr b="1">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High proportion of missing data.</a:t>
            </a:r>
            <a:endParaRPr sz="1800">
              <a:solidFill>
                <a:schemeClr val="dk1"/>
              </a:solidFill>
            </a:endParaRPr>
          </a:p>
          <a:p>
            <a:pPr indent="0" lvl="0" marL="0" rtl="0" algn="l">
              <a:spcBef>
                <a:spcPts val="1200"/>
              </a:spcBef>
              <a:spcAft>
                <a:spcPts val="0"/>
              </a:spcAft>
              <a:buNone/>
            </a:pPr>
            <a:r>
              <a:rPr b="1" lang="en">
                <a:solidFill>
                  <a:schemeClr val="dk1"/>
                </a:solidFill>
              </a:rPr>
              <a:t>Stata Command:</a:t>
            </a:r>
            <a:br>
              <a:rPr b="1" lang="en">
                <a:solidFill>
                  <a:schemeClr val="dk1"/>
                </a:solidFill>
              </a:rPr>
            </a:br>
            <a:br>
              <a:rPr lang="en">
                <a:solidFill>
                  <a:schemeClr val="dk1"/>
                </a:solidFill>
              </a:rPr>
            </a:br>
            <a:r>
              <a:rPr lang="en">
                <a:solidFill>
                  <a:srgbClr val="188038"/>
                </a:solidFill>
                <a:latin typeface="Roboto Mono"/>
                <a:ea typeface="Roboto Mono"/>
                <a:cs typeface="Roboto Mono"/>
                <a:sym typeface="Roboto Mono"/>
              </a:rPr>
              <a:t>drop varname</a:t>
            </a:r>
            <a:endParaRPr>
              <a:solidFill>
                <a:srgbClr val="188038"/>
              </a:solidFill>
              <a:latin typeface="Roboto Mono"/>
              <a:ea typeface="Roboto Mono"/>
              <a:cs typeface="Roboto Mono"/>
              <a:sym typeface="Roboto Mono"/>
            </a:endParaRPr>
          </a:p>
          <a:p>
            <a:pPr indent="-342900" lvl="0" marL="457200" rtl="0" algn="l">
              <a:spcBef>
                <a:spcPts val="1200"/>
              </a:spcBef>
              <a:spcAft>
                <a:spcPts val="0"/>
              </a:spcAft>
              <a:buClr>
                <a:schemeClr val="dk1"/>
              </a:buClr>
              <a:buSzPts val="1800"/>
              <a:buChar char="●"/>
            </a:pPr>
            <a:r>
              <a:t/>
            </a:r>
            <a:endParaRPr>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Deleting Rows</a:t>
            </a:r>
            <a:endParaRPr/>
          </a:p>
        </p:txBody>
      </p:sp>
      <p:sp>
        <p:nvSpPr>
          <p:cNvPr id="109" name="Google Shape;109;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1200"/>
              </a:spcBef>
              <a:spcAft>
                <a:spcPts val="0"/>
              </a:spcAft>
              <a:buClr>
                <a:schemeClr val="dk1"/>
              </a:buClr>
              <a:buSzPts val="1800"/>
              <a:buChar char="●"/>
            </a:pPr>
            <a:r>
              <a:rPr b="1" lang="en">
                <a:solidFill>
                  <a:schemeClr val="dk1"/>
                </a:solidFill>
              </a:rPr>
              <a:t>When to Use:</a:t>
            </a:r>
            <a:endParaRPr b="1">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Limited missing rows across dataset.</a:t>
            </a:r>
            <a:endParaRPr sz="1800">
              <a:solidFill>
                <a:schemeClr val="dk1"/>
              </a:solidFill>
            </a:endParaRPr>
          </a:p>
          <a:p>
            <a:pPr indent="0" lvl="0" marL="0" rtl="0" algn="l">
              <a:spcBef>
                <a:spcPts val="1200"/>
              </a:spcBef>
              <a:spcAft>
                <a:spcPts val="0"/>
              </a:spcAft>
              <a:buNone/>
            </a:pPr>
            <a:r>
              <a:rPr b="1" lang="en">
                <a:solidFill>
                  <a:schemeClr val="dk1"/>
                </a:solidFill>
              </a:rPr>
              <a:t>Stata Command:</a:t>
            </a:r>
            <a:br>
              <a:rPr b="1" lang="en">
                <a:solidFill>
                  <a:schemeClr val="dk1"/>
                </a:solidFill>
              </a:rPr>
            </a:br>
            <a:br>
              <a:rPr lang="en">
                <a:solidFill>
                  <a:schemeClr val="dk1"/>
                </a:solidFill>
              </a:rPr>
            </a:br>
            <a:r>
              <a:rPr lang="en">
                <a:solidFill>
                  <a:srgbClr val="188038"/>
                </a:solidFill>
                <a:latin typeface="Roboto Mono"/>
                <a:ea typeface="Roboto Mono"/>
                <a:cs typeface="Roboto Mono"/>
                <a:sym typeface="Roboto Mono"/>
              </a:rPr>
              <a:t>drop if missing(varname)</a:t>
            </a:r>
            <a:endParaRPr>
              <a:solidFill>
                <a:srgbClr val="188038"/>
              </a:solidFill>
              <a:latin typeface="Roboto Mono"/>
              <a:ea typeface="Roboto Mono"/>
              <a:cs typeface="Roboto Mono"/>
              <a:sym typeface="Roboto Mono"/>
            </a:endParaRPr>
          </a:p>
          <a:p>
            <a:pPr indent="-342900" lvl="0" marL="457200" rtl="0" algn="l">
              <a:spcBef>
                <a:spcPts val="1200"/>
              </a:spcBef>
              <a:spcAft>
                <a:spcPts val="0"/>
              </a:spcAft>
              <a:buClr>
                <a:schemeClr val="dk1"/>
              </a:buClr>
              <a:buSzPts val="1800"/>
              <a:buChar char="●"/>
            </a:pPr>
            <a:r>
              <a:t/>
            </a:r>
            <a:endParaRPr>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Imputing with Mean/Median</a:t>
            </a:r>
            <a:endParaRPr/>
          </a:p>
        </p:txBody>
      </p:sp>
      <p:sp>
        <p:nvSpPr>
          <p:cNvPr id="115" name="Google Shape;115;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solidFill>
                  <a:schemeClr val="dk1"/>
                </a:solidFill>
              </a:rPr>
              <a:t>Replace numeric missing values with column mean/median.</a:t>
            </a:r>
            <a:endParaRPr>
              <a:solidFill>
                <a:schemeClr val="dk1"/>
              </a:solidFill>
            </a:endParaRPr>
          </a:p>
          <a:p>
            <a:pPr indent="0" lvl="0" marL="0" rtl="0" algn="l">
              <a:spcBef>
                <a:spcPts val="1200"/>
              </a:spcBef>
              <a:spcAft>
                <a:spcPts val="0"/>
              </a:spcAft>
              <a:buClr>
                <a:schemeClr val="dk1"/>
              </a:buClr>
              <a:buSzPts val="1100"/>
              <a:buFont typeface="Arial"/>
              <a:buNone/>
            </a:pPr>
            <a:r>
              <a:rPr b="1" lang="en">
                <a:solidFill>
                  <a:schemeClr val="dk1"/>
                </a:solidFill>
              </a:rPr>
              <a:t>Stata Command:</a:t>
            </a:r>
            <a:br>
              <a:rPr b="1" lang="en">
                <a:solidFill>
                  <a:schemeClr val="dk1"/>
                </a:solidFill>
              </a:rPr>
            </a:br>
            <a:br>
              <a:rPr lang="en">
                <a:solidFill>
                  <a:schemeClr val="dk1"/>
                </a:solidFill>
              </a:rPr>
            </a:br>
            <a:r>
              <a:rPr lang="en">
                <a:solidFill>
                  <a:srgbClr val="188038"/>
                </a:solidFill>
                <a:latin typeface="Roboto Mono"/>
                <a:ea typeface="Roboto Mono"/>
                <a:cs typeface="Roboto Mono"/>
                <a:sym typeface="Roboto Mono"/>
              </a:rPr>
              <a:t>replace varname = r(mean) if missing(varname)</a:t>
            </a:r>
            <a:endParaRPr>
              <a:solidFill>
                <a:srgbClr val="188038"/>
              </a:solidFill>
              <a:latin typeface="Roboto Mono"/>
              <a:ea typeface="Roboto Mono"/>
              <a:cs typeface="Roboto Mono"/>
              <a:sym typeface="Roboto Mono"/>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Group-Level Imputation</a:t>
            </a:r>
            <a:endParaRPr/>
          </a:p>
        </p:txBody>
      </p:sp>
      <p:sp>
        <p:nvSpPr>
          <p:cNvPr id="121" name="Google Shape;121;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solidFill>
                  <a:schemeClr val="dk1"/>
                </a:solidFill>
              </a:rPr>
              <a:t>Use mean/median within groups.</a:t>
            </a:r>
            <a:endParaRPr>
              <a:solidFill>
                <a:schemeClr val="dk1"/>
              </a:solidFill>
            </a:endParaRPr>
          </a:p>
          <a:p>
            <a:pPr indent="0" lvl="0" marL="0" rtl="0" algn="l">
              <a:spcBef>
                <a:spcPts val="1200"/>
              </a:spcBef>
              <a:spcAft>
                <a:spcPts val="0"/>
              </a:spcAft>
              <a:buNone/>
            </a:pPr>
            <a:r>
              <a:rPr b="1" lang="en">
                <a:solidFill>
                  <a:schemeClr val="dk1"/>
                </a:solidFill>
              </a:rPr>
              <a:t>Stata Example:</a:t>
            </a:r>
            <a:br>
              <a:rPr b="1" lang="en">
                <a:solidFill>
                  <a:schemeClr val="dk1"/>
                </a:solidFill>
              </a:rPr>
            </a:br>
            <a:br>
              <a:rPr lang="en">
                <a:solidFill>
                  <a:schemeClr val="dk1"/>
                </a:solidFill>
              </a:rPr>
            </a:br>
            <a:r>
              <a:rPr lang="en">
                <a:solidFill>
                  <a:srgbClr val="188038"/>
                </a:solidFill>
                <a:latin typeface="Roboto Mono"/>
                <a:ea typeface="Roboto Mono"/>
                <a:cs typeface="Roboto Mono"/>
                <a:sym typeface="Roboto Mono"/>
              </a:rPr>
              <a:t>egen groupmean = mean(varname), by(groupvar)</a:t>
            </a:r>
            <a:endParaRPr>
              <a:solidFill>
                <a:srgbClr val="188038"/>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rPr lang="en">
                <a:solidFill>
                  <a:srgbClr val="188038"/>
                </a:solidFill>
                <a:latin typeface="Roboto Mono"/>
                <a:ea typeface="Roboto Mono"/>
                <a:cs typeface="Roboto Mono"/>
                <a:sym typeface="Roboto Mono"/>
              </a:rPr>
              <a:t>replace varname = groupmean if missing(varname)</a:t>
            </a:r>
            <a:endParaRPr>
              <a:solidFill>
                <a:srgbClr val="188038"/>
              </a:solidFill>
              <a:latin typeface="Roboto Mono"/>
              <a:ea typeface="Roboto Mono"/>
              <a:cs typeface="Roboto Mono"/>
              <a:sym typeface="Roboto Mono"/>
            </a:endParaRPr>
          </a:p>
          <a:p>
            <a:pPr indent="0" lvl="0" marL="0" rtl="0" algn="l">
              <a:spcBef>
                <a:spcPts val="12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Imputing Categorical Columns</a:t>
            </a:r>
            <a:endParaRPr/>
          </a:p>
        </p:txBody>
      </p:sp>
      <p:sp>
        <p:nvSpPr>
          <p:cNvPr id="127" name="Google Shape;127;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solidFill>
                  <a:schemeClr val="dk1"/>
                </a:solidFill>
              </a:rPr>
              <a:t>Replace with most frequent category or a new category.</a:t>
            </a:r>
            <a:endParaRPr>
              <a:solidFill>
                <a:schemeClr val="dk1"/>
              </a:solidFill>
            </a:endParaRPr>
          </a:p>
          <a:p>
            <a:pPr indent="0" lvl="0" marL="0" rtl="0" algn="l">
              <a:spcBef>
                <a:spcPts val="1200"/>
              </a:spcBef>
              <a:spcAft>
                <a:spcPts val="0"/>
              </a:spcAft>
              <a:buClr>
                <a:schemeClr val="dk1"/>
              </a:buClr>
              <a:buSzPts val="1100"/>
              <a:buFont typeface="Arial"/>
              <a:buNone/>
            </a:pPr>
            <a:r>
              <a:rPr b="1" lang="en">
                <a:solidFill>
                  <a:schemeClr val="dk1"/>
                </a:solidFill>
              </a:rPr>
              <a:t>Stata Command:</a:t>
            </a:r>
            <a:br>
              <a:rPr b="1" lang="en">
                <a:solidFill>
                  <a:schemeClr val="dk1"/>
                </a:solidFill>
              </a:rPr>
            </a:br>
            <a:br>
              <a:rPr lang="en">
                <a:solidFill>
                  <a:schemeClr val="dk1"/>
                </a:solidFill>
              </a:rPr>
            </a:br>
            <a:r>
              <a:rPr lang="en">
                <a:solidFill>
                  <a:srgbClr val="188038"/>
                </a:solidFill>
                <a:latin typeface="Roboto Mono"/>
                <a:ea typeface="Roboto Mono"/>
                <a:cs typeface="Roboto Mono"/>
                <a:sym typeface="Roboto Mono"/>
              </a:rPr>
              <a:t>replace varname = "new_category" if missing(varname)</a:t>
            </a:r>
            <a:endParaRPr>
              <a:solidFill>
                <a:srgbClr val="188038"/>
              </a:solidFill>
              <a:latin typeface="Roboto Mono"/>
              <a:ea typeface="Roboto Mono"/>
              <a:cs typeface="Roboto Mono"/>
              <a:sym typeface="Roboto Mono"/>
            </a:endParaRPr>
          </a:p>
          <a:p>
            <a:pPr indent="0" lvl="0" marL="0" rtl="0" algn="l">
              <a:spcBef>
                <a:spcPts val="120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Forward/Backward Fill</a:t>
            </a:r>
            <a:endParaRPr/>
          </a:p>
        </p:txBody>
      </p:sp>
      <p:sp>
        <p:nvSpPr>
          <p:cNvPr id="133" name="Google Shape;133;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solidFill>
                  <a:schemeClr val="dk1"/>
                </a:solidFill>
              </a:rPr>
              <a:t>Fill values based on preceding or succeeding data.</a:t>
            </a:r>
            <a:endParaRPr>
              <a:solidFill>
                <a:schemeClr val="dk1"/>
              </a:solidFill>
            </a:endParaRPr>
          </a:p>
          <a:p>
            <a:pPr indent="0" lvl="0" marL="0" rtl="0" algn="l">
              <a:spcBef>
                <a:spcPts val="1200"/>
              </a:spcBef>
              <a:spcAft>
                <a:spcPts val="0"/>
              </a:spcAft>
              <a:buNone/>
            </a:pPr>
            <a:r>
              <a:rPr b="1" lang="en">
                <a:solidFill>
                  <a:schemeClr val="dk1"/>
                </a:solidFill>
              </a:rPr>
              <a:t>Stata Example:</a:t>
            </a:r>
            <a:br>
              <a:rPr b="1" lang="en">
                <a:solidFill>
                  <a:schemeClr val="dk1"/>
                </a:solidFill>
              </a:rPr>
            </a:br>
            <a:br>
              <a:rPr lang="en">
                <a:solidFill>
                  <a:schemeClr val="dk1"/>
                </a:solidFill>
              </a:rPr>
            </a:br>
            <a:r>
              <a:rPr lang="en">
                <a:solidFill>
                  <a:srgbClr val="188038"/>
                </a:solidFill>
                <a:latin typeface="Roboto Mono"/>
                <a:ea typeface="Roboto Mono"/>
                <a:cs typeface="Roboto Mono"/>
                <a:sym typeface="Roboto Mono"/>
              </a:rPr>
              <a:t>replace varname = varname[_n-1] if missing(varname) // Forward Fill</a:t>
            </a:r>
            <a:endParaRPr>
              <a:solidFill>
                <a:srgbClr val="188038"/>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rPr lang="en">
                <a:solidFill>
                  <a:srgbClr val="188038"/>
                </a:solidFill>
                <a:latin typeface="Roboto Mono"/>
                <a:ea typeface="Roboto Mono"/>
                <a:cs typeface="Roboto Mono"/>
                <a:sym typeface="Roboto Mono"/>
              </a:rPr>
              <a:t>replace varname = varname[_n+1] if missing(varname) // Backward Fill</a:t>
            </a:r>
            <a:endParaRPr>
              <a:solidFill>
                <a:srgbClr val="188038"/>
              </a:solidFill>
              <a:latin typeface="Roboto Mono"/>
              <a:ea typeface="Roboto Mono"/>
              <a:cs typeface="Roboto Mono"/>
              <a:sym typeface="Roboto Mono"/>
            </a:endParaRPr>
          </a:p>
          <a:p>
            <a:pPr indent="0" lvl="0" marL="0" rtl="0" algn="l">
              <a:spcBef>
                <a:spcPts val="120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Interpolation</a:t>
            </a:r>
            <a:endParaRPr/>
          </a:p>
        </p:txBody>
      </p:sp>
      <p:sp>
        <p:nvSpPr>
          <p:cNvPr id="139" name="Google Shape;139;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solidFill>
                  <a:schemeClr val="dk1"/>
                </a:solidFill>
              </a:rPr>
              <a:t>Estimate missing values using trends in data.</a:t>
            </a:r>
            <a:endParaRPr>
              <a:solidFill>
                <a:schemeClr val="dk1"/>
              </a:solidFill>
            </a:endParaRPr>
          </a:p>
          <a:p>
            <a:pPr indent="0" lvl="0" marL="0" rtl="0" algn="l">
              <a:spcBef>
                <a:spcPts val="1200"/>
              </a:spcBef>
              <a:spcAft>
                <a:spcPts val="0"/>
              </a:spcAft>
              <a:buClr>
                <a:schemeClr val="dk1"/>
              </a:buClr>
              <a:buSzPts val="1100"/>
              <a:buFont typeface="Arial"/>
              <a:buNone/>
            </a:pPr>
            <a:r>
              <a:rPr b="1" lang="en">
                <a:solidFill>
                  <a:schemeClr val="dk1"/>
                </a:solidFill>
              </a:rPr>
              <a:t>Stata Command:</a:t>
            </a:r>
            <a:br>
              <a:rPr lang="en">
                <a:solidFill>
                  <a:schemeClr val="dk1"/>
                </a:solidFill>
              </a:rPr>
            </a:br>
            <a:r>
              <a:rPr lang="en">
                <a:solidFill>
                  <a:srgbClr val="188038"/>
                </a:solidFill>
                <a:latin typeface="Roboto Mono"/>
                <a:ea typeface="Roboto Mono"/>
                <a:cs typeface="Roboto Mono"/>
                <a:sym typeface="Roboto Mono"/>
              </a:rPr>
              <a:t>ipolate varname timevar, gen(newvar)</a:t>
            </a:r>
            <a:endParaRPr>
              <a:solidFill>
                <a:srgbClr val="188038"/>
              </a:solidFill>
              <a:latin typeface="Roboto Mono"/>
              <a:ea typeface="Roboto Mono"/>
              <a:cs typeface="Roboto Mono"/>
              <a:sym typeface="Roboto Mono"/>
            </a:endParaRPr>
          </a:p>
          <a:p>
            <a:pPr indent="0" lvl="0" marL="0" rtl="0" algn="l">
              <a:spcBef>
                <a:spcPts val="1200"/>
              </a:spcBef>
              <a:spcAft>
                <a:spcPts val="12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Regression-Based Imputation</a:t>
            </a:r>
            <a:endParaRPr/>
          </a:p>
        </p:txBody>
      </p:sp>
      <p:sp>
        <p:nvSpPr>
          <p:cNvPr id="145" name="Google Shape;145;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solidFill>
                  <a:schemeClr val="dk1"/>
                </a:solidFill>
              </a:rPr>
              <a:t>Predict missing values using regression.</a:t>
            </a:r>
            <a:endParaRPr>
              <a:solidFill>
                <a:schemeClr val="dk1"/>
              </a:solidFill>
            </a:endParaRPr>
          </a:p>
          <a:p>
            <a:pPr indent="0" lvl="0" marL="0" rtl="0" algn="l">
              <a:spcBef>
                <a:spcPts val="1200"/>
              </a:spcBef>
              <a:spcAft>
                <a:spcPts val="0"/>
              </a:spcAft>
              <a:buNone/>
            </a:pPr>
            <a:r>
              <a:rPr b="1" lang="en">
                <a:solidFill>
                  <a:schemeClr val="dk1"/>
                </a:solidFill>
              </a:rPr>
              <a:t>Stata Commands:</a:t>
            </a:r>
            <a:br>
              <a:rPr b="1" lang="en">
                <a:solidFill>
                  <a:schemeClr val="dk1"/>
                </a:solidFill>
              </a:rPr>
            </a:br>
            <a:br>
              <a:rPr lang="en">
                <a:solidFill>
                  <a:schemeClr val="dk1"/>
                </a:solidFill>
              </a:rPr>
            </a:br>
            <a:r>
              <a:rPr lang="en">
                <a:solidFill>
                  <a:srgbClr val="188038"/>
                </a:solidFill>
                <a:latin typeface="Roboto Mono"/>
                <a:ea typeface="Roboto Mono"/>
                <a:cs typeface="Roboto Mono"/>
                <a:sym typeface="Roboto Mono"/>
              </a:rPr>
              <a:t>regress targetvar predictors_missing  </a:t>
            </a:r>
            <a:endParaRPr>
              <a:solidFill>
                <a:srgbClr val="188038"/>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rPr lang="en">
                <a:solidFill>
                  <a:srgbClr val="188038"/>
                </a:solidFill>
                <a:latin typeface="Roboto Mono"/>
                <a:ea typeface="Roboto Mono"/>
                <a:cs typeface="Roboto Mono"/>
                <a:sym typeface="Roboto Mono"/>
              </a:rPr>
              <a:t>predict newvar if missing(targetvar)</a:t>
            </a:r>
            <a:endParaRPr>
              <a:solidFill>
                <a:srgbClr val="188038"/>
              </a:solidFill>
              <a:latin typeface="Roboto Mono"/>
              <a:ea typeface="Roboto Mono"/>
              <a:cs typeface="Roboto Mono"/>
              <a:sym typeface="Roboto Mono"/>
            </a:endParaRPr>
          </a:p>
          <a:p>
            <a:pPr indent="0" lvl="0" marL="0" rtl="0" algn="l">
              <a:spcBef>
                <a:spcPts val="1200"/>
              </a:spcBef>
              <a:spcAft>
                <a:spcPts val="12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Multiple Imputation (MICE)</a:t>
            </a:r>
            <a:endParaRPr/>
          </a:p>
        </p:txBody>
      </p:sp>
      <p:sp>
        <p:nvSpPr>
          <p:cNvPr id="151" name="Google Shape;151;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solidFill>
                  <a:schemeClr val="dk1"/>
                </a:solidFill>
              </a:rPr>
              <a:t>Iteratively impute missing data.</a:t>
            </a:r>
            <a:endParaRPr>
              <a:solidFill>
                <a:schemeClr val="dk1"/>
              </a:solidFill>
            </a:endParaRPr>
          </a:p>
          <a:p>
            <a:pPr indent="0" lvl="0" marL="0" rtl="0" algn="l">
              <a:spcBef>
                <a:spcPts val="1200"/>
              </a:spcBef>
              <a:spcAft>
                <a:spcPts val="0"/>
              </a:spcAft>
              <a:buNone/>
            </a:pPr>
            <a:r>
              <a:rPr b="1" lang="en">
                <a:solidFill>
                  <a:schemeClr val="dk1"/>
                </a:solidFill>
              </a:rPr>
              <a:t>Stata Command:</a:t>
            </a:r>
            <a:br>
              <a:rPr b="1" lang="en">
                <a:solidFill>
                  <a:schemeClr val="dk1"/>
                </a:solidFill>
              </a:rPr>
            </a:br>
            <a:br>
              <a:rPr lang="en">
                <a:solidFill>
                  <a:schemeClr val="dk1"/>
                </a:solidFill>
              </a:rPr>
            </a:br>
            <a:r>
              <a:rPr lang="en">
                <a:solidFill>
                  <a:srgbClr val="188038"/>
                </a:solidFill>
                <a:latin typeface="Roboto Mono"/>
                <a:ea typeface="Roboto Mono"/>
                <a:cs typeface="Roboto Mono"/>
                <a:sym typeface="Roboto Mono"/>
              </a:rPr>
              <a:t>mi set wide  </a:t>
            </a:r>
            <a:endParaRPr>
              <a:solidFill>
                <a:srgbClr val="188038"/>
              </a:solidFill>
              <a:latin typeface="Roboto Mono"/>
              <a:ea typeface="Roboto Mono"/>
              <a:cs typeface="Roboto Mono"/>
              <a:sym typeface="Roboto Mono"/>
            </a:endParaRPr>
          </a:p>
          <a:p>
            <a:pPr indent="0" lvl="0" marL="0" rtl="0" algn="l">
              <a:spcBef>
                <a:spcPts val="1200"/>
              </a:spcBef>
              <a:spcAft>
                <a:spcPts val="0"/>
              </a:spcAft>
              <a:buNone/>
            </a:pPr>
            <a:r>
              <a:rPr lang="en">
                <a:solidFill>
                  <a:srgbClr val="188038"/>
                </a:solidFill>
                <a:latin typeface="Roboto Mono"/>
                <a:ea typeface="Roboto Mono"/>
                <a:cs typeface="Roboto Mono"/>
                <a:sym typeface="Roboto Mono"/>
              </a:rPr>
              <a:t>mi register imputed varname  </a:t>
            </a:r>
            <a:endParaRPr>
              <a:solidFill>
                <a:srgbClr val="188038"/>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rPr lang="en">
                <a:solidFill>
                  <a:srgbClr val="188038"/>
                </a:solidFill>
                <a:latin typeface="Roboto Mono"/>
                <a:ea typeface="Roboto Mono"/>
                <a:cs typeface="Roboto Mono"/>
                <a:sym typeface="Roboto Mono"/>
              </a:rPr>
              <a:t>mi impute regress varname = predictors, add(5)</a:t>
            </a:r>
            <a:endParaRPr>
              <a:solidFill>
                <a:srgbClr val="188038"/>
              </a:solidFill>
              <a:latin typeface="Roboto Mono"/>
              <a:ea typeface="Roboto Mono"/>
              <a:cs typeface="Roboto Mono"/>
              <a:sym typeface="Roboto Mono"/>
            </a:endParaRPr>
          </a:p>
          <a:p>
            <a:pPr indent="0" lvl="0" marL="0" rtl="0" algn="l">
              <a:spcBef>
                <a:spcPts val="1200"/>
              </a:spcBef>
              <a:spcAft>
                <a:spcPts val="12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KNN Imputation</a:t>
            </a:r>
            <a:endParaRPr/>
          </a:p>
        </p:txBody>
      </p:sp>
      <p:sp>
        <p:nvSpPr>
          <p:cNvPr id="157" name="Google Shape;157;p30"/>
          <p:cNvSpPr txBox="1"/>
          <p:nvPr>
            <p:ph idx="1" type="body"/>
          </p:nvPr>
        </p:nvSpPr>
        <p:spPr>
          <a:xfrm>
            <a:off x="311700" y="10177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solidFill>
                  <a:schemeClr val="dk1"/>
                </a:solidFill>
              </a:rPr>
              <a:t>Estimate missing values using nearest neighbors.</a:t>
            </a:r>
            <a:endParaRPr>
              <a:solidFill>
                <a:schemeClr val="dk1"/>
              </a:solidFill>
            </a:endParaRPr>
          </a:p>
          <a:p>
            <a:pPr indent="0" lvl="0" marL="0" rtl="0" algn="l">
              <a:spcBef>
                <a:spcPts val="1200"/>
              </a:spcBef>
              <a:spcAft>
                <a:spcPts val="0"/>
              </a:spcAft>
              <a:buClr>
                <a:schemeClr val="dk1"/>
              </a:buClr>
              <a:buSzPts val="1100"/>
              <a:buFont typeface="Arial"/>
              <a:buNone/>
            </a:pPr>
            <a:r>
              <a:rPr b="1" lang="en">
                <a:solidFill>
                  <a:schemeClr val="dk1"/>
                </a:solidFill>
              </a:rPr>
              <a:t>Stata Alternative:</a:t>
            </a:r>
            <a:r>
              <a:rPr lang="en">
                <a:solidFill>
                  <a:schemeClr val="dk1"/>
                </a:solidFill>
              </a:rPr>
              <a:t> Not directly available; preprocess in Python/R.</a:t>
            </a:r>
            <a:endParaRPr>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Using “Missingness” as a Feature</a:t>
            </a:r>
            <a:endParaRPr/>
          </a:p>
        </p:txBody>
      </p:sp>
      <p:sp>
        <p:nvSpPr>
          <p:cNvPr id="163" name="Google Shape;163;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In some cases, while imputing missing values, you can preserve information about which values were missing and use that as a feature. This is because sometimes, there may be a relationship between the reason for missing values (also called the “missingness”) and the target variable you are trying to predict. In such cases, you can add a missing indicator to encode the “missingness” as a feature in the imputed data set.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Where to use missingness as a feature</a:t>
            </a:r>
            <a:endParaRPr/>
          </a:p>
        </p:txBody>
      </p:sp>
      <p:sp>
        <p:nvSpPr>
          <p:cNvPr id="169" name="Google Shape;169;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Suppose you are predicting the presence of a disease. Now, imagine a scenario where a missing age is a good predictor of the disease because we don’t have records for people in poverty. The age values are not missing at random. They are missing for people in poverty, and poverty is a good predictor of disease. Thus, missing age or “missingness” is a good predictor of disease.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Pros and Cons of Methods</a:t>
            </a:r>
            <a:endParaRPr/>
          </a:p>
        </p:txBody>
      </p:sp>
      <p:sp>
        <p:nvSpPr>
          <p:cNvPr id="175" name="Google Shape;175;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solidFill>
                  <a:schemeClr val="dk1"/>
                </a:solidFill>
              </a:rPr>
              <a:t>Deleting:</a:t>
            </a:r>
            <a:r>
              <a:rPr lang="en">
                <a:solidFill>
                  <a:schemeClr val="dk1"/>
                </a:solidFill>
              </a:rPr>
              <a:t> Quick but risks losing data.</a:t>
            </a:r>
            <a:endParaRPr>
              <a:solidFill>
                <a:schemeClr val="dk1"/>
              </a:solidFill>
            </a:endParaRPr>
          </a:p>
          <a:p>
            <a:pPr indent="0" lvl="0" marL="0" rtl="0" algn="l">
              <a:spcBef>
                <a:spcPts val="1200"/>
              </a:spcBef>
              <a:spcAft>
                <a:spcPts val="0"/>
              </a:spcAft>
              <a:buClr>
                <a:schemeClr val="dk1"/>
              </a:buClr>
              <a:buSzPts val="1100"/>
              <a:buFont typeface="Arial"/>
              <a:buNone/>
            </a:pPr>
            <a:r>
              <a:rPr b="1" lang="en">
                <a:solidFill>
                  <a:schemeClr val="dk1"/>
                </a:solidFill>
              </a:rPr>
              <a:t>Imputation:</a:t>
            </a:r>
            <a:r>
              <a:rPr lang="en">
                <a:solidFill>
                  <a:schemeClr val="dk1"/>
                </a:solidFill>
              </a:rPr>
              <a:t> Retains data but may introduce bias.</a:t>
            </a:r>
            <a:endParaRPr>
              <a:solidFill>
                <a:schemeClr val="dk1"/>
              </a:solidFill>
            </a:endParaRPr>
          </a:p>
          <a:p>
            <a:pPr indent="0" lvl="0" marL="0" rtl="0" algn="l">
              <a:spcBef>
                <a:spcPts val="1200"/>
              </a:spcBef>
              <a:spcAft>
                <a:spcPts val="0"/>
              </a:spcAft>
              <a:buClr>
                <a:schemeClr val="dk1"/>
              </a:buClr>
              <a:buSzPts val="1100"/>
              <a:buFont typeface="Arial"/>
              <a:buNone/>
            </a:pPr>
            <a:r>
              <a:rPr b="1" lang="en">
                <a:solidFill>
                  <a:schemeClr val="dk1"/>
                </a:solidFill>
              </a:rPr>
              <a:t>Model-Based:</a:t>
            </a:r>
            <a:r>
              <a:rPr lang="en">
                <a:solidFill>
                  <a:schemeClr val="dk1"/>
                </a:solidFill>
              </a:rPr>
              <a:t> Requires computation and assumptions.</a:t>
            </a:r>
            <a:endParaRPr>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Practical Tips</a:t>
            </a:r>
            <a:endParaRPr/>
          </a:p>
        </p:txBody>
      </p:sp>
      <p:sp>
        <p:nvSpPr>
          <p:cNvPr id="181" name="Google Shape;181;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Assess missing data patterns with domain knowledge.</a:t>
            </a:r>
            <a:endParaRPr/>
          </a:p>
          <a:p>
            <a:pPr indent="0" lvl="0" marL="0" rtl="0" algn="l">
              <a:spcBef>
                <a:spcPts val="1200"/>
              </a:spcBef>
              <a:spcAft>
                <a:spcPts val="0"/>
              </a:spcAft>
              <a:buClr>
                <a:schemeClr val="dk1"/>
              </a:buClr>
              <a:buSzPts val="1100"/>
              <a:buFont typeface="Arial"/>
              <a:buNone/>
            </a:pPr>
            <a:r>
              <a:rPr lang="en"/>
              <a:t>Test multiple methods for optimal results.</a:t>
            </a:r>
            <a:endParaRPr/>
          </a:p>
          <a:p>
            <a:pPr indent="0" lvl="0" marL="0" rtl="0" algn="l">
              <a:spcBef>
                <a:spcPts val="1200"/>
              </a:spcBef>
              <a:spcAft>
                <a:spcPts val="0"/>
              </a:spcAft>
              <a:buClr>
                <a:schemeClr val="dk1"/>
              </a:buClr>
              <a:buSzPts val="1100"/>
              <a:buFont typeface="Arial"/>
              <a:buNone/>
            </a:pPr>
            <a:r>
              <a:rPr lang="en"/>
              <a:t>Document the handling process clearly.</a:t>
            </a:r>
            <a:endParaRPr/>
          </a:p>
          <a:p>
            <a:pPr indent="0" lvl="0" marL="0" rtl="0" algn="l">
              <a:spcBef>
                <a:spcPts val="1200"/>
              </a:spcBef>
              <a:spcAft>
                <a:spcPts val="12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a:t>
            </a:r>
            <a:endParaRPr/>
          </a:p>
        </p:txBody>
      </p:sp>
      <p:sp>
        <p:nvSpPr>
          <p:cNvPr id="187" name="Google Shape;187;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1200"/>
              </a:spcBef>
              <a:spcAft>
                <a:spcPts val="0"/>
              </a:spcAft>
              <a:buClr>
                <a:schemeClr val="dk1"/>
              </a:buClr>
              <a:buSzPts val="1800"/>
              <a:buChar char="●"/>
            </a:pPr>
            <a:r>
              <a:rPr b="1" lang="en">
                <a:solidFill>
                  <a:schemeClr val="dk1"/>
                </a:solidFill>
              </a:rPr>
              <a:t>Summary:</a:t>
            </a:r>
            <a:endParaRPr b="1">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Choose methods based on data type and pattern.</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Understand data context for effective handling.</a:t>
            </a:r>
            <a:endParaRPr sz="1800">
              <a:solidFill>
                <a:schemeClr val="dk1"/>
              </a:solidFill>
            </a:endParaRPr>
          </a:p>
          <a:p>
            <a:pPr indent="-342900" lvl="0" marL="457200" rtl="0" algn="l">
              <a:spcBef>
                <a:spcPts val="0"/>
              </a:spcBef>
              <a:spcAft>
                <a:spcPts val="0"/>
              </a:spcAft>
              <a:buClr>
                <a:schemeClr val="dk1"/>
              </a:buClr>
              <a:buSzPts val="1800"/>
              <a:buChar char="●"/>
            </a:pPr>
            <a:r>
              <a:rPr b="1" lang="en">
                <a:solidFill>
                  <a:schemeClr val="dk1"/>
                </a:solidFill>
              </a:rPr>
              <a:t>Next Steps:</a:t>
            </a:r>
            <a:r>
              <a:rPr lang="en">
                <a:solidFill>
                  <a:schemeClr val="dk1"/>
                </a:solidFill>
              </a:rPr>
              <a:t> Apply methods in your analysis using Stata.</a:t>
            </a:r>
            <a:endParaRPr>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