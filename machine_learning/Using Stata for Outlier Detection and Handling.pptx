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 Mon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.fntdata"/><Relationship Id="rId14" Type="http://schemas.openxmlformats.org/officeDocument/2006/relationships/font" Target="fonts/RobotoMono-regular.fntdata"/><Relationship Id="rId17" Type="http://schemas.openxmlformats.org/officeDocument/2006/relationships/font" Target="fonts/RobotoMono-boldItalic.fntdata"/><Relationship Id="rId16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d714577b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1d714577b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1d714577b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1d714577b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1d714577b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1d714577b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1d714577b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1d714577b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1d714577b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1d714577b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1d714577b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1d714577b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1d714577b6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1d714577b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towardsdatascience.com/a-brief-overview-of-outlier-detection-techniques-1e0b2c19e561" TargetMode="External"/><Relationship Id="rId4" Type="http://schemas.openxmlformats.org/officeDocument/2006/relationships/hyperlink" Target="https://www.geeksforgeeks.org/machine-learning-outlie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Stata for Outlier Detection and Handling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Outlier?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Definition:</a:t>
            </a:r>
            <a:r>
              <a:rPr lang="en">
                <a:solidFill>
                  <a:schemeClr val="dk1"/>
                </a:solidFill>
              </a:rPr>
              <a:t> A data point significantly deviating from the majority.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Types: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Global Outliers:</a:t>
            </a:r>
            <a:r>
              <a:rPr lang="en">
                <a:solidFill>
                  <a:schemeClr val="dk1"/>
                </a:solidFill>
              </a:rPr>
              <a:t> Isolated points far from data clusters.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Contextual Outliers:</a:t>
            </a:r>
            <a:r>
              <a:rPr lang="en">
                <a:solidFill>
                  <a:schemeClr val="dk1"/>
                </a:solidFill>
              </a:rPr>
              <a:t> Unusual points within a specific context.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Impact:</a:t>
            </a:r>
            <a:r>
              <a:rPr lang="en">
                <a:solidFill>
                  <a:schemeClr val="dk1"/>
                </a:solidFill>
              </a:rPr>
              <a:t> Bias results, reduce model accuracy, and hinder interpretability.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Detect Outliers?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Avoid Biased Models:</a:t>
            </a:r>
            <a:r>
              <a:rPr lang="en">
                <a:solidFill>
                  <a:schemeClr val="dk1"/>
                </a:solidFill>
              </a:rPr>
              <a:t> Outliers skew results.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Improve Accuracy:</a:t>
            </a:r>
            <a:r>
              <a:rPr lang="en">
                <a:solidFill>
                  <a:schemeClr val="dk1"/>
                </a:solidFill>
              </a:rPr>
              <a:t> Minimize noise in data.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Ensure Stability:</a:t>
            </a:r>
            <a:r>
              <a:rPr lang="en">
                <a:solidFill>
                  <a:schemeClr val="dk1"/>
                </a:solidFill>
              </a:rPr>
              <a:t> Reduce variance for reliable models.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Enhance Interpretability:</a:t>
            </a:r>
            <a:r>
              <a:rPr lang="en">
                <a:solidFill>
                  <a:schemeClr val="dk1"/>
                </a:solidFill>
              </a:rPr>
              <a:t> Trustworthy and actionable insights.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Outlier Detection Methods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Statistical Methods: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Z-Score Analysis:</a:t>
            </a:r>
            <a:r>
              <a:rPr lang="en">
                <a:solidFill>
                  <a:schemeClr val="dk1"/>
                </a:solidFill>
              </a:rPr>
              <a:t> Identify outliers beyond ±3 standard deviations.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IQR Analysis:</a:t>
            </a:r>
            <a:r>
              <a:rPr lang="en">
                <a:solidFill>
                  <a:schemeClr val="dk1"/>
                </a:solidFill>
              </a:rPr>
              <a:t> Detect values outside Q1−1.5×IQR to Q3+1.5×IQRQ3+1.5.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Distance-Based Methods: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Apply clustering techniques like </a:t>
            </a:r>
            <a:r>
              <a:rPr b="1" lang="en">
                <a:solidFill>
                  <a:schemeClr val="dk1"/>
                </a:solidFill>
              </a:rPr>
              <a:t>K-means</a:t>
            </a:r>
            <a:r>
              <a:rPr lang="en">
                <a:solidFill>
                  <a:schemeClr val="dk1"/>
                </a:solidFill>
              </a:rPr>
              <a:t> and identify isolated points.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 Stata's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nearest neighbor</a:t>
            </a:r>
            <a:r>
              <a:rPr lang="en">
                <a:solidFill>
                  <a:schemeClr val="dk1"/>
                </a:solidFill>
              </a:rPr>
              <a:t> functions for local density assessment.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Visualization: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Leverage Stata’s graph tools: box plots, scatter plots, and histograms.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Outliers in Stata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Removal:</a:t>
            </a:r>
            <a:endParaRPr b="1"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Thresholding:</a:t>
            </a:r>
            <a:r>
              <a:rPr lang="en">
                <a:solidFill>
                  <a:schemeClr val="dk1"/>
                </a:solidFill>
              </a:rPr>
              <a:t> Exclude data points beyond defined limits using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">
                <a:solidFill>
                  <a:schemeClr val="dk1"/>
                </a:solidFill>
              </a:rPr>
              <a:t> clauses.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Clustering:</a:t>
            </a:r>
            <a:r>
              <a:rPr lang="en">
                <a:solidFill>
                  <a:schemeClr val="dk1"/>
                </a:solidFill>
              </a:rPr>
              <a:t> Identify small clusters with commands like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cluster stop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Transformation:</a:t>
            </a:r>
            <a:endParaRPr b="1"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Scaling:</a:t>
            </a:r>
            <a:r>
              <a:rPr lang="en">
                <a:solidFill>
                  <a:schemeClr val="dk1"/>
                </a:solidFill>
              </a:rPr>
              <a:t> Normalize data using Stata's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egen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zscore</a:t>
            </a:r>
            <a:r>
              <a:rPr lang="en">
                <a:solidFill>
                  <a:schemeClr val="dk1"/>
                </a:solidFill>
              </a:rPr>
              <a:t> functions.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Winsorization:</a:t>
            </a:r>
            <a:r>
              <a:rPr lang="en">
                <a:solidFill>
                  <a:schemeClr val="dk1"/>
                </a:solidFill>
              </a:rPr>
              <a:t> Replace extreme values using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winsor</a:t>
            </a:r>
            <a:r>
              <a:rPr lang="en">
                <a:solidFill>
                  <a:schemeClr val="dk1"/>
                </a:solidFill>
              </a:rPr>
              <a:t> or manual thresholds.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Robust Modeling:</a:t>
            </a:r>
            <a:endParaRPr b="1"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Fit models with robust estimators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regress, robust</a:t>
            </a:r>
            <a:r>
              <a:rPr lang="en">
                <a:solidFill>
                  <a:schemeClr val="dk1"/>
                </a:solidFill>
              </a:rPr>
              <a:t>).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Use clustering algorithms like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dbscan</a:t>
            </a:r>
            <a:r>
              <a:rPr lang="en">
                <a:solidFill>
                  <a:schemeClr val="dk1"/>
                </a:solidFill>
              </a:rPr>
              <a:t> for noise resilience.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in Stata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Detect Outliers Using Z-Score: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gen z_score = (variable - mean(variable)) / sd(variable)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 if abs(z_score) &gt; 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IQR Method: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gen iqr = iqrange(variable)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gen lower = p25(variable) - 1.5*iqr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gen upper = p75(variable) + 1.5*iqr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 if variable &lt; lower | variable &gt; upper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Importance of Outlier Detection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Improves Model Reliability: Clean data enhances performance.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Prevents Overfitting: Reduces undue influence from noise.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Facilitates Accurate Predictions: Ensures models generalize well.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Supports Better Decision-Making: Trustworthy outputs.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More….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https://towardsdatascience.com/a-brief-overview-of-outlier-detection-techniques-1e0b2c19e561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https://www.geeksforgeeks.org/machine-learning-outlier/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