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y="6858000" cx="12192000"/>
  <p:notesSz cx="6858000" cy="9144000"/>
  <p:embeddedFontLst>
    <p:embeddedFont>
      <p:font typeface="Tahoma"/>
      <p:regular r:id="rId80"/>
      <p:bold r:id="rId81"/>
    </p:embeddedFont>
    <p:embeddedFont>
      <p:font typeface="Noto Sans Symbols"/>
      <p:regular r:id="rId82"/>
      <p:bold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146CE6-D6A4-4DAA-89F6-177008287AB8}">
  <a:tblStyle styleId="{52146CE6-D6A4-4DAA-89F6-177008287AB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3" Type="http://schemas.openxmlformats.org/officeDocument/2006/relationships/font" Target="fonts/NotoSansSymbols-bold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Tahoma-regular.fntdata"/><Relationship Id="rId82" Type="http://schemas.openxmlformats.org/officeDocument/2006/relationships/font" Target="fonts/NotoSansSymbols-regular.fntdata"/><Relationship Id="rId81" Type="http://schemas.openxmlformats.org/officeDocument/2006/relationships/font" Target="fonts/Tahoma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155de2ffd_2_21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2155de2ffd_2_21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155de2ffd_2_42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2155de2ffd_2_42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2155de2ffd_2_63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2155de2ffd_2_63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155de2ffd_2_78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2155de2ffd_2_78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155de2ffd_2_100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2155de2ffd_2_100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2155de2ffd_2_124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2155de2ffd_2_124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2155de2ffd_2_144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2155de2ffd_2_144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2155de2ffd_2_167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2155de2ffd_2_167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2155de2ffd_2_189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2155de2ffd_2_189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2155de2ffd_2_234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2155de2ffd_2_234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2155de2ffd_2_280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2155de2ffd_2_280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2155de2ffd_2_300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2155de2ffd_2_300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2155de2ffd_2_322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2155de2ffd_2_322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2155de2ffd_2_347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2155de2ffd_2_347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2155de2ffd_2_372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2155de2ffd_2_372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2155de2ffd_2_397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2155de2ffd_2_397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2155de2ffd_2_402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2155de2ffd_2_402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2155de2ffd_2_408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32155de2ffd_2_408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2155de2ffd_2_428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2155de2ffd_2_428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2155de2ffd_2_447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2155de2ffd_2_447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2155de2ffd_2_467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2155de2ffd_2_467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2155de2ffd_2_489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g32155de2ffd_2_489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2155de2ffd_2_511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2155de2ffd_2_511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2155de2ffd_2_661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g32155de2ffd_2_661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2155de2ffd_2_811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g32155de2ffd_2_811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2155de2ffd_2_961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g32155de2ffd_2_961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2155de2ffd_2_967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g32155de2ffd_2_967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2155de2ffd_2_987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g32155de2ffd_2_987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2155de2ffd_2_1011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g32155de2ffd_2_1011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32155de2ffd_2_1039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g32155de2ffd_2_1039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32155de2ffd_2_1071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g32155de2ffd_2_1071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32155de2ffd_2_1104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g32155de2ffd_2_1104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32155de2ffd_2_1137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g32155de2ffd_2_1137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32155de2ffd_2_1170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g32155de2ffd_2_1170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32155de2ffd_2_1175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g32155de2ffd_2_1175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32155de2ffd_2_1183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g32155de2ffd_2_1183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32155de2ffd_2_1201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g32155de2ffd_2_1201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32155de2ffd_2_1220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g32155de2ffd_2_1220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g32155de2ffd_2_1238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g32155de2ffd_2_1238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32155de2ffd_2_1262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g32155de2ffd_2_1262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32155de2ffd_2_1267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g32155de2ffd_2_1267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32155de2ffd_2_1275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g32155de2ffd_2_1275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32155de2ffd_2_1285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g32155de2ffd_2_1285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g32155de2ffd_2_1296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g32155de2ffd_2_1296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32155de2ffd_2_1314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g32155de2ffd_2_1314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32155de2ffd_2_1320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g32155de2ffd_2_1320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32155de2ffd_2_1325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g32155de2ffd_2_1325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32155de2ffd_2_1330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g32155de2ffd_2_1330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32155de2ffd_2_1335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g32155de2ffd_2_1335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g32155de2ffd_2_1350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g32155de2ffd_2_1350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32155de2ffd_2_1366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g32155de2ffd_2_1366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32155de2ffd_2_1371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g32155de2ffd_2_1371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32155de2ffd_2_1376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g32155de2ffd_2_1376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32155de2ffd_2_1407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g32155de2ffd_2_1407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32155de2ffd_2_1412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g32155de2ffd_2_1412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32155de2ffd_2_1417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g32155de2ffd_2_1417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32155de2ffd_2_1422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g32155de2ffd_2_1422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32155de2ffd_2_1428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g32155de2ffd_2_1428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32155de2ffd_2_1433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g32155de2ffd_2_1433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g32155de2ffd_2_1438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g32155de2ffd_2_1438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32155de2ffd_2_1443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g32155de2ffd_2_1443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32155de2ffd_2_1448:notes"/>
          <p:cNvSpPr txBox="1"/>
          <p:nvPr>
            <p:ph idx="1" type="body"/>
          </p:nvPr>
        </p:nvSpPr>
        <p:spPr>
          <a:xfrm>
            <a:off x="686097" y="4343702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g32155de2ffd_2_1448:notes"/>
          <p:cNvSpPr/>
          <p:nvPr>
            <p:ph idx="2" type="sldImg"/>
          </p:nvPr>
        </p:nvSpPr>
        <p:spPr>
          <a:xfrm>
            <a:off x="430361" y="686405"/>
            <a:ext cx="5998765" cy="34274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>
            <p:ph type="ctrTitle"/>
          </p:nvPr>
        </p:nvSpPr>
        <p:spPr>
          <a:xfrm>
            <a:off x="1219200" y="990600"/>
            <a:ext cx="103632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4"/>
          <p:cNvSpPr txBox="1"/>
          <p:nvPr>
            <p:ph idx="1" type="subTitle"/>
          </p:nvPr>
        </p:nvSpPr>
        <p:spPr>
          <a:xfrm>
            <a:off x="1219200" y="3276600"/>
            <a:ext cx="103632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4"/>
          <p:cNvSpPr txBox="1"/>
          <p:nvPr/>
        </p:nvSpPr>
        <p:spPr>
          <a:xfrm>
            <a:off x="-63500" y="6600825"/>
            <a:ext cx="6769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Tahoma"/>
              <a:buNone/>
            </a:pPr>
            <a:r>
              <a:rPr b="0" i="0" lang="en-US" sz="9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Copyright © Andrew W. Moore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7416800" y="6629400"/>
            <a:ext cx="47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None/>
            </a:pPr>
            <a:r>
              <a:rPr b="0" i="0" lang="en-US" sz="9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0" type="dt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1" type="ftr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5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304800" y="990600"/>
            <a:ext cx="11432116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0" type="dt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11" type="ftr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304800" y="990600"/>
            <a:ext cx="11432116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3"/>
          <p:cNvSpPr txBox="1"/>
          <p:nvPr/>
        </p:nvSpPr>
        <p:spPr>
          <a:xfrm>
            <a:off x="-63500" y="6600825"/>
            <a:ext cx="6769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Tahoma"/>
              <a:buNone/>
            </a:pPr>
            <a:r>
              <a:rPr b="0" i="0" lang="en-US" sz="9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Copyright © Andrew W. Moore</a:t>
            </a:r>
            <a:endParaRPr/>
          </a:p>
        </p:txBody>
      </p:sp>
      <p:sp>
        <p:nvSpPr>
          <p:cNvPr id="84" name="Google Shape;84;p13"/>
          <p:cNvSpPr txBox="1"/>
          <p:nvPr/>
        </p:nvSpPr>
        <p:spPr>
          <a:xfrm>
            <a:off x="7416800" y="6629400"/>
            <a:ext cx="47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None/>
            </a:pPr>
            <a:r>
              <a:rPr b="0" i="0" lang="en-US" sz="9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A Regression Problem</a:t>
            </a:r>
            <a:endParaRPr/>
          </a:p>
        </p:txBody>
      </p:sp>
      <p:cxnSp>
        <p:nvCxnSpPr>
          <p:cNvPr id="110" name="Google Shape;110;p18"/>
          <p:cNvCxnSpPr/>
          <p:nvPr/>
        </p:nvCxnSpPr>
        <p:spPr>
          <a:xfrm>
            <a:off x="812800" y="129540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1" name="Google Shape;111;p18"/>
          <p:cNvCxnSpPr/>
          <p:nvPr/>
        </p:nvCxnSpPr>
        <p:spPr>
          <a:xfrm>
            <a:off x="609600" y="4495800"/>
            <a:ext cx="528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2" name="Google Shape;112;p18"/>
          <p:cNvSpPr/>
          <p:nvPr/>
        </p:nvSpPr>
        <p:spPr>
          <a:xfrm>
            <a:off x="1117600" y="35814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1625600" y="41148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1930400" y="28956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2844800" y="15240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3251200" y="24384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165600" y="22860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5181600" y="41148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5384800" y="35052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5080000" y="31242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1524000" y="44958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122" name="Google Shape;122;p18"/>
          <p:cNvCxnSpPr/>
          <p:nvPr/>
        </p:nvCxnSpPr>
        <p:spPr>
          <a:xfrm>
            <a:off x="2032000" y="4724400"/>
            <a:ext cx="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23" name="Google Shape;123;p18"/>
          <p:cNvSpPr txBox="1"/>
          <p:nvPr/>
        </p:nvSpPr>
        <p:spPr>
          <a:xfrm>
            <a:off x="304800" y="32766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124" name="Google Shape;124;p18"/>
          <p:cNvCxnSpPr/>
          <p:nvPr/>
        </p:nvCxnSpPr>
        <p:spPr>
          <a:xfrm rot="10800000">
            <a:off x="508000" y="2667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25" name="Google Shape;125;p18"/>
          <p:cNvSpPr txBox="1"/>
          <p:nvPr/>
        </p:nvSpPr>
        <p:spPr>
          <a:xfrm>
            <a:off x="5791200" y="1676400"/>
            <a:ext cx="6197600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f(x) + noise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we learn f from this data?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Let’s consider three methods…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Linear Regression</a:t>
            </a:r>
            <a:endParaRPr/>
          </a:p>
        </p:txBody>
      </p:sp>
      <p:grpSp>
        <p:nvGrpSpPr>
          <p:cNvPr id="131" name="Google Shape;131;p19"/>
          <p:cNvGrpSpPr/>
          <p:nvPr/>
        </p:nvGrpSpPr>
        <p:grpSpPr>
          <a:xfrm>
            <a:off x="304800" y="1295400"/>
            <a:ext cx="5791200" cy="3597275"/>
            <a:chOff x="144" y="816"/>
            <a:chExt cx="2736" cy="2266"/>
          </a:xfrm>
        </p:grpSpPr>
        <p:cxnSp>
          <p:nvCxnSpPr>
            <p:cNvPr id="132" name="Google Shape;132;p19"/>
            <p:cNvCxnSpPr/>
            <p:nvPr/>
          </p:nvCxnSpPr>
          <p:spPr>
            <a:xfrm>
              <a:off x="384" y="816"/>
              <a:ext cx="0" cy="211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3" name="Google Shape;133;p19"/>
            <p:cNvCxnSpPr/>
            <p:nvPr/>
          </p:nvCxnSpPr>
          <p:spPr>
            <a:xfrm>
              <a:off x="288" y="2832"/>
              <a:ext cx="249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34" name="Google Shape;134;p19"/>
            <p:cNvSpPr/>
            <p:nvPr/>
          </p:nvSpPr>
          <p:spPr>
            <a:xfrm>
              <a:off x="528" y="2256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9"/>
            <p:cNvSpPr/>
            <p:nvPr/>
          </p:nvSpPr>
          <p:spPr>
            <a:xfrm>
              <a:off x="768" y="2592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9"/>
            <p:cNvSpPr/>
            <p:nvPr/>
          </p:nvSpPr>
          <p:spPr>
            <a:xfrm>
              <a:off x="912" y="1824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1344" y="960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1536" y="1536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1968" y="1440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2448" y="2592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544" y="2208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9"/>
            <p:cNvSpPr/>
            <p:nvPr/>
          </p:nvSpPr>
          <p:spPr>
            <a:xfrm>
              <a:off x="2400" y="1968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9"/>
            <p:cNvSpPr txBox="1"/>
            <p:nvPr/>
          </p:nvSpPr>
          <p:spPr>
            <a:xfrm>
              <a:off x="720" y="2832"/>
              <a:ext cx="19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cxnSp>
          <p:nvCxnSpPr>
            <p:cNvPr id="144" name="Google Shape;144;p19"/>
            <p:cNvCxnSpPr/>
            <p:nvPr/>
          </p:nvCxnSpPr>
          <p:spPr>
            <a:xfrm>
              <a:off x="960" y="2976"/>
              <a:ext cx="3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145" name="Google Shape;145;p19"/>
            <p:cNvSpPr txBox="1"/>
            <p:nvPr/>
          </p:nvSpPr>
          <p:spPr>
            <a:xfrm>
              <a:off x="144" y="2064"/>
              <a:ext cx="19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cxnSp>
          <p:nvCxnSpPr>
            <p:cNvPr id="146" name="Google Shape;146;p19"/>
            <p:cNvCxnSpPr/>
            <p:nvPr/>
          </p:nvCxnSpPr>
          <p:spPr>
            <a:xfrm rot="10800000">
              <a:off x="240" y="1680"/>
              <a:ext cx="0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47" name="Google Shape;147;p19"/>
            <p:cNvCxnSpPr/>
            <p:nvPr/>
          </p:nvCxnSpPr>
          <p:spPr>
            <a:xfrm>
              <a:off x="288" y="1680"/>
              <a:ext cx="2592" cy="432"/>
            </a:xfrm>
            <a:prstGeom prst="straightConnector1">
              <a:avLst/>
            </a:prstGeom>
            <a:noFill/>
            <a:ln cap="flat" cmpd="sng" w="38100">
              <a:solidFill>
                <a:srgbClr val="33CC3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/>
          <p:nvPr/>
        </p:nvSpPr>
        <p:spPr>
          <a:xfrm>
            <a:off x="3962400" y="1219200"/>
            <a:ext cx="4876800" cy="2438400"/>
          </a:xfrm>
          <a:prstGeom prst="roundRect">
            <a:avLst>
              <a:gd fmla="val 16667" name="adj"/>
            </a:avLst>
          </a:prstGeom>
          <a:solidFill>
            <a:srgbClr val="FFFF99"/>
          </a:solidFill>
          <a:ln cap="flat" cmpd="sng" w="381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Linear Regression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203200" y="762000"/>
            <a:ext cx="1137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Univariate Linear regression with a constant term:</a:t>
            </a:r>
            <a:endParaRPr/>
          </a:p>
        </p:txBody>
      </p:sp>
      <p:graphicFrame>
        <p:nvGraphicFramePr>
          <p:cNvPr id="155" name="Google Shape;155;p20"/>
          <p:cNvGraphicFramePr/>
          <p:nvPr/>
        </p:nvGraphicFramePr>
        <p:xfrm>
          <a:off x="203200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812800"/>
                <a:gridCol w="812800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" name="Google Shape;156;p20"/>
          <p:cNvGraphicFramePr/>
          <p:nvPr/>
        </p:nvGraphicFramePr>
        <p:xfrm>
          <a:off x="508000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812800"/>
              </a:tblGrid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7" name="Google Shape;157;p20"/>
          <p:cNvGraphicFramePr/>
          <p:nvPr/>
        </p:nvGraphicFramePr>
        <p:xfrm>
          <a:off x="751840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812800"/>
              </a:tblGrid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20"/>
          <p:cNvSpPr txBox="1"/>
          <p:nvPr/>
        </p:nvSpPr>
        <p:spPr>
          <a:xfrm>
            <a:off x="4368800" y="12192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6807200" y="12192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470400" y="3124200"/>
            <a:ext cx="233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=(3)..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7112000" y="3124200"/>
            <a:ext cx="142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=7..</a:t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2844800" y="1752600"/>
            <a:ext cx="914400" cy="685800"/>
          </a:xfrm>
          <a:custGeom>
            <a:rect b="b" l="l" r="r" t="t"/>
            <a:pathLst>
              <a:path extrusionOk="0" h="288" w="1045">
                <a:moveTo>
                  <a:pt x="0" y="49"/>
                </a:moveTo>
                <a:cubicBezTo>
                  <a:pt x="57" y="38"/>
                  <a:pt x="108" y="14"/>
                  <a:pt x="164" y="0"/>
                </a:cubicBezTo>
                <a:cubicBezTo>
                  <a:pt x="216" y="3"/>
                  <a:pt x="269" y="0"/>
                  <a:pt x="321" y="8"/>
                </a:cubicBezTo>
                <a:cubicBezTo>
                  <a:pt x="357" y="13"/>
                  <a:pt x="387" y="35"/>
                  <a:pt x="420" y="49"/>
                </a:cubicBezTo>
                <a:cubicBezTo>
                  <a:pt x="489" y="78"/>
                  <a:pt x="555" y="114"/>
                  <a:pt x="617" y="156"/>
                </a:cubicBezTo>
                <a:cubicBezTo>
                  <a:pt x="654" y="181"/>
                  <a:pt x="641" y="164"/>
                  <a:pt x="675" y="181"/>
                </a:cubicBezTo>
                <a:cubicBezTo>
                  <a:pt x="811" y="249"/>
                  <a:pt x="886" y="288"/>
                  <a:pt x="1045" y="288"/>
                </a:cubicBezTo>
              </a:path>
            </a:pathLst>
          </a:custGeom>
          <a:noFill/>
          <a:ln cap="flat" cmpd="sng" w="76200">
            <a:solidFill>
              <a:schemeClr val="hlink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8940800" y="1600200"/>
            <a:ext cx="3048000" cy="2057400"/>
          </a:xfrm>
          <a:prstGeom prst="wedgeRectCallout">
            <a:avLst>
              <a:gd fmla="val 2550" name="adj1"/>
              <a:gd fmla="val -4783" name="adj2"/>
            </a:avLst>
          </a:prstGeom>
          <a:solidFill>
            <a:srgbClr val="FFC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Originally discussed in the previous Andrew Lecture: “Neural Nets”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/>
        </p:nvSpPr>
        <p:spPr>
          <a:xfrm>
            <a:off x="3962400" y="1219200"/>
            <a:ext cx="4876800" cy="2438400"/>
          </a:xfrm>
          <a:prstGeom prst="roundRect">
            <a:avLst>
              <a:gd fmla="val 16667" name="adj"/>
            </a:avLst>
          </a:prstGeom>
          <a:solidFill>
            <a:srgbClr val="FFFF99"/>
          </a:solidFill>
          <a:ln cap="flat" cmpd="sng" w="381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Linear Regression</a:t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203200" y="762000"/>
            <a:ext cx="1137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Univariate Linear regression with a constant term:</a:t>
            </a:r>
            <a:endParaRPr/>
          </a:p>
        </p:txBody>
      </p:sp>
      <p:graphicFrame>
        <p:nvGraphicFramePr>
          <p:cNvPr id="171" name="Google Shape;171;p21"/>
          <p:cNvGraphicFramePr/>
          <p:nvPr/>
        </p:nvGraphicFramePr>
        <p:xfrm>
          <a:off x="203200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812800"/>
                <a:gridCol w="812800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2" name="Google Shape;172;p21"/>
          <p:cNvGraphicFramePr/>
          <p:nvPr/>
        </p:nvGraphicFramePr>
        <p:xfrm>
          <a:off x="508000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812800"/>
              </a:tblGrid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3" name="Google Shape;173;p21"/>
          <p:cNvGraphicFramePr/>
          <p:nvPr/>
        </p:nvGraphicFramePr>
        <p:xfrm>
          <a:off x="751840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812800"/>
              </a:tblGrid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21"/>
          <p:cNvSpPr txBox="1"/>
          <p:nvPr/>
        </p:nvSpPr>
        <p:spPr>
          <a:xfrm>
            <a:off x="4368800" y="12192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6807200" y="12192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4470400" y="3124200"/>
            <a:ext cx="233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=(3)..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7112000" y="3124200"/>
            <a:ext cx="142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=7..</a:t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2844800" y="1752600"/>
            <a:ext cx="914400" cy="685800"/>
          </a:xfrm>
          <a:custGeom>
            <a:rect b="b" l="l" r="r" t="t"/>
            <a:pathLst>
              <a:path extrusionOk="0" h="288" w="1045">
                <a:moveTo>
                  <a:pt x="0" y="49"/>
                </a:moveTo>
                <a:cubicBezTo>
                  <a:pt x="57" y="38"/>
                  <a:pt x="108" y="14"/>
                  <a:pt x="164" y="0"/>
                </a:cubicBezTo>
                <a:cubicBezTo>
                  <a:pt x="216" y="3"/>
                  <a:pt x="269" y="0"/>
                  <a:pt x="321" y="8"/>
                </a:cubicBezTo>
                <a:cubicBezTo>
                  <a:pt x="357" y="13"/>
                  <a:pt x="387" y="35"/>
                  <a:pt x="420" y="49"/>
                </a:cubicBezTo>
                <a:cubicBezTo>
                  <a:pt x="489" y="78"/>
                  <a:pt x="555" y="114"/>
                  <a:pt x="617" y="156"/>
                </a:cubicBezTo>
                <a:cubicBezTo>
                  <a:pt x="654" y="181"/>
                  <a:pt x="641" y="164"/>
                  <a:pt x="675" y="181"/>
                </a:cubicBezTo>
                <a:cubicBezTo>
                  <a:pt x="811" y="249"/>
                  <a:pt x="886" y="288"/>
                  <a:pt x="1045" y="288"/>
                </a:cubicBezTo>
              </a:path>
            </a:pathLst>
          </a:custGeom>
          <a:noFill/>
          <a:ln cap="flat" cmpd="sng" w="76200">
            <a:solidFill>
              <a:schemeClr val="hlink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812800" y="3276600"/>
            <a:ext cx="5486400" cy="3124200"/>
          </a:xfrm>
          <a:prstGeom prst="roundRect">
            <a:avLst>
              <a:gd fmla="val 16667" name="adj"/>
            </a:avLst>
          </a:prstGeom>
          <a:solidFill>
            <a:srgbClr val="FFFF99"/>
          </a:solidFill>
          <a:ln cap="flat" cmpd="sng" w="38100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0" name="Google Shape;180;p21"/>
          <p:cNvGraphicFramePr/>
          <p:nvPr/>
        </p:nvGraphicFramePr>
        <p:xfrm>
          <a:off x="1930400" y="335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812800"/>
                <a:gridCol w="812800"/>
              </a:tblGrid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1" name="Google Shape;181;p21"/>
          <p:cNvGraphicFramePr/>
          <p:nvPr/>
        </p:nvGraphicFramePr>
        <p:xfrm>
          <a:off x="5283200" y="35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812800"/>
              </a:tblGrid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2" name="Google Shape;182;p21"/>
          <p:cNvSpPr txBox="1"/>
          <p:nvPr/>
        </p:nvSpPr>
        <p:spPr>
          <a:xfrm>
            <a:off x="1219200" y="32766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4572000" y="33528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1320800" y="5181600"/>
            <a:ext cx="2743200" cy="1004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=(1,3)..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=(1,x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3962400" y="5181600"/>
            <a:ext cx="142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=7..</a:t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3287183" y="2730500"/>
            <a:ext cx="666749" cy="509587"/>
          </a:xfrm>
          <a:custGeom>
            <a:rect b="b" l="l" r="r" t="t"/>
            <a:pathLst>
              <a:path extrusionOk="0" h="321" w="315">
                <a:moveTo>
                  <a:pt x="315" y="0"/>
                </a:moveTo>
                <a:cubicBezTo>
                  <a:pt x="245" y="7"/>
                  <a:pt x="152" y="1"/>
                  <a:pt x="93" y="49"/>
                </a:cubicBezTo>
                <a:cubicBezTo>
                  <a:pt x="67" y="70"/>
                  <a:pt x="38" y="108"/>
                  <a:pt x="27" y="140"/>
                </a:cubicBezTo>
                <a:cubicBezTo>
                  <a:pt x="21" y="156"/>
                  <a:pt x="10" y="189"/>
                  <a:pt x="10" y="189"/>
                </a:cubicBezTo>
                <a:cubicBezTo>
                  <a:pt x="0" y="282"/>
                  <a:pt x="2" y="238"/>
                  <a:pt x="2" y="321"/>
                </a:cubicBezTo>
              </a:path>
            </a:pathLst>
          </a:custGeom>
          <a:noFill/>
          <a:ln cap="flat" cmpd="sng" w="76200">
            <a:solidFill>
              <a:schemeClr val="folHlink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/>
          <p:nvPr/>
        </p:nvSpPr>
        <p:spPr>
          <a:xfrm>
            <a:off x="3962400" y="1219200"/>
            <a:ext cx="4876800" cy="2438400"/>
          </a:xfrm>
          <a:prstGeom prst="roundRect">
            <a:avLst>
              <a:gd fmla="val 16667" name="adj"/>
            </a:avLst>
          </a:prstGeom>
          <a:solidFill>
            <a:srgbClr val="FFFF99"/>
          </a:solidFill>
          <a:ln cap="flat" cmpd="sng" w="381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2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Linear Regression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203200" y="762000"/>
            <a:ext cx="1137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Univariate Linear regression with a constant term:</a:t>
            </a:r>
            <a:endParaRPr/>
          </a:p>
        </p:txBody>
      </p:sp>
      <p:graphicFrame>
        <p:nvGraphicFramePr>
          <p:cNvPr id="194" name="Google Shape;194;p22"/>
          <p:cNvGraphicFramePr/>
          <p:nvPr/>
        </p:nvGraphicFramePr>
        <p:xfrm>
          <a:off x="203200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812800"/>
                <a:gridCol w="812800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1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1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5" name="Google Shape;195;p22"/>
          <p:cNvGraphicFramePr/>
          <p:nvPr/>
        </p:nvGraphicFramePr>
        <p:xfrm>
          <a:off x="508000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812800"/>
              </a:tblGrid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6" name="Google Shape;196;p22"/>
          <p:cNvGraphicFramePr/>
          <p:nvPr/>
        </p:nvGraphicFramePr>
        <p:xfrm>
          <a:off x="751840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812800"/>
              </a:tblGrid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" name="Google Shape;197;p22"/>
          <p:cNvSpPr txBox="1"/>
          <p:nvPr/>
        </p:nvSpPr>
        <p:spPr>
          <a:xfrm>
            <a:off x="4368800" y="12192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6807200" y="12192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4470400" y="3124200"/>
            <a:ext cx="233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=(3)..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7112000" y="3124200"/>
            <a:ext cx="142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=7..</a:t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2844800" y="1752600"/>
            <a:ext cx="914400" cy="685800"/>
          </a:xfrm>
          <a:custGeom>
            <a:rect b="b" l="l" r="r" t="t"/>
            <a:pathLst>
              <a:path extrusionOk="0" h="288" w="1045">
                <a:moveTo>
                  <a:pt x="0" y="49"/>
                </a:moveTo>
                <a:cubicBezTo>
                  <a:pt x="57" y="38"/>
                  <a:pt x="108" y="14"/>
                  <a:pt x="164" y="0"/>
                </a:cubicBezTo>
                <a:cubicBezTo>
                  <a:pt x="216" y="3"/>
                  <a:pt x="269" y="0"/>
                  <a:pt x="321" y="8"/>
                </a:cubicBezTo>
                <a:cubicBezTo>
                  <a:pt x="357" y="13"/>
                  <a:pt x="387" y="35"/>
                  <a:pt x="420" y="49"/>
                </a:cubicBezTo>
                <a:cubicBezTo>
                  <a:pt x="489" y="78"/>
                  <a:pt x="555" y="114"/>
                  <a:pt x="617" y="156"/>
                </a:cubicBezTo>
                <a:cubicBezTo>
                  <a:pt x="654" y="181"/>
                  <a:pt x="641" y="164"/>
                  <a:pt x="675" y="181"/>
                </a:cubicBezTo>
                <a:cubicBezTo>
                  <a:pt x="811" y="249"/>
                  <a:pt x="886" y="288"/>
                  <a:pt x="1045" y="288"/>
                </a:cubicBezTo>
              </a:path>
            </a:pathLst>
          </a:custGeom>
          <a:noFill/>
          <a:ln cap="flat" cmpd="sng" w="76200">
            <a:solidFill>
              <a:schemeClr val="hlink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812800" y="3276600"/>
            <a:ext cx="5486400" cy="3124200"/>
          </a:xfrm>
          <a:prstGeom prst="roundRect">
            <a:avLst>
              <a:gd fmla="val 16667" name="adj"/>
            </a:avLst>
          </a:prstGeom>
          <a:solidFill>
            <a:srgbClr val="FFFF99"/>
          </a:solidFill>
          <a:ln cap="flat" cmpd="sng" w="38100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3" name="Google Shape;203;p22"/>
          <p:cNvGraphicFramePr/>
          <p:nvPr/>
        </p:nvGraphicFramePr>
        <p:xfrm>
          <a:off x="1930400" y="335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812800"/>
                <a:gridCol w="812800"/>
              </a:tblGrid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4" name="Google Shape;204;p22"/>
          <p:cNvGraphicFramePr/>
          <p:nvPr/>
        </p:nvGraphicFramePr>
        <p:xfrm>
          <a:off x="5283200" y="35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812800"/>
              </a:tblGrid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22"/>
          <p:cNvSpPr txBox="1"/>
          <p:nvPr/>
        </p:nvSpPr>
        <p:spPr>
          <a:xfrm>
            <a:off x="1219200" y="32766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4572000" y="33528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1320800" y="5181600"/>
            <a:ext cx="2743200" cy="1004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=(1,3)..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=(1,x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3962400" y="5181600"/>
            <a:ext cx="142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=7..</a:t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6908800" y="3962400"/>
            <a:ext cx="4876800" cy="2590800"/>
          </a:xfrm>
          <a:prstGeom prst="roundRect">
            <a:avLst>
              <a:gd fmla="val 16667" name="adj"/>
            </a:avLst>
          </a:prstGeom>
          <a:solidFill>
            <a:srgbClr val="FFFF99"/>
          </a:solidFill>
          <a:ln cap="flat" cmpd="sng" w="38100">
            <a:solidFill>
              <a:srgbClr val="0099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1" lang="en-US" sz="24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=(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30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30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30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30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1" lang="en-US" sz="24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0" i="1" lang="en-US" sz="24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3287183" y="2730500"/>
            <a:ext cx="666749" cy="509587"/>
          </a:xfrm>
          <a:custGeom>
            <a:rect b="b" l="l" r="r" t="t"/>
            <a:pathLst>
              <a:path extrusionOk="0" h="321" w="315">
                <a:moveTo>
                  <a:pt x="315" y="0"/>
                </a:moveTo>
                <a:cubicBezTo>
                  <a:pt x="245" y="7"/>
                  <a:pt x="152" y="1"/>
                  <a:pt x="93" y="49"/>
                </a:cubicBezTo>
                <a:cubicBezTo>
                  <a:pt x="67" y="70"/>
                  <a:pt x="38" y="108"/>
                  <a:pt x="27" y="140"/>
                </a:cubicBezTo>
                <a:cubicBezTo>
                  <a:pt x="21" y="156"/>
                  <a:pt x="10" y="189"/>
                  <a:pt x="10" y="189"/>
                </a:cubicBezTo>
                <a:cubicBezTo>
                  <a:pt x="0" y="282"/>
                  <a:pt x="2" y="238"/>
                  <a:pt x="2" y="321"/>
                </a:cubicBezTo>
              </a:path>
            </a:pathLst>
          </a:custGeom>
          <a:noFill/>
          <a:ln cap="flat" cmpd="sng" w="76200">
            <a:solidFill>
              <a:schemeClr val="folHlink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5886449" y="5643562"/>
            <a:ext cx="975783" cy="195262"/>
          </a:xfrm>
          <a:custGeom>
            <a:rect b="b" l="l" r="r" t="t"/>
            <a:pathLst>
              <a:path extrusionOk="0" h="123" w="461">
                <a:moveTo>
                  <a:pt x="0" y="0"/>
                </a:moveTo>
                <a:cubicBezTo>
                  <a:pt x="32" y="31"/>
                  <a:pt x="66" y="70"/>
                  <a:pt x="107" y="90"/>
                </a:cubicBezTo>
                <a:cubicBezTo>
                  <a:pt x="134" y="103"/>
                  <a:pt x="186" y="104"/>
                  <a:pt x="206" y="107"/>
                </a:cubicBezTo>
                <a:cubicBezTo>
                  <a:pt x="313" y="122"/>
                  <a:pt x="309" y="123"/>
                  <a:pt x="461" y="123"/>
                </a:cubicBezTo>
              </a:path>
            </a:pathLst>
          </a:custGeom>
          <a:noFill/>
          <a:ln cap="flat" cmpd="sng" w="76200">
            <a:solidFill>
              <a:srgbClr val="0099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Quadratic Regression</a:t>
            </a:r>
            <a:endParaRPr/>
          </a:p>
        </p:txBody>
      </p:sp>
      <p:cxnSp>
        <p:nvCxnSpPr>
          <p:cNvPr id="217" name="Google Shape;217;p23"/>
          <p:cNvCxnSpPr/>
          <p:nvPr/>
        </p:nvCxnSpPr>
        <p:spPr>
          <a:xfrm>
            <a:off x="812800" y="129540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8" name="Google Shape;218;p23"/>
          <p:cNvCxnSpPr/>
          <p:nvPr/>
        </p:nvCxnSpPr>
        <p:spPr>
          <a:xfrm>
            <a:off x="609600" y="4495800"/>
            <a:ext cx="528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19" name="Google Shape;219;p23"/>
          <p:cNvSpPr/>
          <p:nvPr/>
        </p:nvSpPr>
        <p:spPr>
          <a:xfrm>
            <a:off x="1117600" y="35814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1625600" y="41148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1930400" y="28956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2844800" y="15240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3251200" y="24384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4165600" y="22860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5181600" y="41148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5384800" y="35052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5080000" y="31242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1524000" y="44958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229" name="Google Shape;229;p23"/>
          <p:cNvCxnSpPr/>
          <p:nvPr/>
        </p:nvCxnSpPr>
        <p:spPr>
          <a:xfrm>
            <a:off x="2032000" y="4724400"/>
            <a:ext cx="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30" name="Google Shape;230;p23"/>
          <p:cNvSpPr txBox="1"/>
          <p:nvPr/>
        </p:nvSpPr>
        <p:spPr>
          <a:xfrm>
            <a:off x="304800" y="32766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231" name="Google Shape;231;p23"/>
          <p:cNvCxnSpPr/>
          <p:nvPr/>
        </p:nvCxnSpPr>
        <p:spPr>
          <a:xfrm rot="10800000">
            <a:off x="508000" y="2667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32" name="Google Shape;232;p23"/>
          <p:cNvCxnSpPr/>
          <p:nvPr/>
        </p:nvCxnSpPr>
        <p:spPr>
          <a:xfrm rot="10800000">
            <a:off x="872239" y="3459526"/>
            <a:ext cx="4747200" cy="269100"/>
          </a:xfrm>
          <a:prstGeom prst="curvedConnector2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/>
          <p:nvPr/>
        </p:nvSpPr>
        <p:spPr>
          <a:xfrm>
            <a:off x="3962400" y="1219200"/>
            <a:ext cx="4876800" cy="2438400"/>
          </a:xfrm>
          <a:prstGeom prst="roundRect">
            <a:avLst>
              <a:gd fmla="val 16667" name="adj"/>
            </a:avLst>
          </a:prstGeom>
          <a:solidFill>
            <a:srgbClr val="FFFF99"/>
          </a:solidFill>
          <a:ln cap="flat" cmpd="sng" w="381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Quadratic Regression</a:t>
            </a:r>
            <a:endParaRPr/>
          </a:p>
        </p:txBody>
      </p:sp>
      <p:graphicFrame>
        <p:nvGraphicFramePr>
          <p:cNvPr id="239" name="Google Shape;239;p24"/>
          <p:cNvGraphicFramePr/>
          <p:nvPr/>
        </p:nvGraphicFramePr>
        <p:xfrm>
          <a:off x="203200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812800"/>
                <a:gridCol w="812800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1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1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0" name="Google Shape;240;p24"/>
          <p:cNvGraphicFramePr/>
          <p:nvPr/>
        </p:nvGraphicFramePr>
        <p:xfrm>
          <a:off x="508000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812800"/>
              </a:tblGrid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1" name="Google Shape;241;p24"/>
          <p:cNvGraphicFramePr/>
          <p:nvPr/>
        </p:nvGraphicFramePr>
        <p:xfrm>
          <a:off x="751840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812800"/>
              </a:tblGrid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2" name="Google Shape;242;p24"/>
          <p:cNvSpPr txBox="1"/>
          <p:nvPr/>
        </p:nvSpPr>
        <p:spPr>
          <a:xfrm>
            <a:off x="4368800" y="12192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6807200" y="12192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4470400" y="3124200"/>
            <a:ext cx="233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=(3,2)..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7112000" y="3124200"/>
            <a:ext cx="142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=7..</a:t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>
            <a:off x="2844800" y="1752600"/>
            <a:ext cx="914400" cy="685800"/>
          </a:xfrm>
          <a:custGeom>
            <a:rect b="b" l="l" r="r" t="t"/>
            <a:pathLst>
              <a:path extrusionOk="0" h="288" w="1045">
                <a:moveTo>
                  <a:pt x="0" y="49"/>
                </a:moveTo>
                <a:cubicBezTo>
                  <a:pt x="57" y="38"/>
                  <a:pt x="108" y="14"/>
                  <a:pt x="164" y="0"/>
                </a:cubicBezTo>
                <a:cubicBezTo>
                  <a:pt x="216" y="3"/>
                  <a:pt x="269" y="0"/>
                  <a:pt x="321" y="8"/>
                </a:cubicBezTo>
                <a:cubicBezTo>
                  <a:pt x="357" y="13"/>
                  <a:pt x="387" y="35"/>
                  <a:pt x="420" y="49"/>
                </a:cubicBezTo>
                <a:cubicBezTo>
                  <a:pt x="489" y="78"/>
                  <a:pt x="555" y="114"/>
                  <a:pt x="617" y="156"/>
                </a:cubicBezTo>
                <a:cubicBezTo>
                  <a:pt x="654" y="181"/>
                  <a:pt x="641" y="164"/>
                  <a:pt x="675" y="181"/>
                </a:cubicBezTo>
                <a:cubicBezTo>
                  <a:pt x="811" y="249"/>
                  <a:pt x="886" y="288"/>
                  <a:pt x="1045" y="288"/>
                </a:cubicBezTo>
              </a:path>
            </a:pathLst>
          </a:custGeom>
          <a:noFill/>
          <a:ln cap="flat" cmpd="sng" w="76200">
            <a:solidFill>
              <a:schemeClr val="hlink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203200" y="3276600"/>
            <a:ext cx="7112000" cy="2743200"/>
          </a:xfrm>
          <a:prstGeom prst="roundRect">
            <a:avLst>
              <a:gd fmla="val 16667" name="adj"/>
            </a:avLst>
          </a:prstGeom>
          <a:solidFill>
            <a:srgbClr val="FFFF99"/>
          </a:solidFill>
          <a:ln cap="flat" cmpd="sng" w="38100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8" name="Google Shape;248;p24"/>
          <p:cNvGraphicFramePr/>
          <p:nvPr/>
        </p:nvGraphicFramePr>
        <p:xfrm>
          <a:off x="1016000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812800"/>
                <a:gridCol w="812800"/>
                <a:gridCol w="812800"/>
              </a:tblGrid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9" name="Google Shape;249;p24"/>
          <p:cNvGraphicFramePr/>
          <p:nvPr/>
        </p:nvGraphicFramePr>
        <p:xfrm>
          <a:off x="6299200" y="3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812800"/>
              </a:tblGrid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24"/>
          <p:cNvSpPr txBox="1"/>
          <p:nvPr/>
        </p:nvSpPr>
        <p:spPr>
          <a:xfrm>
            <a:off x="203200" y="36576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5892800" y="34290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304800" y="5410200"/>
            <a:ext cx="579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=(1 ,  x, x</a:t>
            </a:r>
            <a:r>
              <a:rPr b="0" baseline="30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6908800" y="3962400"/>
            <a:ext cx="4876800" cy="2590800"/>
          </a:xfrm>
          <a:prstGeom prst="roundRect">
            <a:avLst>
              <a:gd fmla="val 16667" name="adj"/>
            </a:avLst>
          </a:prstGeom>
          <a:solidFill>
            <a:srgbClr val="FFFF99"/>
          </a:solidFill>
          <a:ln cap="flat" cmpd="sng" w="38100">
            <a:solidFill>
              <a:srgbClr val="0099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1" lang="en-US" sz="24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=(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30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30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30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30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1" lang="en-US" sz="24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0" i="1" lang="en-US" sz="24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x+ </a:t>
            </a:r>
            <a:r>
              <a:rPr b="0" i="1" lang="en-US" sz="24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baseline="-25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3287183" y="2730500"/>
            <a:ext cx="666749" cy="509587"/>
          </a:xfrm>
          <a:custGeom>
            <a:rect b="b" l="l" r="r" t="t"/>
            <a:pathLst>
              <a:path extrusionOk="0" h="321" w="315">
                <a:moveTo>
                  <a:pt x="315" y="0"/>
                </a:moveTo>
                <a:cubicBezTo>
                  <a:pt x="245" y="7"/>
                  <a:pt x="152" y="1"/>
                  <a:pt x="93" y="49"/>
                </a:cubicBezTo>
                <a:cubicBezTo>
                  <a:pt x="67" y="70"/>
                  <a:pt x="38" y="108"/>
                  <a:pt x="27" y="140"/>
                </a:cubicBezTo>
                <a:cubicBezTo>
                  <a:pt x="21" y="156"/>
                  <a:pt x="10" y="189"/>
                  <a:pt x="10" y="189"/>
                </a:cubicBezTo>
                <a:cubicBezTo>
                  <a:pt x="0" y="282"/>
                  <a:pt x="2" y="238"/>
                  <a:pt x="2" y="321"/>
                </a:cubicBezTo>
              </a:path>
            </a:pathLst>
          </a:custGeom>
          <a:noFill/>
          <a:ln cap="flat" cmpd="sng" w="76200">
            <a:solidFill>
              <a:schemeClr val="folHlink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6400800" y="5943600"/>
            <a:ext cx="975783" cy="195262"/>
          </a:xfrm>
          <a:custGeom>
            <a:rect b="b" l="l" r="r" t="t"/>
            <a:pathLst>
              <a:path extrusionOk="0" h="123" w="461">
                <a:moveTo>
                  <a:pt x="0" y="0"/>
                </a:moveTo>
                <a:cubicBezTo>
                  <a:pt x="32" y="31"/>
                  <a:pt x="66" y="70"/>
                  <a:pt x="107" y="90"/>
                </a:cubicBezTo>
                <a:cubicBezTo>
                  <a:pt x="134" y="103"/>
                  <a:pt x="186" y="104"/>
                  <a:pt x="206" y="107"/>
                </a:cubicBezTo>
                <a:cubicBezTo>
                  <a:pt x="313" y="122"/>
                  <a:pt x="309" y="123"/>
                  <a:pt x="461" y="123"/>
                </a:cubicBezTo>
              </a:path>
            </a:pathLst>
          </a:custGeom>
          <a:noFill/>
          <a:ln cap="flat" cmpd="sng" w="76200">
            <a:solidFill>
              <a:srgbClr val="0099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8940800" y="1066800"/>
            <a:ext cx="3048000" cy="2362200"/>
          </a:xfrm>
          <a:prstGeom prst="wedgeRectCallout">
            <a:avLst>
              <a:gd fmla="val 630" name="adj1"/>
              <a:gd fmla="val -2323" name="adj2"/>
            </a:avLst>
          </a:prstGeom>
          <a:solidFill>
            <a:srgbClr val="FFC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Much more about this in the future Andrew Lecture: “Favorite Regression Algorithms”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Join-the-dots</a:t>
            </a:r>
            <a:endParaRPr/>
          </a:p>
        </p:txBody>
      </p:sp>
      <p:grpSp>
        <p:nvGrpSpPr>
          <p:cNvPr id="262" name="Google Shape;262;p25"/>
          <p:cNvGrpSpPr/>
          <p:nvPr/>
        </p:nvGrpSpPr>
        <p:grpSpPr>
          <a:xfrm>
            <a:off x="304800" y="1295400"/>
            <a:ext cx="5588000" cy="3597275"/>
            <a:chOff x="144" y="816"/>
            <a:chExt cx="2640" cy="2266"/>
          </a:xfrm>
        </p:grpSpPr>
        <p:cxnSp>
          <p:nvCxnSpPr>
            <p:cNvPr id="263" name="Google Shape;263;p25"/>
            <p:cNvCxnSpPr/>
            <p:nvPr/>
          </p:nvCxnSpPr>
          <p:spPr>
            <a:xfrm>
              <a:off x="384" y="816"/>
              <a:ext cx="0" cy="211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64" name="Google Shape;264;p25"/>
            <p:cNvCxnSpPr/>
            <p:nvPr/>
          </p:nvCxnSpPr>
          <p:spPr>
            <a:xfrm>
              <a:off x="288" y="2832"/>
              <a:ext cx="249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65" name="Google Shape;265;p25"/>
            <p:cNvSpPr/>
            <p:nvPr/>
          </p:nvSpPr>
          <p:spPr>
            <a:xfrm>
              <a:off x="528" y="2256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5"/>
            <p:cNvSpPr/>
            <p:nvPr/>
          </p:nvSpPr>
          <p:spPr>
            <a:xfrm>
              <a:off x="768" y="2592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5"/>
            <p:cNvSpPr/>
            <p:nvPr/>
          </p:nvSpPr>
          <p:spPr>
            <a:xfrm>
              <a:off x="912" y="1824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5"/>
            <p:cNvSpPr/>
            <p:nvPr/>
          </p:nvSpPr>
          <p:spPr>
            <a:xfrm>
              <a:off x="1344" y="960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1536" y="1536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1968" y="1440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5"/>
            <p:cNvSpPr/>
            <p:nvPr/>
          </p:nvSpPr>
          <p:spPr>
            <a:xfrm>
              <a:off x="2448" y="2592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5"/>
            <p:cNvSpPr/>
            <p:nvPr/>
          </p:nvSpPr>
          <p:spPr>
            <a:xfrm>
              <a:off x="2544" y="2208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5"/>
            <p:cNvSpPr/>
            <p:nvPr/>
          </p:nvSpPr>
          <p:spPr>
            <a:xfrm>
              <a:off x="2400" y="1968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5"/>
            <p:cNvSpPr txBox="1"/>
            <p:nvPr/>
          </p:nvSpPr>
          <p:spPr>
            <a:xfrm>
              <a:off x="720" y="2832"/>
              <a:ext cx="19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cxnSp>
          <p:nvCxnSpPr>
            <p:cNvPr id="275" name="Google Shape;275;p25"/>
            <p:cNvCxnSpPr/>
            <p:nvPr/>
          </p:nvCxnSpPr>
          <p:spPr>
            <a:xfrm>
              <a:off x="960" y="2976"/>
              <a:ext cx="3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276" name="Google Shape;276;p25"/>
            <p:cNvSpPr txBox="1"/>
            <p:nvPr/>
          </p:nvSpPr>
          <p:spPr>
            <a:xfrm>
              <a:off x="144" y="2064"/>
              <a:ext cx="19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cxnSp>
          <p:nvCxnSpPr>
            <p:cNvPr id="277" name="Google Shape;277;p25"/>
            <p:cNvCxnSpPr/>
            <p:nvPr/>
          </p:nvCxnSpPr>
          <p:spPr>
            <a:xfrm rot="10800000">
              <a:off x="240" y="1680"/>
              <a:ext cx="0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278" name="Google Shape;278;p25"/>
            <p:cNvSpPr/>
            <p:nvPr/>
          </p:nvSpPr>
          <p:spPr>
            <a:xfrm>
              <a:off x="420" y="980"/>
              <a:ext cx="2276" cy="1640"/>
            </a:xfrm>
            <a:custGeom>
              <a:rect b="b" l="l" r="r" t="t"/>
              <a:pathLst>
                <a:path extrusionOk="0" h="1640" w="2276">
                  <a:moveTo>
                    <a:pt x="0" y="1104"/>
                  </a:moveTo>
                  <a:lnTo>
                    <a:pt x="372" y="1640"/>
                  </a:lnTo>
                  <a:lnTo>
                    <a:pt x="516" y="864"/>
                  </a:lnTo>
                  <a:lnTo>
                    <a:pt x="948" y="0"/>
                  </a:lnTo>
                  <a:lnTo>
                    <a:pt x="1140" y="584"/>
                  </a:lnTo>
                  <a:lnTo>
                    <a:pt x="1576" y="484"/>
                  </a:lnTo>
                  <a:lnTo>
                    <a:pt x="2004" y="1008"/>
                  </a:lnTo>
                  <a:lnTo>
                    <a:pt x="2056" y="1640"/>
                  </a:lnTo>
                  <a:lnTo>
                    <a:pt x="2276" y="680"/>
                  </a:lnTo>
                </a:path>
              </a:pathLst>
            </a:custGeom>
            <a:noFill/>
            <a:ln cap="flat" cmpd="sng" w="38100">
              <a:solidFill>
                <a:srgbClr val="33CC33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9" name="Google Shape;279;p25"/>
          <p:cNvSpPr txBox="1"/>
          <p:nvPr/>
        </p:nvSpPr>
        <p:spPr>
          <a:xfrm>
            <a:off x="6129867" y="1501775"/>
            <a:ext cx="5226049" cy="155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 known as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piecewise linear nonparametric regression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that makes you feel better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Which is best?</a:t>
            </a:r>
            <a:endParaRPr/>
          </a:p>
        </p:txBody>
      </p:sp>
      <p:cxnSp>
        <p:nvCxnSpPr>
          <p:cNvPr id="285" name="Google Shape;285;p26"/>
          <p:cNvCxnSpPr/>
          <p:nvPr/>
        </p:nvCxnSpPr>
        <p:spPr>
          <a:xfrm>
            <a:off x="626533" y="1066800"/>
            <a:ext cx="0" cy="206057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86" name="Google Shape;286;p26"/>
          <p:cNvCxnSpPr/>
          <p:nvPr/>
        </p:nvCxnSpPr>
        <p:spPr>
          <a:xfrm>
            <a:off x="497416" y="3033712"/>
            <a:ext cx="333586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87" name="Google Shape;287;p26"/>
          <p:cNvSpPr/>
          <p:nvPr/>
        </p:nvSpPr>
        <p:spPr>
          <a:xfrm>
            <a:off x="819149" y="2471737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1138767" y="2798762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1331383" y="2049462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1909233" y="1206500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2165349" y="1768475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2743200" y="1674812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3384549" y="2798762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3513667" y="2424112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3321049" y="2190750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6"/>
          <p:cNvSpPr txBox="1"/>
          <p:nvPr/>
        </p:nvSpPr>
        <p:spPr>
          <a:xfrm>
            <a:off x="1075267" y="3032125"/>
            <a:ext cx="256116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304800" y="2284412"/>
            <a:ext cx="256116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298" name="Google Shape;298;p26"/>
          <p:cNvCxnSpPr/>
          <p:nvPr/>
        </p:nvCxnSpPr>
        <p:spPr>
          <a:xfrm>
            <a:off x="497416" y="1909762"/>
            <a:ext cx="3464983" cy="420687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9" name="Google Shape;299;p26"/>
          <p:cNvCxnSpPr/>
          <p:nvPr/>
        </p:nvCxnSpPr>
        <p:spPr>
          <a:xfrm>
            <a:off x="4284133" y="1066800"/>
            <a:ext cx="0" cy="206057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0" name="Google Shape;300;p26"/>
          <p:cNvCxnSpPr/>
          <p:nvPr/>
        </p:nvCxnSpPr>
        <p:spPr>
          <a:xfrm>
            <a:off x="4155016" y="3033712"/>
            <a:ext cx="333586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01" name="Google Shape;301;p26"/>
          <p:cNvSpPr/>
          <p:nvPr/>
        </p:nvSpPr>
        <p:spPr>
          <a:xfrm>
            <a:off x="4474633" y="2471737"/>
            <a:ext cx="63500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4796367" y="2798762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4988983" y="2049462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5566833" y="1206500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5822949" y="1768475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6400800" y="1674812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7042149" y="2798762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7169149" y="2424112"/>
            <a:ext cx="63500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6978649" y="2190750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6"/>
          <p:cNvSpPr txBox="1"/>
          <p:nvPr/>
        </p:nvSpPr>
        <p:spPr>
          <a:xfrm>
            <a:off x="4732867" y="3032125"/>
            <a:ext cx="256116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3962400" y="2284412"/>
            <a:ext cx="256116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312" name="Google Shape;312;p26"/>
          <p:cNvCxnSpPr/>
          <p:nvPr/>
        </p:nvCxnSpPr>
        <p:spPr>
          <a:xfrm rot="10800000">
            <a:off x="4339105" y="2380737"/>
            <a:ext cx="2961200" cy="198000"/>
          </a:xfrm>
          <a:prstGeom prst="curvedConnector2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3" name="Google Shape;313;p26"/>
          <p:cNvCxnSpPr/>
          <p:nvPr/>
        </p:nvCxnSpPr>
        <p:spPr>
          <a:xfrm>
            <a:off x="7850716" y="1081087"/>
            <a:ext cx="0" cy="206057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4" name="Google Shape;314;p26"/>
          <p:cNvCxnSpPr/>
          <p:nvPr/>
        </p:nvCxnSpPr>
        <p:spPr>
          <a:xfrm>
            <a:off x="7721600" y="3048000"/>
            <a:ext cx="333586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15" name="Google Shape;315;p26"/>
          <p:cNvSpPr/>
          <p:nvPr/>
        </p:nvSpPr>
        <p:spPr>
          <a:xfrm>
            <a:off x="8041216" y="2486025"/>
            <a:ext cx="63500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8362949" y="2813050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8555567" y="2063750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9133416" y="1220787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9389533" y="1782762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9967383" y="1689100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10608733" y="2813050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10735733" y="2438400"/>
            <a:ext cx="63500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10545233" y="2205037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7897283" y="1241425"/>
            <a:ext cx="3041649" cy="1598612"/>
          </a:xfrm>
          <a:custGeom>
            <a:rect b="b" l="l" r="r" t="t"/>
            <a:pathLst>
              <a:path extrusionOk="0" h="1640" w="2276">
                <a:moveTo>
                  <a:pt x="0" y="1104"/>
                </a:moveTo>
                <a:lnTo>
                  <a:pt x="372" y="1640"/>
                </a:lnTo>
                <a:lnTo>
                  <a:pt x="516" y="864"/>
                </a:lnTo>
                <a:lnTo>
                  <a:pt x="948" y="0"/>
                </a:lnTo>
                <a:lnTo>
                  <a:pt x="1140" y="584"/>
                </a:lnTo>
                <a:lnTo>
                  <a:pt x="1576" y="484"/>
                </a:lnTo>
                <a:lnTo>
                  <a:pt x="2004" y="1008"/>
                </a:lnTo>
                <a:lnTo>
                  <a:pt x="2056" y="1640"/>
                </a:lnTo>
                <a:lnTo>
                  <a:pt x="2276" y="680"/>
                </a:lnTo>
              </a:path>
            </a:pathLst>
          </a:custGeom>
          <a:noFill/>
          <a:ln cap="flat" cmpd="sng" w="38100">
            <a:solidFill>
              <a:srgbClr val="33CC33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914400" y="3733800"/>
            <a:ext cx="69088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not choose the method with the best fit to the data?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What do we really want?</a:t>
            </a:r>
            <a:endParaRPr/>
          </a:p>
        </p:txBody>
      </p:sp>
      <p:cxnSp>
        <p:nvCxnSpPr>
          <p:cNvPr id="331" name="Google Shape;331;p27"/>
          <p:cNvCxnSpPr/>
          <p:nvPr/>
        </p:nvCxnSpPr>
        <p:spPr>
          <a:xfrm>
            <a:off x="626533" y="1066800"/>
            <a:ext cx="0" cy="206057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32" name="Google Shape;332;p27"/>
          <p:cNvCxnSpPr/>
          <p:nvPr/>
        </p:nvCxnSpPr>
        <p:spPr>
          <a:xfrm>
            <a:off x="497416" y="3033712"/>
            <a:ext cx="333586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33" name="Google Shape;333;p27"/>
          <p:cNvSpPr/>
          <p:nvPr/>
        </p:nvSpPr>
        <p:spPr>
          <a:xfrm>
            <a:off x="819149" y="2471737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7"/>
          <p:cNvSpPr/>
          <p:nvPr/>
        </p:nvSpPr>
        <p:spPr>
          <a:xfrm>
            <a:off x="1138767" y="2798762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7"/>
          <p:cNvSpPr/>
          <p:nvPr/>
        </p:nvSpPr>
        <p:spPr>
          <a:xfrm>
            <a:off x="1331383" y="2049462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7"/>
          <p:cNvSpPr/>
          <p:nvPr/>
        </p:nvSpPr>
        <p:spPr>
          <a:xfrm>
            <a:off x="1909233" y="1206500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2165349" y="1768475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7"/>
          <p:cNvSpPr/>
          <p:nvPr/>
        </p:nvSpPr>
        <p:spPr>
          <a:xfrm>
            <a:off x="2743200" y="1674812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3384549" y="2798762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7"/>
          <p:cNvSpPr/>
          <p:nvPr/>
        </p:nvSpPr>
        <p:spPr>
          <a:xfrm>
            <a:off x="3513667" y="2424112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7"/>
          <p:cNvSpPr/>
          <p:nvPr/>
        </p:nvSpPr>
        <p:spPr>
          <a:xfrm>
            <a:off x="3321049" y="2190750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7"/>
          <p:cNvSpPr txBox="1"/>
          <p:nvPr/>
        </p:nvSpPr>
        <p:spPr>
          <a:xfrm>
            <a:off x="1075267" y="3032125"/>
            <a:ext cx="256116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304800" y="2284412"/>
            <a:ext cx="256116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344" name="Google Shape;344;p27"/>
          <p:cNvCxnSpPr/>
          <p:nvPr/>
        </p:nvCxnSpPr>
        <p:spPr>
          <a:xfrm>
            <a:off x="497416" y="1909762"/>
            <a:ext cx="3464983" cy="420687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45" name="Google Shape;345;p27"/>
          <p:cNvCxnSpPr/>
          <p:nvPr/>
        </p:nvCxnSpPr>
        <p:spPr>
          <a:xfrm>
            <a:off x="4284133" y="1066800"/>
            <a:ext cx="0" cy="206057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46" name="Google Shape;346;p27"/>
          <p:cNvCxnSpPr/>
          <p:nvPr/>
        </p:nvCxnSpPr>
        <p:spPr>
          <a:xfrm>
            <a:off x="4155016" y="3033712"/>
            <a:ext cx="333586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47" name="Google Shape;347;p27"/>
          <p:cNvSpPr/>
          <p:nvPr/>
        </p:nvSpPr>
        <p:spPr>
          <a:xfrm>
            <a:off x="4474633" y="2471737"/>
            <a:ext cx="63500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4796367" y="2798762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7"/>
          <p:cNvSpPr/>
          <p:nvPr/>
        </p:nvSpPr>
        <p:spPr>
          <a:xfrm>
            <a:off x="4988983" y="2049462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5566833" y="1206500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7"/>
          <p:cNvSpPr/>
          <p:nvPr/>
        </p:nvSpPr>
        <p:spPr>
          <a:xfrm>
            <a:off x="5822949" y="1768475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6400800" y="1674812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7"/>
          <p:cNvSpPr/>
          <p:nvPr/>
        </p:nvSpPr>
        <p:spPr>
          <a:xfrm>
            <a:off x="7042149" y="2798762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7"/>
          <p:cNvSpPr/>
          <p:nvPr/>
        </p:nvSpPr>
        <p:spPr>
          <a:xfrm>
            <a:off x="7169149" y="2424112"/>
            <a:ext cx="63500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7"/>
          <p:cNvSpPr/>
          <p:nvPr/>
        </p:nvSpPr>
        <p:spPr>
          <a:xfrm>
            <a:off x="6978649" y="2190750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7"/>
          <p:cNvSpPr txBox="1"/>
          <p:nvPr/>
        </p:nvSpPr>
        <p:spPr>
          <a:xfrm>
            <a:off x="4732867" y="3032125"/>
            <a:ext cx="256116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357" name="Google Shape;357;p27"/>
          <p:cNvSpPr txBox="1"/>
          <p:nvPr/>
        </p:nvSpPr>
        <p:spPr>
          <a:xfrm>
            <a:off x="3962400" y="2284412"/>
            <a:ext cx="256116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358" name="Google Shape;358;p27"/>
          <p:cNvCxnSpPr/>
          <p:nvPr/>
        </p:nvCxnSpPr>
        <p:spPr>
          <a:xfrm rot="10800000">
            <a:off x="4339105" y="2380737"/>
            <a:ext cx="2961200" cy="198000"/>
          </a:xfrm>
          <a:prstGeom prst="curvedConnector2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59" name="Google Shape;359;p27"/>
          <p:cNvCxnSpPr/>
          <p:nvPr/>
        </p:nvCxnSpPr>
        <p:spPr>
          <a:xfrm>
            <a:off x="7850716" y="1081087"/>
            <a:ext cx="0" cy="206057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60" name="Google Shape;360;p27"/>
          <p:cNvCxnSpPr/>
          <p:nvPr/>
        </p:nvCxnSpPr>
        <p:spPr>
          <a:xfrm>
            <a:off x="7721600" y="3048000"/>
            <a:ext cx="333586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61" name="Google Shape;361;p27"/>
          <p:cNvSpPr/>
          <p:nvPr/>
        </p:nvSpPr>
        <p:spPr>
          <a:xfrm>
            <a:off x="8041216" y="2486025"/>
            <a:ext cx="63500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7"/>
          <p:cNvSpPr/>
          <p:nvPr/>
        </p:nvSpPr>
        <p:spPr>
          <a:xfrm>
            <a:off x="8362949" y="2813050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7"/>
          <p:cNvSpPr/>
          <p:nvPr/>
        </p:nvSpPr>
        <p:spPr>
          <a:xfrm>
            <a:off x="8555567" y="2063750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7"/>
          <p:cNvSpPr/>
          <p:nvPr/>
        </p:nvSpPr>
        <p:spPr>
          <a:xfrm>
            <a:off x="9133416" y="1220787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7"/>
          <p:cNvSpPr/>
          <p:nvPr/>
        </p:nvSpPr>
        <p:spPr>
          <a:xfrm>
            <a:off x="9389533" y="1782762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7"/>
          <p:cNvSpPr/>
          <p:nvPr/>
        </p:nvSpPr>
        <p:spPr>
          <a:xfrm>
            <a:off x="9967383" y="1689100"/>
            <a:ext cx="61383" cy="46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7"/>
          <p:cNvSpPr/>
          <p:nvPr/>
        </p:nvSpPr>
        <p:spPr>
          <a:xfrm>
            <a:off x="10608733" y="2813050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7"/>
          <p:cNvSpPr/>
          <p:nvPr/>
        </p:nvSpPr>
        <p:spPr>
          <a:xfrm>
            <a:off x="10735733" y="2438400"/>
            <a:ext cx="63500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7"/>
          <p:cNvSpPr/>
          <p:nvPr/>
        </p:nvSpPr>
        <p:spPr>
          <a:xfrm>
            <a:off x="10545233" y="2205037"/>
            <a:ext cx="61383" cy="4445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7"/>
          <p:cNvSpPr/>
          <p:nvPr/>
        </p:nvSpPr>
        <p:spPr>
          <a:xfrm>
            <a:off x="7897283" y="1241425"/>
            <a:ext cx="3041649" cy="1598612"/>
          </a:xfrm>
          <a:custGeom>
            <a:rect b="b" l="l" r="r" t="t"/>
            <a:pathLst>
              <a:path extrusionOk="0" h="1640" w="2276">
                <a:moveTo>
                  <a:pt x="0" y="1104"/>
                </a:moveTo>
                <a:lnTo>
                  <a:pt x="372" y="1640"/>
                </a:lnTo>
                <a:lnTo>
                  <a:pt x="516" y="864"/>
                </a:lnTo>
                <a:lnTo>
                  <a:pt x="948" y="0"/>
                </a:lnTo>
                <a:lnTo>
                  <a:pt x="1140" y="584"/>
                </a:lnTo>
                <a:lnTo>
                  <a:pt x="1576" y="484"/>
                </a:lnTo>
                <a:lnTo>
                  <a:pt x="2004" y="1008"/>
                </a:lnTo>
                <a:lnTo>
                  <a:pt x="2056" y="1640"/>
                </a:lnTo>
                <a:lnTo>
                  <a:pt x="2276" y="680"/>
                </a:lnTo>
              </a:path>
            </a:pathLst>
          </a:custGeom>
          <a:noFill/>
          <a:ln cap="flat" cmpd="sng" w="38100">
            <a:solidFill>
              <a:srgbClr val="33CC33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7"/>
          <p:cNvSpPr txBox="1"/>
          <p:nvPr/>
        </p:nvSpPr>
        <p:spPr>
          <a:xfrm>
            <a:off x="914400" y="3733800"/>
            <a:ext cx="69088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not choose the method with the best fit to the data?</a:t>
            </a:r>
            <a:endParaRPr/>
          </a:p>
        </p:txBody>
      </p:sp>
      <p:sp>
        <p:nvSpPr>
          <p:cNvPr id="372" name="Google Shape;372;p27"/>
          <p:cNvSpPr/>
          <p:nvPr/>
        </p:nvSpPr>
        <p:spPr>
          <a:xfrm>
            <a:off x="4267200" y="5029200"/>
            <a:ext cx="7518400" cy="1143000"/>
          </a:xfrm>
          <a:prstGeom prst="wedgeRectCallout">
            <a:avLst>
              <a:gd fmla="val 2980" name="adj1"/>
              <a:gd fmla="val -13170" name="adj2"/>
            </a:avLst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“How well are you going to predict future data drawn from the same distribution?”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The test set method</a:t>
            </a:r>
            <a:endParaRPr/>
          </a:p>
        </p:txBody>
      </p:sp>
      <p:cxnSp>
        <p:nvCxnSpPr>
          <p:cNvPr id="378" name="Google Shape;378;p28"/>
          <p:cNvCxnSpPr/>
          <p:nvPr/>
        </p:nvCxnSpPr>
        <p:spPr>
          <a:xfrm>
            <a:off x="812800" y="129540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79" name="Google Shape;379;p28"/>
          <p:cNvCxnSpPr/>
          <p:nvPr/>
        </p:nvCxnSpPr>
        <p:spPr>
          <a:xfrm>
            <a:off x="609600" y="4495800"/>
            <a:ext cx="528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80" name="Google Shape;380;p28"/>
          <p:cNvSpPr/>
          <p:nvPr/>
        </p:nvSpPr>
        <p:spPr>
          <a:xfrm>
            <a:off x="1117600" y="35814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1625600" y="41148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1930400" y="2895600"/>
            <a:ext cx="97367" cy="730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2844800" y="1524000"/>
            <a:ext cx="97367" cy="730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3251200" y="24384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4165600" y="22860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5181600" y="41148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5384800" y="35052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5080000" y="3124200"/>
            <a:ext cx="97367" cy="730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8"/>
          <p:cNvSpPr txBox="1"/>
          <p:nvPr/>
        </p:nvSpPr>
        <p:spPr>
          <a:xfrm>
            <a:off x="1524000" y="44958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390" name="Google Shape;390;p28"/>
          <p:cNvCxnSpPr/>
          <p:nvPr/>
        </p:nvCxnSpPr>
        <p:spPr>
          <a:xfrm>
            <a:off x="2032000" y="4724400"/>
            <a:ext cx="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91" name="Google Shape;391;p28"/>
          <p:cNvSpPr txBox="1"/>
          <p:nvPr/>
        </p:nvSpPr>
        <p:spPr>
          <a:xfrm>
            <a:off x="304800" y="32766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392" name="Google Shape;392;p28"/>
          <p:cNvCxnSpPr/>
          <p:nvPr/>
        </p:nvCxnSpPr>
        <p:spPr>
          <a:xfrm rot="10800000">
            <a:off x="508000" y="2667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93" name="Google Shape;393;p28"/>
          <p:cNvSpPr txBox="1"/>
          <p:nvPr/>
        </p:nvSpPr>
        <p:spPr>
          <a:xfrm>
            <a:off x="6299200" y="1600200"/>
            <a:ext cx="4876800" cy="210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Randomly choose 30% of the data to be in a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test set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The remainder is a </a:t>
            </a:r>
            <a:r>
              <a:rPr b="0" i="0" lang="en-US" sz="24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training set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9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The test set method</a:t>
            </a:r>
            <a:endParaRPr/>
          </a:p>
        </p:txBody>
      </p:sp>
      <p:cxnSp>
        <p:nvCxnSpPr>
          <p:cNvPr id="399" name="Google Shape;399;p29"/>
          <p:cNvCxnSpPr/>
          <p:nvPr/>
        </p:nvCxnSpPr>
        <p:spPr>
          <a:xfrm>
            <a:off x="812800" y="129540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0" name="Google Shape;400;p29"/>
          <p:cNvCxnSpPr/>
          <p:nvPr/>
        </p:nvCxnSpPr>
        <p:spPr>
          <a:xfrm>
            <a:off x="609600" y="4495800"/>
            <a:ext cx="528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01" name="Google Shape;401;p29"/>
          <p:cNvSpPr/>
          <p:nvPr/>
        </p:nvSpPr>
        <p:spPr>
          <a:xfrm>
            <a:off x="1117600" y="35814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9"/>
          <p:cNvSpPr/>
          <p:nvPr/>
        </p:nvSpPr>
        <p:spPr>
          <a:xfrm>
            <a:off x="1625600" y="41148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9"/>
          <p:cNvSpPr/>
          <p:nvPr/>
        </p:nvSpPr>
        <p:spPr>
          <a:xfrm>
            <a:off x="1930400" y="2895600"/>
            <a:ext cx="97367" cy="730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9"/>
          <p:cNvSpPr/>
          <p:nvPr/>
        </p:nvSpPr>
        <p:spPr>
          <a:xfrm>
            <a:off x="2844800" y="1524000"/>
            <a:ext cx="97367" cy="730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9"/>
          <p:cNvSpPr/>
          <p:nvPr/>
        </p:nvSpPr>
        <p:spPr>
          <a:xfrm>
            <a:off x="3251200" y="24384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9"/>
          <p:cNvSpPr/>
          <p:nvPr/>
        </p:nvSpPr>
        <p:spPr>
          <a:xfrm>
            <a:off x="4165600" y="22860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9"/>
          <p:cNvSpPr/>
          <p:nvPr/>
        </p:nvSpPr>
        <p:spPr>
          <a:xfrm>
            <a:off x="5181600" y="41148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9"/>
          <p:cNvSpPr/>
          <p:nvPr/>
        </p:nvSpPr>
        <p:spPr>
          <a:xfrm>
            <a:off x="5384800" y="35052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9"/>
          <p:cNvSpPr/>
          <p:nvPr/>
        </p:nvSpPr>
        <p:spPr>
          <a:xfrm>
            <a:off x="5080000" y="3124200"/>
            <a:ext cx="97367" cy="730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9"/>
          <p:cNvSpPr txBox="1"/>
          <p:nvPr/>
        </p:nvSpPr>
        <p:spPr>
          <a:xfrm>
            <a:off x="1524000" y="44958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411" name="Google Shape;411;p29"/>
          <p:cNvCxnSpPr/>
          <p:nvPr/>
        </p:nvCxnSpPr>
        <p:spPr>
          <a:xfrm>
            <a:off x="2032000" y="4724400"/>
            <a:ext cx="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12" name="Google Shape;412;p29"/>
          <p:cNvSpPr txBox="1"/>
          <p:nvPr/>
        </p:nvSpPr>
        <p:spPr>
          <a:xfrm>
            <a:off x="304800" y="32766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413" name="Google Shape;413;p29"/>
          <p:cNvCxnSpPr/>
          <p:nvPr/>
        </p:nvCxnSpPr>
        <p:spPr>
          <a:xfrm rot="10800000">
            <a:off x="508000" y="2667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14" name="Google Shape;414;p29"/>
          <p:cNvSpPr txBox="1"/>
          <p:nvPr/>
        </p:nvSpPr>
        <p:spPr>
          <a:xfrm>
            <a:off x="6299200" y="1600200"/>
            <a:ext cx="487680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Randomly choose 30% of the data to be in a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test set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The remainder is a </a:t>
            </a:r>
            <a:r>
              <a:rPr b="0" i="0" lang="en-US" sz="24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training set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3. Perform your regression on the training set</a:t>
            </a:r>
            <a:endParaRPr/>
          </a:p>
        </p:txBody>
      </p:sp>
      <p:cxnSp>
        <p:nvCxnSpPr>
          <p:cNvPr id="415" name="Google Shape;415;p29"/>
          <p:cNvCxnSpPr/>
          <p:nvPr/>
        </p:nvCxnSpPr>
        <p:spPr>
          <a:xfrm flipH="1" rot="10800000">
            <a:off x="812800" y="2743200"/>
            <a:ext cx="4876800" cy="1295400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16" name="Google Shape;416;p29"/>
          <p:cNvSpPr txBox="1"/>
          <p:nvPr/>
        </p:nvSpPr>
        <p:spPr>
          <a:xfrm>
            <a:off x="812800" y="5181600"/>
            <a:ext cx="525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(Linear regression example)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The test set method</a:t>
            </a:r>
            <a:endParaRPr/>
          </a:p>
        </p:txBody>
      </p:sp>
      <p:cxnSp>
        <p:nvCxnSpPr>
          <p:cNvPr id="422" name="Google Shape;422;p30"/>
          <p:cNvCxnSpPr/>
          <p:nvPr/>
        </p:nvCxnSpPr>
        <p:spPr>
          <a:xfrm>
            <a:off x="812800" y="129540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23" name="Google Shape;423;p30"/>
          <p:cNvCxnSpPr/>
          <p:nvPr/>
        </p:nvCxnSpPr>
        <p:spPr>
          <a:xfrm>
            <a:off x="609600" y="4495800"/>
            <a:ext cx="528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24" name="Google Shape;424;p30"/>
          <p:cNvSpPr/>
          <p:nvPr/>
        </p:nvSpPr>
        <p:spPr>
          <a:xfrm>
            <a:off x="1117600" y="35814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0"/>
          <p:cNvSpPr/>
          <p:nvPr/>
        </p:nvSpPr>
        <p:spPr>
          <a:xfrm>
            <a:off x="1625600" y="41148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0"/>
          <p:cNvSpPr/>
          <p:nvPr/>
        </p:nvSpPr>
        <p:spPr>
          <a:xfrm>
            <a:off x="1930400" y="2895600"/>
            <a:ext cx="97367" cy="730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0"/>
          <p:cNvSpPr/>
          <p:nvPr/>
        </p:nvSpPr>
        <p:spPr>
          <a:xfrm>
            <a:off x="2844800" y="1524000"/>
            <a:ext cx="97367" cy="730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0"/>
          <p:cNvSpPr/>
          <p:nvPr/>
        </p:nvSpPr>
        <p:spPr>
          <a:xfrm>
            <a:off x="3251200" y="24384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0"/>
          <p:cNvSpPr/>
          <p:nvPr/>
        </p:nvSpPr>
        <p:spPr>
          <a:xfrm>
            <a:off x="4165600" y="22860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0"/>
          <p:cNvSpPr/>
          <p:nvPr/>
        </p:nvSpPr>
        <p:spPr>
          <a:xfrm>
            <a:off x="5181600" y="41148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0"/>
          <p:cNvSpPr/>
          <p:nvPr/>
        </p:nvSpPr>
        <p:spPr>
          <a:xfrm>
            <a:off x="5384800" y="35052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0"/>
          <p:cNvSpPr/>
          <p:nvPr/>
        </p:nvSpPr>
        <p:spPr>
          <a:xfrm>
            <a:off x="5080000" y="3124200"/>
            <a:ext cx="97367" cy="730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0"/>
          <p:cNvSpPr txBox="1"/>
          <p:nvPr/>
        </p:nvSpPr>
        <p:spPr>
          <a:xfrm>
            <a:off x="1524000" y="44958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434" name="Google Shape;434;p30"/>
          <p:cNvCxnSpPr/>
          <p:nvPr/>
        </p:nvCxnSpPr>
        <p:spPr>
          <a:xfrm>
            <a:off x="2032000" y="4724400"/>
            <a:ext cx="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35" name="Google Shape;435;p30"/>
          <p:cNvSpPr txBox="1"/>
          <p:nvPr/>
        </p:nvSpPr>
        <p:spPr>
          <a:xfrm>
            <a:off x="304800" y="32766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436" name="Google Shape;436;p30"/>
          <p:cNvCxnSpPr/>
          <p:nvPr/>
        </p:nvCxnSpPr>
        <p:spPr>
          <a:xfrm rot="10800000">
            <a:off x="508000" y="2667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37" name="Google Shape;437;p30"/>
          <p:cNvSpPr txBox="1"/>
          <p:nvPr/>
        </p:nvSpPr>
        <p:spPr>
          <a:xfrm>
            <a:off x="6299200" y="1600200"/>
            <a:ext cx="4876800" cy="4656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Randomly choose 30% of the data to be in a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test set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The remainder is a </a:t>
            </a:r>
            <a:r>
              <a:rPr b="0" i="0" lang="en-US" sz="24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training set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3. Perform your regression on the training set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4. Estimate your future performance with the test set</a:t>
            </a:r>
            <a:endParaRPr/>
          </a:p>
        </p:txBody>
      </p:sp>
      <p:cxnSp>
        <p:nvCxnSpPr>
          <p:cNvPr id="438" name="Google Shape;438;p30"/>
          <p:cNvCxnSpPr/>
          <p:nvPr/>
        </p:nvCxnSpPr>
        <p:spPr>
          <a:xfrm flipH="1" rot="10800000">
            <a:off x="812800" y="2743200"/>
            <a:ext cx="4876800" cy="1295400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39" name="Google Shape;439;p30"/>
          <p:cNvSpPr txBox="1"/>
          <p:nvPr/>
        </p:nvSpPr>
        <p:spPr>
          <a:xfrm>
            <a:off x="812800" y="5181600"/>
            <a:ext cx="5257800" cy="1004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(Linear regression example)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3CC33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Mean Squared Error = 2.4</a:t>
            </a:r>
            <a:endParaRPr/>
          </a:p>
        </p:txBody>
      </p:sp>
      <p:cxnSp>
        <p:nvCxnSpPr>
          <p:cNvPr id="440" name="Google Shape;440;p30"/>
          <p:cNvCxnSpPr/>
          <p:nvPr/>
        </p:nvCxnSpPr>
        <p:spPr>
          <a:xfrm>
            <a:off x="2032000" y="2895600"/>
            <a:ext cx="0" cy="8382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441" name="Google Shape;441;p30"/>
          <p:cNvCxnSpPr/>
          <p:nvPr/>
        </p:nvCxnSpPr>
        <p:spPr>
          <a:xfrm>
            <a:off x="2897716" y="1565275"/>
            <a:ext cx="0" cy="1900237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442" name="Google Shape;442;p30"/>
          <p:cNvCxnSpPr/>
          <p:nvPr/>
        </p:nvCxnSpPr>
        <p:spPr>
          <a:xfrm rot="10800000">
            <a:off x="5135033" y="2909887"/>
            <a:ext cx="0" cy="2286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1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The test set method</a:t>
            </a:r>
            <a:endParaRPr/>
          </a:p>
        </p:txBody>
      </p:sp>
      <p:cxnSp>
        <p:nvCxnSpPr>
          <p:cNvPr id="448" name="Google Shape;448;p31"/>
          <p:cNvCxnSpPr/>
          <p:nvPr/>
        </p:nvCxnSpPr>
        <p:spPr>
          <a:xfrm>
            <a:off x="812800" y="129540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49" name="Google Shape;449;p31"/>
          <p:cNvCxnSpPr/>
          <p:nvPr/>
        </p:nvCxnSpPr>
        <p:spPr>
          <a:xfrm>
            <a:off x="609600" y="4495800"/>
            <a:ext cx="528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50" name="Google Shape;450;p31"/>
          <p:cNvSpPr/>
          <p:nvPr/>
        </p:nvSpPr>
        <p:spPr>
          <a:xfrm>
            <a:off x="1117600" y="35814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1"/>
          <p:cNvSpPr/>
          <p:nvPr/>
        </p:nvSpPr>
        <p:spPr>
          <a:xfrm>
            <a:off x="1625600" y="41148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1"/>
          <p:cNvSpPr/>
          <p:nvPr/>
        </p:nvSpPr>
        <p:spPr>
          <a:xfrm>
            <a:off x="1930400" y="2895600"/>
            <a:ext cx="97367" cy="730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1"/>
          <p:cNvSpPr/>
          <p:nvPr/>
        </p:nvSpPr>
        <p:spPr>
          <a:xfrm>
            <a:off x="2844800" y="1524000"/>
            <a:ext cx="97367" cy="730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1"/>
          <p:cNvSpPr/>
          <p:nvPr/>
        </p:nvSpPr>
        <p:spPr>
          <a:xfrm>
            <a:off x="3251200" y="24384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1"/>
          <p:cNvSpPr/>
          <p:nvPr/>
        </p:nvSpPr>
        <p:spPr>
          <a:xfrm>
            <a:off x="4165600" y="22860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1"/>
          <p:cNvSpPr/>
          <p:nvPr/>
        </p:nvSpPr>
        <p:spPr>
          <a:xfrm>
            <a:off x="5181600" y="41148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1"/>
          <p:cNvSpPr/>
          <p:nvPr/>
        </p:nvSpPr>
        <p:spPr>
          <a:xfrm>
            <a:off x="5384800" y="35052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1"/>
          <p:cNvSpPr/>
          <p:nvPr/>
        </p:nvSpPr>
        <p:spPr>
          <a:xfrm>
            <a:off x="5080000" y="3124200"/>
            <a:ext cx="97367" cy="730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1"/>
          <p:cNvSpPr txBox="1"/>
          <p:nvPr/>
        </p:nvSpPr>
        <p:spPr>
          <a:xfrm>
            <a:off x="1524000" y="44958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460" name="Google Shape;460;p31"/>
          <p:cNvCxnSpPr/>
          <p:nvPr/>
        </p:nvCxnSpPr>
        <p:spPr>
          <a:xfrm>
            <a:off x="2032000" y="4724400"/>
            <a:ext cx="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61" name="Google Shape;461;p31"/>
          <p:cNvSpPr txBox="1"/>
          <p:nvPr/>
        </p:nvSpPr>
        <p:spPr>
          <a:xfrm>
            <a:off x="304800" y="32766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462" name="Google Shape;462;p31"/>
          <p:cNvCxnSpPr/>
          <p:nvPr/>
        </p:nvCxnSpPr>
        <p:spPr>
          <a:xfrm rot="10800000">
            <a:off x="508000" y="2667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63" name="Google Shape;463;p31"/>
          <p:cNvSpPr txBox="1"/>
          <p:nvPr/>
        </p:nvSpPr>
        <p:spPr>
          <a:xfrm>
            <a:off x="6299200" y="1600200"/>
            <a:ext cx="4876800" cy="4656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Randomly choose 30% of the data to be in a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test set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The remainder is a </a:t>
            </a:r>
            <a:r>
              <a:rPr b="0" i="0" lang="en-US" sz="24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training set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3. Perform your regression on the training set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4. Estimate your future performance with the test set</a:t>
            </a:r>
            <a:endParaRPr/>
          </a:p>
        </p:txBody>
      </p:sp>
      <p:sp>
        <p:nvSpPr>
          <p:cNvPr id="464" name="Google Shape;464;p31"/>
          <p:cNvSpPr txBox="1"/>
          <p:nvPr/>
        </p:nvSpPr>
        <p:spPr>
          <a:xfrm>
            <a:off x="499533" y="5181600"/>
            <a:ext cx="5890683" cy="1004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(Quadratic regression example)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3CC33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Mean Squared Error = 0.9</a:t>
            </a:r>
            <a:endParaRPr/>
          </a:p>
        </p:txBody>
      </p:sp>
      <p:cxnSp>
        <p:nvCxnSpPr>
          <p:cNvPr id="465" name="Google Shape;465;p31"/>
          <p:cNvCxnSpPr/>
          <p:nvPr/>
        </p:nvCxnSpPr>
        <p:spPr>
          <a:xfrm>
            <a:off x="2032000" y="2895600"/>
            <a:ext cx="0" cy="485775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466" name="Google Shape;466;p31"/>
          <p:cNvCxnSpPr/>
          <p:nvPr/>
        </p:nvCxnSpPr>
        <p:spPr>
          <a:xfrm>
            <a:off x="2897716" y="1565275"/>
            <a:ext cx="0" cy="1443037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467" name="Google Shape;467;p31"/>
          <p:cNvCxnSpPr/>
          <p:nvPr/>
        </p:nvCxnSpPr>
        <p:spPr>
          <a:xfrm rot="10800000">
            <a:off x="5135033" y="3106737"/>
            <a:ext cx="0" cy="161925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468" name="Google Shape;468;p31"/>
          <p:cNvCxnSpPr/>
          <p:nvPr/>
        </p:nvCxnSpPr>
        <p:spPr>
          <a:xfrm flipH="1">
            <a:off x="1019837" y="3690714"/>
            <a:ext cx="4864800" cy="400500"/>
          </a:xfrm>
          <a:prstGeom prst="curvedConnector2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2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The test set method</a:t>
            </a:r>
            <a:endParaRPr/>
          </a:p>
        </p:txBody>
      </p:sp>
      <p:cxnSp>
        <p:nvCxnSpPr>
          <p:cNvPr id="474" name="Google Shape;474;p32"/>
          <p:cNvCxnSpPr/>
          <p:nvPr/>
        </p:nvCxnSpPr>
        <p:spPr>
          <a:xfrm>
            <a:off x="812800" y="129540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75" name="Google Shape;475;p32"/>
          <p:cNvCxnSpPr/>
          <p:nvPr/>
        </p:nvCxnSpPr>
        <p:spPr>
          <a:xfrm>
            <a:off x="609600" y="4495800"/>
            <a:ext cx="528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76" name="Google Shape;476;p32"/>
          <p:cNvSpPr/>
          <p:nvPr/>
        </p:nvSpPr>
        <p:spPr>
          <a:xfrm>
            <a:off x="1117600" y="35814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2"/>
          <p:cNvSpPr/>
          <p:nvPr/>
        </p:nvSpPr>
        <p:spPr>
          <a:xfrm>
            <a:off x="1625600" y="41148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2"/>
          <p:cNvSpPr/>
          <p:nvPr/>
        </p:nvSpPr>
        <p:spPr>
          <a:xfrm>
            <a:off x="1930400" y="2895600"/>
            <a:ext cx="97367" cy="730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2"/>
          <p:cNvSpPr/>
          <p:nvPr/>
        </p:nvSpPr>
        <p:spPr>
          <a:xfrm>
            <a:off x="2844800" y="1524000"/>
            <a:ext cx="97367" cy="730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2"/>
          <p:cNvSpPr/>
          <p:nvPr/>
        </p:nvSpPr>
        <p:spPr>
          <a:xfrm>
            <a:off x="3251200" y="24384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2"/>
          <p:cNvSpPr/>
          <p:nvPr/>
        </p:nvSpPr>
        <p:spPr>
          <a:xfrm>
            <a:off x="4165600" y="22860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2"/>
          <p:cNvSpPr/>
          <p:nvPr/>
        </p:nvSpPr>
        <p:spPr>
          <a:xfrm>
            <a:off x="5181600" y="41148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2"/>
          <p:cNvSpPr/>
          <p:nvPr/>
        </p:nvSpPr>
        <p:spPr>
          <a:xfrm>
            <a:off x="5384800" y="3505200"/>
            <a:ext cx="97367" cy="730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2"/>
          <p:cNvSpPr/>
          <p:nvPr/>
        </p:nvSpPr>
        <p:spPr>
          <a:xfrm>
            <a:off x="5080000" y="3124200"/>
            <a:ext cx="97367" cy="730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2"/>
          <p:cNvSpPr txBox="1"/>
          <p:nvPr/>
        </p:nvSpPr>
        <p:spPr>
          <a:xfrm>
            <a:off x="1524000" y="44958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486" name="Google Shape;486;p32"/>
          <p:cNvCxnSpPr/>
          <p:nvPr/>
        </p:nvCxnSpPr>
        <p:spPr>
          <a:xfrm>
            <a:off x="2032000" y="4724400"/>
            <a:ext cx="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87" name="Google Shape;487;p32"/>
          <p:cNvSpPr txBox="1"/>
          <p:nvPr/>
        </p:nvSpPr>
        <p:spPr>
          <a:xfrm>
            <a:off x="304800" y="32766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488" name="Google Shape;488;p32"/>
          <p:cNvCxnSpPr/>
          <p:nvPr/>
        </p:nvCxnSpPr>
        <p:spPr>
          <a:xfrm rot="10800000">
            <a:off x="508000" y="2667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89" name="Google Shape;489;p32"/>
          <p:cNvSpPr txBox="1"/>
          <p:nvPr/>
        </p:nvSpPr>
        <p:spPr>
          <a:xfrm>
            <a:off x="6299200" y="1600200"/>
            <a:ext cx="4876800" cy="4656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Randomly choose 30% of the data to be in a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test set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The remainder is a </a:t>
            </a:r>
            <a:r>
              <a:rPr b="0" i="0" lang="en-US" sz="24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training set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3. Perform your regression on the training set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4. Estimate your future performance with the test set</a:t>
            </a:r>
            <a:endParaRPr/>
          </a:p>
        </p:txBody>
      </p:sp>
      <p:sp>
        <p:nvSpPr>
          <p:cNvPr id="490" name="Google Shape;490;p32"/>
          <p:cNvSpPr txBox="1"/>
          <p:nvPr/>
        </p:nvSpPr>
        <p:spPr>
          <a:xfrm>
            <a:off x="971549" y="5181600"/>
            <a:ext cx="4946649" cy="1004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(Join the dots example)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3CC33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Mean Squared Error = 2.2</a:t>
            </a:r>
            <a:endParaRPr/>
          </a:p>
        </p:txBody>
      </p:sp>
      <p:cxnSp>
        <p:nvCxnSpPr>
          <p:cNvPr id="491" name="Google Shape;491;p32"/>
          <p:cNvCxnSpPr/>
          <p:nvPr/>
        </p:nvCxnSpPr>
        <p:spPr>
          <a:xfrm>
            <a:off x="2032000" y="2895600"/>
            <a:ext cx="0" cy="885825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492" name="Google Shape;492;p32"/>
          <p:cNvCxnSpPr/>
          <p:nvPr/>
        </p:nvCxnSpPr>
        <p:spPr>
          <a:xfrm>
            <a:off x="2897716" y="1565275"/>
            <a:ext cx="0" cy="1309687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493" name="Google Shape;493;p32"/>
          <p:cNvCxnSpPr/>
          <p:nvPr/>
        </p:nvCxnSpPr>
        <p:spPr>
          <a:xfrm rot="10800000">
            <a:off x="5135033" y="3182937"/>
            <a:ext cx="0" cy="847725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494" name="Google Shape;494;p32"/>
          <p:cNvSpPr/>
          <p:nvPr/>
        </p:nvSpPr>
        <p:spPr>
          <a:xfrm>
            <a:off x="914400" y="2324100"/>
            <a:ext cx="4648200" cy="1828800"/>
          </a:xfrm>
          <a:custGeom>
            <a:rect b="b" l="l" r="r" t="t"/>
            <a:pathLst>
              <a:path extrusionOk="0" h="1152" w="2196">
                <a:moveTo>
                  <a:pt x="0" y="636"/>
                </a:moveTo>
                <a:lnTo>
                  <a:pt x="360" y="1152"/>
                </a:lnTo>
                <a:lnTo>
                  <a:pt x="1122" y="96"/>
                </a:lnTo>
                <a:lnTo>
                  <a:pt x="1566" y="0"/>
                </a:lnTo>
                <a:lnTo>
                  <a:pt x="2040" y="1152"/>
                </a:lnTo>
                <a:lnTo>
                  <a:pt x="2196" y="510"/>
                </a:lnTo>
              </a:path>
            </a:pathLst>
          </a:custGeom>
          <a:noFill/>
          <a:ln cap="flat" cmpd="sng" w="38100">
            <a:solidFill>
              <a:srgbClr val="33CC33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3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The test set method</a:t>
            </a:r>
            <a:endParaRPr/>
          </a:p>
        </p:txBody>
      </p:sp>
      <p:sp>
        <p:nvSpPr>
          <p:cNvPr id="500" name="Google Shape;500;p33"/>
          <p:cNvSpPr txBox="1"/>
          <p:nvPr/>
        </p:nvSpPr>
        <p:spPr>
          <a:xfrm>
            <a:off x="245533" y="901700"/>
            <a:ext cx="9055100" cy="351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Good news: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Very very simple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Can then simply choose the method with the best test-set score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Bad news: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What’s the downside?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4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The test set method</a:t>
            </a:r>
            <a:endParaRPr/>
          </a:p>
        </p:txBody>
      </p:sp>
      <p:sp>
        <p:nvSpPr>
          <p:cNvPr id="506" name="Google Shape;506;p34"/>
          <p:cNvSpPr txBox="1"/>
          <p:nvPr/>
        </p:nvSpPr>
        <p:spPr>
          <a:xfrm>
            <a:off x="245533" y="901700"/>
            <a:ext cx="9055100" cy="500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Good news: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Very very simple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Can then simply choose the method with the best test-set score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Bad news: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Wastes data: we get an estimate of the best method to apply to 30% less data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If we don’t have much data, our test-set might just be lucky or unlucky</a:t>
            </a:r>
            <a:endParaRPr/>
          </a:p>
        </p:txBody>
      </p:sp>
      <p:sp>
        <p:nvSpPr>
          <p:cNvPr id="507" name="Google Shape;507;p34"/>
          <p:cNvSpPr/>
          <p:nvPr/>
        </p:nvSpPr>
        <p:spPr>
          <a:xfrm>
            <a:off x="9262533" y="3852862"/>
            <a:ext cx="2719916" cy="2598737"/>
          </a:xfrm>
          <a:prstGeom prst="wedgeRectCallout">
            <a:avLst>
              <a:gd fmla="val -3681" name="adj1"/>
              <a:gd fmla="val 16467" name="adj2"/>
            </a:avLst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say the “test-set estimator of performance has high variance”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5"/>
          <p:cNvSpPr txBox="1"/>
          <p:nvPr>
            <p:ph type="title"/>
          </p:nvPr>
        </p:nvSpPr>
        <p:spPr>
          <a:xfrm>
            <a:off x="323849" y="182562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LOOCV </a:t>
            </a:r>
            <a:r>
              <a:rPr b="0" i="0" lang="en-US" sz="32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(Leave-one-out Cross Validation)</a:t>
            </a:r>
            <a:endParaRPr/>
          </a:p>
        </p:txBody>
      </p:sp>
      <p:cxnSp>
        <p:nvCxnSpPr>
          <p:cNvPr id="513" name="Google Shape;513;p35"/>
          <p:cNvCxnSpPr/>
          <p:nvPr/>
        </p:nvCxnSpPr>
        <p:spPr>
          <a:xfrm>
            <a:off x="812800" y="129540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14" name="Google Shape;514;p35"/>
          <p:cNvCxnSpPr/>
          <p:nvPr/>
        </p:nvCxnSpPr>
        <p:spPr>
          <a:xfrm>
            <a:off x="609600" y="4495800"/>
            <a:ext cx="528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15" name="Google Shape;515;p35"/>
          <p:cNvSpPr/>
          <p:nvPr/>
        </p:nvSpPr>
        <p:spPr>
          <a:xfrm>
            <a:off x="1117600" y="3581400"/>
            <a:ext cx="97367" cy="730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5"/>
          <p:cNvSpPr/>
          <p:nvPr/>
        </p:nvSpPr>
        <p:spPr>
          <a:xfrm>
            <a:off x="1625600" y="41148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5"/>
          <p:cNvSpPr/>
          <p:nvPr/>
        </p:nvSpPr>
        <p:spPr>
          <a:xfrm>
            <a:off x="1930400" y="28956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5"/>
          <p:cNvSpPr/>
          <p:nvPr/>
        </p:nvSpPr>
        <p:spPr>
          <a:xfrm>
            <a:off x="2844800" y="15240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5"/>
          <p:cNvSpPr/>
          <p:nvPr/>
        </p:nvSpPr>
        <p:spPr>
          <a:xfrm>
            <a:off x="3251200" y="24384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5"/>
          <p:cNvSpPr/>
          <p:nvPr/>
        </p:nvSpPr>
        <p:spPr>
          <a:xfrm>
            <a:off x="4165600" y="22860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5"/>
          <p:cNvSpPr/>
          <p:nvPr/>
        </p:nvSpPr>
        <p:spPr>
          <a:xfrm>
            <a:off x="5181600" y="41148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5"/>
          <p:cNvSpPr/>
          <p:nvPr/>
        </p:nvSpPr>
        <p:spPr>
          <a:xfrm>
            <a:off x="5384800" y="35052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5"/>
          <p:cNvSpPr/>
          <p:nvPr/>
        </p:nvSpPr>
        <p:spPr>
          <a:xfrm>
            <a:off x="5080000" y="31242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5"/>
          <p:cNvSpPr txBox="1"/>
          <p:nvPr/>
        </p:nvSpPr>
        <p:spPr>
          <a:xfrm>
            <a:off x="1524000" y="44958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525" name="Google Shape;525;p35"/>
          <p:cNvCxnSpPr/>
          <p:nvPr/>
        </p:nvCxnSpPr>
        <p:spPr>
          <a:xfrm>
            <a:off x="2032000" y="4724400"/>
            <a:ext cx="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26" name="Google Shape;526;p35"/>
          <p:cNvSpPr txBox="1"/>
          <p:nvPr/>
        </p:nvSpPr>
        <p:spPr>
          <a:xfrm>
            <a:off x="304800" y="32766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527" name="Google Shape;527;p35"/>
          <p:cNvCxnSpPr/>
          <p:nvPr/>
        </p:nvCxnSpPr>
        <p:spPr>
          <a:xfrm rot="10800000">
            <a:off x="508000" y="2667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28" name="Google Shape;528;p35"/>
          <p:cNvSpPr txBox="1"/>
          <p:nvPr/>
        </p:nvSpPr>
        <p:spPr>
          <a:xfrm>
            <a:off x="6091767" y="960437"/>
            <a:ext cx="5869516" cy="1004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k=1 to R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1. Let 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be the </a:t>
            </a:r>
            <a:r>
              <a:rPr b="0" i="1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3000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record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6"/>
          <p:cNvSpPr txBox="1"/>
          <p:nvPr>
            <p:ph type="title"/>
          </p:nvPr>
        </p:nvSpPr>
        <p:spPr>
          <a:xfrm>
            <a:off x="323849" y="182562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LOOCV </a:t>
            </a:r>
            <a:r>
              <a:rPr b="0" i="0" lang="en-US" sz="32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(Leave-one-out Cross Validation)</a:t>
            </a:r>
            <a:endParaRPr/>
          </a:p>
        </p:txBody>
      </p:sp>
      <p:cxnSp>
        <p:nvCxnSpPr>
          <p:cNvPr id="534" name="Google Shape;534;p36"/>
          <p:cNvCxnSpPr/>
          <p:nvPr/>
        </p:nvCxnSpPr>
        <p:spPr>
          <a:xfrm>
            <a:off x="812800" y="129540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35" name="Google Shape;535;p36"/>
          <p:cNvCxnSpPr/>
          <p:nvPr/>
        </p:nvCxnSpPr>
        <p:spPr>
          <a:xfrm>
            <a:off x="609600" y="4495800"/>
            <a:ext cx="528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36" name="Google Shape;536;p36"/>
          <p:cNvSpPr/>
          <p:nvPr/>
        </p:nvSpPr>
        <p:spPr>
          <a:xfrm>
            <a:off x="1625600" y="41148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6"/>
          <p:cNvSpPr/>
          <p:nvPr/>
        </p:nvSpPr>
        <p:spPr>
          <a:xfrm>
            <a:off x="1930400" y="28956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6"/>
          <p:cNvSpPr/>
          <p:nvPr/>
        </p:nvSpPr>
        <p:spPr>
          <a:xfrm>
            <a:off x="2844800" y="15240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6"/>
          <p:cNvSpPr/>
          <p:nvPr/>
        </p:nvSpPr>
        <p:spPr>
          <a:xfrm>
            <a:off x="3251200" y="24384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6"/>
          <p:cNvSpPr/>
          <p:nvPr/>
        </p:nvSpPr>
        <p:spPr>
          <a:xfrm>
            <a:off x="4165600" y="22860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6"/>
          <p:cNvSpPr/>
          <p:nvPr/>
        </p:nvSpPr>
        <p:spPr>
          <a:xfrm>
            <a:off x="5181600" y="41148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6"/>
          <p:cNvSpPr/>
          <p:nvPr/>
        </p:nvSpPr>
        <p:spPr>
          <a:xfrm>
            <a:off x="5384800" y="35052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6"/>
          <p:cNvSpPr/>
          <p:nvPr/>
        </p:nvSpPr>
        <p:spPr>
          <a:xfrm>
            <a:off x="5080000" y="31242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6"/>
          <p:cNvSpPr txBox="1"/>
          <p:nvPr/>
        </p:nvSpPr>
        <p:spPr>
          <a:xfrm>
            <a:off x="1524000" y="44958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545" name="Google Shape;545;p36"/>
          <p:cNvCxnSpPr/>
          <p:nvPr/>
        </p:nvCxnSpPr>
        <p:spPr>
          <a:xfrm>
            <a:off x="2032000" y="4724400"/>
            <a:ext cx="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46" name="Google Shape;546;p36"/>
          <p:cNvSpPr txBox="1"/>
          <p:nvPr/>
        </p:nvSpPr>
        <p:spPr>
          <a:xfrm>
            <a:off x="304800" y="32766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547" name="Google Shape;547;p36"/>
          <p:cNvCxnSpPr/>
          <p:nvPr/>
        </p:nvCxnSpPr>
        <p:spPr>
          <a:xfrm rot="10800000">
            <a:off x="508000" y="2667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48" name="Google Shape;548;p36"/>
          <p:cNvSpPr txBox="1"/>
          <p:nvPr/>
        </p:nvSpPr>
        <p:spPr>
          <a:xfrm>
            <a:off x="6091767" y="960437"/>
            <a:ext cx="5869516" cy="1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k=1 to R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1. Let 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be the </a:t>
            </a:r>
            <a:r>
              <a:rPr b="0" i="1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3000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record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2. Temporarily remove 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from the dataset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7"/>
          <p:cNvSpPr txBox="1"/>
          <p:nvPr>
            <p:ph type="title"/>
          </p:nvPr>
        </p:nvSpPr>
        <p:spPr>
          <a:xfrm>
            <a:off x="323849" y="182562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LOOCV </a:t>
            </a:r>
            <a:r>
              <a:rPr b="0" i="0" lang="en-US" sz="32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(Leave-one-out Cross Validation)</a:t>
            </a:r>
            <a:endParaRPr/>
          </a:p>
        </p:txBody>
      </p:sp>
      <p:cxnSp>
        <p:nvCxnSpPr>
          <p:cNvPr id="554" name="Google Shape;554;p37"/>
          <p:cNvCxnSpPr/>
          <p:nvPr/>
        </p:nvCxnSpPr>
        <p:spPr>
          <a:xfrm>
            <a:off x="812800" y="129540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55" name="Google Shape;555;p37"/>
          <p:cNvCxnSpPr/>
          <p:nvPr/>
        </p:nvCxnSpPr>
        <p:spPr>
          <a:xfrm>
            <a:off x="609600" y="4495800"/>
            <a:ext cx="528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56" name="Google Shape;556;p37"/>
          <p:cNvSpPr/>
          <p:nvPr/>
        </p:nvSpPr>
        <p:spPr>
          <a:xfrm>
            <a:off x="1625600" y="41148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7"/>
          <p:cNvSpPr/>
          <p:nvPr/>
        </p:nvSpPr>
        <p:spPr>
          <a:xfrm>
            <a:off x="1930400" y="28956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7"/>
          <p:cNvSpPr/>
          <p:nvPr/>
        </p:nvSpPr>
        <p:spPr>
          <a:xfrm>
            <a:off x="2844800" y="15240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7"/>
          <p:cNvSpPr/>
          <p:nvPr/>
        </p:nvSpPr>
        <p:spPr>
          <a:xfrm>
            <a:off x="3251200" y="24384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7"/>
          <p:cNvSpPr/>
          <p:nvPr/>
        </p:nvSpPr>
        <p:spPr>
          <a:xfrm>
            <a:off x="4165600" y="22860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7"/>
          <p:cNvSpPr/>
          <p:nvPr/>
        </p:nvSpPr>
        <p:spPr>
          <a:xfrm>
            <a:off x="5181600" y="41148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7"/>
          <p:cNvSpPr/>
          <p:nvPr/>
        </p:nvSpPr>
        <p:spPr>
          <a:xfrm>
            <a:off x="5384800" y="35052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7"/>
          <p:cNvSpPr/>
          <p:nvPr/>
        </p:nvSpPr>
        <p:spPr>
          <a:xfrm>
            <a:off x="5080000" y="31242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7"/>
          <p:cNvSpPr txBox="1"/>
          <p:nvPr/>
        </p:nvSpPr>
        <p:spPr>
          <a:xfrm>
            <a:off x="1524000" y="44958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565" name="Google Shape;565;p37"/>
          <p:cNvCxnSpPr/>
          <p:nvPr/>
        </p:nvCxnSpPr>
        <p:spPr>
          <a:xfrm>
            <a:off x="2032000" y="4724400"/>
            <a:ext cx="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66" name="Google Shape;566;p37"/>
          <p:cNvSpPr txBox="1"/>
          <p:nvPr/>
        </p:nvSpPr>
        <p:spPr>
          <a:xfrm>
            <a:off x="304800" y="32766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567" name="Google Shape;567;p37"/>
          <p:cNvCxnSpPr/>
          <p:nvPr/>
        </p:nvCxnSpPr>
        <p:spPr>
          <a:xfrm rot="10800000">
            <a:off x="508000" y="2667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68" name="Google Shape;568;p37"/>
          <p:cNvCxnSpPr/>
          <p:nvPr/>
        </p:nvCxnSpPr>
        <p:spPr>
          <a:xfrm>
            <a:off x="575733" y="2417762"/>
            <a:ext cx="5503333" cy="1103312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69" name="Google Shape;569;p37"/>
          <p:cNvSpPr txBox="1"/>
          <p:nvPr/>
        </p:nvSpPr>
        <p:spPr>
          <a:xfrm>
            <a:off x="6091767" y="960437"/>
            <a:ext cx="5869516" cy="283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k=1 to R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1. Let 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be the </a:t>
            </a:r>
            <a:r>
              <a:rPr b="0" i="1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3000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record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2. Temporarily remove 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from the dataset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3. Train on the remaining R-1 datapoints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8"/>
          <p:cNvSpPr txBox="1"/>
          <p:nvPr>
            <p:ph type="title"/>
          </p:nvPr>
        </p:nvSpPr>
        <p:spPr>
          <a:xfrm>
            <a:off x="323849" y="182562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LOOCV </a:t>
            </a:r>
            <a:r>
              <a:rPr b="0" i="0" lang="en-US" sz="32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(Leave-one-out Cross Validation)</a:t>
            </a:r>
            <a:endParaRPr/>
          </a:p>
        </p:txBody>
      </p:sp>
      <p:sp>
        <p:nvSpPr>
          <p:cNvPr id="575" name="Google Shape;575;p38"/>
          <p:cNvSpPr txBox="1"/>
          <p:nvPr/>
        </p:nvSpPr>
        <p:spPr>
          <a:xfrm>
            <a:off x="6091767" y="960437"/>
            <a:ext cx="5869516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k=1 to R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1. Let 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be the </a:t>
            </a:r>
            <a:r>
              <a:rPr b="0" i="1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3000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record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2. Temporarily remove 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from the dataset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3. Train on the remaining R-1 datapoints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4. Note your error 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cxnSp>
        <p:nvCxnSpPr>
          <p:cNvPr id="576" name="Google Shape;576;p38"/>
          <p:cNvCxnSpPr/>
          <p:nvPr/>
        </p:nvCxnSpPr>
        <p:spPr>
          <a:xfrm>
            <a:off x="812800" y="129540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77" name="Google Shape;577;p38"/>
          <p:cNvCxnSpPr/>
          <p:nvPr/>
        </p:nvCxnSpPr>
        <p:spPr>
          <a:xfrm>
            <a:off x="609600" y="4495800"/>
            <a:ext cx="528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78" name="Google Shape;578;p38"/>
          <p:cNvSpPr/>
          <p:nvPr/>
        </p:nvSpPr>
        <p:spPr>
          <a:xfrm>
            <a:off x="1117600" y="3581400"/>
            <a:ext cx="97367" cy="730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8"/>
          <p:cNvSpPr/>
          <p:nvPr/>
        </p:nvSpPr>
        <p:spPr>
          <a:xfrm>
            <a:off x="1625600" y="41148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8"/>
          <p:cNvSpPr/>
          <p:nvPr/>
        </p:nvSpPr>
        <p:spPr>
          <a:xfrm>
            <a:off x="1930400" y="28956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8"/>
          <p:cNvSpPr/>
          <p:nvPr/>
        </p:nvSpPr>
        <p:spPr>
          <a:xfrm>
            <a:off x="2844800" y="15240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8"/>
          <p:cNvSpPr/>
          <p:nvPr/>
        </p:nvSpPr>
        <p:spPr>
          <a:xfrm>
            <a:off x="3251200" y="24384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8"/>
          <p:cNvSpPr/>
          <p:nvPr/>
        </p:nvSpPr>
        <p:spPr>
          <a:xfrm>
            <a:off x="4165600" y="22860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8"/>
          <p:cNvSpPr/>
          <p:nvPr/>
        </p:nvSpPr>
        <p:spPr>
          <a:xfrm>
            <a:off x="5181600" y="41148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8"/>
          <p:cNvSpPr/>
          <p:nvPr/>
        </p:nvSpPr>
        <p:spPr>
          <a:xfrm>
            <a:off x="5384800" y="35052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8"/>
          <p:cNvSpPr/>
          <p:nvPr/>
        </p:nvSpPr>
        <p:spPr>
          <a:xfrm>
            <a:off x="5080000" y="3124200"/>
            <a:ext cx="97367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8"/>
          <p:cNvSpPr txBox="1"/>
          <p:nvPr/>
        </p:nvSpPr>
        <p:spPr>
          <a:xfrm>
            <a:off x="1524000" y="44958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588" name="Google Shape;588;p38"/>
          <p:cNvCxnSpPr/>
          <p:nvPr/>
        </p:nvCxnSpPr>
        <p:spPr>
          <a:xfrm>
            <a:off x="2032000" y="4724400"/>
            <a:ext cx="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89" name="Google Shape;589;p38"/>
          <p:cNvSpPr txBox="1"/>
          <p:nvPr/>
        </p:nvSpPr>
        <p:spPr>
          <a:xfrm>
            <a:off x="304800" y="32766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590" name="Google Shape;590;p38"/>
          <p:cNvCxnSpPr/>
          <p:nvPr/>
        </p:nvCxnSpPr>
        <p:spPr>
          <a:xfrm rot="10800000">
            <a:off x="508000" y="2667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91" name="Google Shape;591;p38"/>
          <p:cNvCxnSpPr/>
          <p:nvPr/>
        </p:nvCxnSpPr>
        <p:spPr>
          <a:xfrm>
            <a:off x="575733" y="2417762"/>
            <a:ext cx="5503333" cy="1103312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92" name="Google Shape;592;p38"/>
          <p:cNvCxnSpPr/>
          <p:nvPr/>
        </p:nvCxnSpPr>
        <p:spPr>
          <a:xfrm rot="10800000">
            <a:off x="1166283" y="2540000"/>
            <a:ext cx="0" cy="1077912"/>
          </a:xfrm>
          <a:prstGeom prst="straightConnector1">
            <a:avLst/>
          </a:prstGeom>
          <a:noFill/>
          <a:ln cap="flat" cmpd="sng" w="12700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9"/>
          <p:cNvSpPr txBox="1"/>
          <p:nvPr>
            <p:ph type="title"/>
          </p:nvPr>
        </p:nvSpPr>
        <p:spPr>
          <a:xfrm>
            <a:off x="323849" y="182562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LOOCV </a:t>
            </a:r>
            <a:r>
              <a:rPr b="0" i="0" lang="en-US" sz="32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(Leave-one-out Cross Validation)</a:t>
            </a:r>
            <a:endParaRPr/>
          </a:p>
        </p:txBody>
      </p:sp>
      <p:sp>
        <p:nvSpPr>
          <p:cNvPr id="598" name="Google Shape;598;p39"/>
          <p:cNvSpPr txBox="1"/>
          <p:nvPr/>
        </p:nvSpPr>
        <p:spPr>
          <a:xfrm>
            <a:off x="6091767" y="960437"/>
            <a:ext cx="5869516" cy="4291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k=1 to R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1. Let 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be the </a:t>
            </a:r>
            <a:r>
              <a:rPr b="0" i="1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3000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record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2. Temporarily remove 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from the dataset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3. Train on the remaining R-1 datapoints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4. Note your error 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you’ve done all points, report the mean error.</a:t>
            </a:r>
            <a:endParaRPr/>
          </a:p>
        </p:txBody>
      </p:sp>
      <p:grpSp>
        <p:nvGrpSpPr>
          <p:cNvPr id="599" name="Google Shape;599;p39"/>
          <p:cNvGrpSpPr/>
          <p:nvPr/>
        </p:nvGrpSpPr>
        <p:grpSpPr>
          <a:xfrm>
            <a:off x="304800" y="1295400"/>
            <a:ext cx="5774267" cy="3597275"/>
            <a:chOff x="144" y="816"/>
            <a:chExt cx="2728" cy="2266"/>
          </a:xfrm>
        </p:grpSpPr>
        <p:cxnSp>
          <p:nvCxnSpPr>
            <p:cNvPr id="600" name="Google Shape;600;p39"/>
            <p:cNvCxnSpPr/>
            <p:nvPr/>
          </p:nvCxnSpPr>
          <p:spPr>
            <a:xfrm>
              <a:off x="384" y="816"/>
              <a:ext cx="0" cy="211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01" name="Google Shape;601;p39"/>
            <p:cNvCxnSpPr/>
            <p:nvPr/>
          </p:nvCxnSpPr>
          <p:spPr>
            <a:xfrm>
              <a:off x="288" y="2832"/>
              <a:ext cx="249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602" name="Google Shape;602;p39"/>
            <p:cNvSpPr/>
            <p:nvPr/>
          </p:nvSpPr>
          <p:spPr>
            <a:xfrm>
              <a:off x="528" y="2256"/>
              <a:ext cx="46" cy="4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hlink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39"/>
            <p:cNvSpPr/>
            <p:nvPr/>
          </p:nvSpPr>
          <p:spPr>
            <a:xfrm>
              <a:off x="768" y="2592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9"/>
            <p:cNvSpPr/>
            <p:nvPr/>
          </p:nvSpPr>
          <p:spPr>
            <a:xfrm>
              <a:off x="912" y="1824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39"/>
            <p:cNvSpPr/>
            <p:nvPr/>
          </p:nvSpPr>
          <p:spPr>
            <a:xfrm>
              <a:off x="1344" y="960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39"/>
            <p:cNvSpPr/>
            <p:nvPr/>
          </p:nvSpPr>
          <p:spPr>
            <a:xfrm>
              <a:off x="1536" y="1536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39"/>
            <p:cNvSpPr/>
            <p:nvPr/>
          </p:nvSpPr>
          <p:spPr>
            <a:xfrm>
              <a:off x="1968" y="1440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39"/>
            <p:cNvSpPr/>
            <p:nvPr/>
          </p:nvSpPr>
          <p:spPr>
            <a:xfrm>
              <a:off x="2448" y="2592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39"/>
            <p:cNvSpPr/>
            <p:nvPr/>
          </p:nvSpPr>
          <p:spPr>
            <a:xfrm>
              <a:off x="2544" y="2208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39"/>
            <p:cNvSpPr/>
            <p:nvPr/>
          </p:nvSpPr>
          <p:spPr>
            <a:xfrm>
              <a:off x="2400" y="1968"/>
              <a:ext cx="46" cy="4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39"/>
            <p:cNvSpPr txBox="1"/>
            <p:nvPr/>
          </p:nvSpPr>
          <p:spPr>
            <a:xfrm>
              <a:off x="720" y="2832"/>
              <a:ext cx="19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cxnSp>
          <p:nvCxnSpPr>
            <p:cNvPr id="612" name="Google Shape;612;p39"/>
            <p:cNvCxnSpPr/>
            <p:nvPr/>
          </p:nvCxnSpPr>
          <p:spPr>
            <a:xfrm>
              <a:off x="960" y="2976"/>
              <a:ext cx="3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613" name="Google Shape;613;p39"/>
            <p:cNvSpPr txBox="1"/>
            <p:nvPr/>
          </p:nvSpPr>
          <p:spPr>
            <a:xfrm>
              <a:off x="144" y="2064"/>
              <a:ext cx="19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cxnSp>
          <p:nvCxnSpPr>
            <p:cNvPr id="614" name="Google Shape;614;p39"/>
            <p:cNvCxnSpPr/>
            <p:nvPr/>
          </p:nvCxnSpPr>
          <p:spPr>
            <a:xfrm rot="10800000">
              <a:off x="240" y="1680"/>
              <a:ext cx="0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615" name="Google Shape;615;p39"/>
            <p:cNvCxnSpPr/>
            <p:nvPr/>
          </p:nvCxnSpPr>
          <p:spPr>
            <a:xfrm>
              <a:off x="272" y="1523"/>
              <a:ext cx="2600" cy="695"/>
            </a:xfrm>
            <a:prstGeom prst="straightConnector1">
              <a:avLst/>
            </a:prstGeom>
            <a:noFill/>
            <a:ln cap="flat" cmpd="sng" w="38100">
              <a:solidFill>
                <a:srgbClr val="33CC3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0"/>
          <p:cNvSpPr txBox="1"/>
          <p:nvPr>
            <p:ph type="title"/>
          </p:nvPr>
        </p:nvSpPr>
        <p:spPr>
          <a:xfrm>
            <a:off x="323849" y="182562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LOOCV </a:t>
            </a:r>
            <a:r>
              <a:rPr b="0" i="0" lang="en-US" sz="32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(Leave-one-out Cross Validation)</a:t>
            </a:r>
            <a:endParaRPr/>
          </a:p>
        </p:txBody>
      </p:sp>
      <p:sp>
        <p:nvSpPr>
          <p:cNvPr id="621" name="Google Shape;621;p40"/>
          <p:cNvSpPr txBox="1"/>
          <p:nvPr/>
        </p:nvSpPr>
        <p:spPr>
          <a:xfrm>
            <a:off x="10043583" y="960437"/>
            <a:ext cx="1917700" cy="347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k=1 to R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1. Let 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be the </a:t>
            </a:r>
            <a:r>
              <a:rPr b="0" i="1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3000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record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2. Temporarily remove 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from the dataset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3. Train on the remaining R-1 datapoints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4. Note your error 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you’ve done all points, report the mean error.</a:t>
            </a:r>
            <a:endParaRPr/>
          </a:p>
        </p:txBody>
      </p:sp>
      <p:cxnSp>
        <p:nvCxnSpPr>
          <p:cNvPr id="622" name="Google Shape;622;p40"/>
          <p:cNvCxnSpPr/>
          <p:nvPr/>
        </p:nvCxnSpPr>
        <p:spPr>
          <a:xfrm>
            <a:off x="1212849" y="9144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23" name="Google Shape;623;p40"/>
          <p:cNvCxnSpPr/>
          <p:nvPr/>
        </p:nvCxnSpPr>
        <p:spPr>
          <a:xfrm>
            <a:off x="1109133" y="25463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24" name="Google Shape;624;p40"/>
          <p:cNvSpPr/>
          <p:nvPr/>
        </p:nvSpPr>
        <p:spPr>
          <a:xfrm>
            <a:off x="1367367" y="2079625"/>
            <a:ext cx="50800" cy="3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40"/>
          <p:cNvSpPr/>
          <p:nvPr/>
        </p:nvSpPr>
        <p:spPr>
          <a:xfrm>
            <a:off x="1627716" y="23526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40"/>
          <p:cNvSpPr/>
          <p:nvPr/>
        </p:nvSpPr>
        <p:spPr>
          <a:xfrm>
            <a:off x="1782233" y="17303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40"/>
          <p:cNvSpPr/>
          <p:nvPr/>
        </p:nvSpPr>
        <p:spPr>
          <a:xfrm>
            <a:off x="2250016" y="10302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40"/>
          <p:cNvSpPr/>
          <p:nvPr/>
        </p:nvSpPr>
        <p:spPr>
          <a:xfrm>
            <a:off x="2457449" y="14970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40"/>
          <p:cNvSpPr/>
          <p:nvPr/>
        </p:nvSpPr>
        <p:spPr>
          <a:xfrm>
            <a:off x="2925233" y="14192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0"/>
          <p:cNvSpPr/>
          <p:nvPr/>
        </p:nvSpPr>
        <p:spPr>
          <a:xfrm>
            <a:off x="3443816" y="23526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40"/>
          <p:cNvSpPr/>
          <p:nvPr/>
        </p:nvSpPr>
        <p:spPr>
          <a:xfrm>
            <a:off x="3547533" y="20415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40"/>
          <p:cNvSpPr/>
          <p:nvPr/>
        </p:nvSpPr>
        <p:spPr>
          <a:xfrm>
            <a:off x="3390900" y="18462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0"/>
          <p:cNvSpPr txBox="1"/>
          <p:nvPr/>
        </p:nvSpPr>
        <p:spPr>
          <a:xfrm>
            <a:off x="1536700" y="25463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634" name="Google Shape;634;p40"/>
          <p:cNvCxnSpPr/>
          <p:nvPr/>
        </p:nvCxnSpPr>
        <p:spPr>
          <a:xfrm>
            <a:off x="1835149" y="26638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35" name="Google Shape;635;p40"/>
          <p:cNvSpPr txBox="1"/>
          <p:nvPr/>
        </p:nvSpPr>
        <p:spPr>
          <a:xfrm>
            <a:off x="914400" y="19256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636" name="Google Shape;636;p40"/>
          <p:cNvCxnSpPr/>
          <p:nvPr/>
        </p:nvCxnSpPr>
        <p:spPr>
          <a:xfrm rot="10800000">
            <a:off x="1056216" y="16144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37" name="Google Shape;637;p40"/>
          <p:cNvCxnSpPr/>
          <p:nvPr/>
        </p:nvCxnSpPr>
        <p:spPr>
          <a:xfrm>
            <a:off x="1092200" y="1487487"/>
            <a:ext cx="2808816" cy="561975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8" name="Google Shape;638;p40"/>
          <p:cNvCxnSpPr/>
          <p:nvPr/>
        </p:nvCxnSpPr>
        <p:spPr>
          <a:xfrm>
            <a:off x="1212849" y="27432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9" name="Google Shape;639;p40"/>
          <p:cNvCxnSpPr/>
          <p:nvPr/>
        </p:nvCxnSpPr>
        <p:spPr>
          <a:xfrm>
            <a:off x="1109133" y="43751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40" name="Google Shape;640;p40"/>
          <p:cNvSpPr/>
          <p:nvPr/>
        </p:nvSpPr>
        <p:spPr>
          <a:xfrm>
            <a:off x="1367367" y="39084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0"/>
          <p:cNvSpPr/>
          <p:nvPr/>
        </p:nvSpPr>
        <p:spPr>
          <a:xfrm>
            <a:off x="1627716" y="41814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0"/>
          <p:cNvSpPr/>
          <p:nvPr/>
        </p:nvSpPr>
        <p:spPr>
          <a:xfrm>
            <a:off x="1782233" y="35591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0"/>
          <p:cNvSpPr/>
          <p:nvPr/>
        </p:nvSpPr>
        <p:spPr>
          <a:xfrm>
            <a:off x="2250016" y="2859087"/>
            <a:ext cx="48683" cy="3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0"/>
          <p:cNvSpPr/>
          <p:nvPr/>
        </p:nvSpPr>
        <p:spPr>
          <a:xfrm>
            <a:off x="2457449" y="33258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40"/>
          <p:cNvSpPr/>
          <p:nvPr/>
        </p:nvSpPr>
        <p:spPr>
          <a:xfrm>
            <a:off x="2925233" y="32480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40"/>
          <p:cNvSpPr/>
          <p:nvPr/>
        </p:nvSpPr>
        <p:spPr>
          <a:xfrm>
            <a:off x="3443816" y="41814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40"/>
          <p:cNvSpPr/>
          <p:nvPr/>
        </p:nvSpPr>
        <p:spPr>
          <a:xfrm>
            <a:off x="3547533" y="38703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40"/>
          <p:cNvSpPr/>
          <p:nvPr/>
        </p:nvSpPr>
        <p:spPr>
          <a:xfrm>
            <a:off x="3390900" y="36750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40"/>
          <p:cNvSpPr txBox="1"/>
          <p:nvPr/>
        </p:nvSpPr>
        <p:spPr>
          <a:xfrm>
            <a:off x="1536700" y="43751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650" name="Google Shape;650;p40"/>
          <p:cNvCxnSpPr/>
          <p:nvPr/>
        </p:nvCxnSpPr>
        <p:spPr>
          <a:xfrm>
            <a:off x="1835149" y="44926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51" name="Google Shape;651;p40"/>
          <p:cNvSpPr txBox="1"/>
          <p:nvPr/>
        </p:nvSpPr>
        <p:spPr>
          <a:xfrm>
            <a:off x="914400" y="37544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652" name="Google Shape;652;p40"/>
          <p:cNvCxnSpPr/>
          <p:nvPr/>
        </p:nvCxnSpPr>
        <p:spPr>
          <a:xfrm rot="10800000">
            <a:off x="1056216" y="34432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53" name="Google Shape;653;p40"/>
          <p:cNvCxnSpPr/>
          <p:nvPr/>
        </p:nvCxnSpPr>
        <p:spPr>
          <a:xfrm>
            <a:off x="1077383" y="3717925"/>
            <a:ext cx="2694516" cy="49212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4" name="Google Shape;654;p40"/>
          <p:cNvCxnSpPr/>
          <p:nvPr/>
        </p:nvCxnSpPr>
        <p:spPr>
          <a:xfrm>
            <a:off x="1212849" y="45720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5" name="Google Shape;655;p40"/>
          <p:cNvCxnSpPr/>
          <p:nvPr/>
        </p:nvCxnSpPr>
        <p:spPr>
          <a:xfrm>
            <a:off x="1109133" y="62039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56" name="Google Shape;656;p40"/>
          <p:cNvSpPr/>
          <p:nvPr/>
        </p:nvSpPr>
        <p:spPr>
          <a:xfrm>
            <a:off x="1367367" y="57372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40"/>
          <p:cNvSpPr/>
          <p:nvPr/>
        </p:nvSpPr>
        <p:spPr>
          <a:xfrm>
            <a:off x="1627716" y="60102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40"/>
          <p:cNvSpPr/>
          <p:nvPr/>
        </p:nvSpPr>
        <p:spPr>
          <a:xfrm>
            <a:off x="1782233" y="53879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40"/>
          <p:cNvSpPr/>
          <p:nvPr/>
        </p:nvSpPr>
        <p:spPr>
          <a:xfrm>
            <a:off x="2250016" y="46878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40"/>
          <p:cNvSpPr/>
          <p:nvPr/>
        </p:nvSpPr>
        <p:spPr>
          <a:xfrm>
            <a:off x="2457449" y="51546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0"/>
          <p:cNvSpPr/>
          <p:nvPr/>
        </p:nvSpPr>
        <p:spPr>
          <a:xfrm>
            <a:off x="2925233" y="50768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40"/>
          <p:cNvSpPr/>
          <p:nvPr/>
        </p:nvSpPr>
        <p:spPr>
          <a:xfrm>
            <a:off x="3443816" y="60102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40"/>
          <p:cNvSpPr/>
          <p:nvPr/>
        </p:nvSpPr>
        <p:spPr>
          <a:xfrm>
            <a:off x="3547533" y="56991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40"/>
          <p:cNvSpPr/>
          <p:nvPr/>
        </p:nvSpPr>
        <p:spPr>
          <a:xfrm>
            <a:off x="3390900" y="5503862"/>
            <a:ext cx="50800" cy="3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40"/>
          <p:cNvSpPr txBox="1"/>
          <p:nvPr/>
        </p:nvSpPr>
        <p:spPr>
          <a:xfrm>
            <a:off x="1536700" y="62039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666" name="Google Shape;666;p40"/>
          <p:cNvCxnSpPr/>
          <p:nvPr/>
        </p:nvCxnSpPr>
        <p:spPr>
          <a:xfrm>
            <a:off x="1835149" y="63214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67" name="Google Shape;667;p40"/>
          <p:cNvSpPr txBox="1"/>
          <p:nvPr/>
        </p:nvSpPr>
        <p:spPr>
          <a:xfrm>
            <a:off x="914400" y="55832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668" name="Google Shape;668;p40"/>
          <p:cNvCxnSpPr/>
          <p:nvPr/>
        </p:nvCxnSpPr>
        <p:spPr>
          <a:xfrm rot="10800000">
            <a:off x="1056216" y="52720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69" name="Google Shape;669;p40"/>
          <p:cNvCxnSpPr/>
          <p:nvPr/>
        </p:nvCxnSpPr>
        <p:spPr>
          <a:xfrm>
            <a:off x="1126067" y="5254625"/>
            <a:ext cx="2724149" cy="658812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70" name="Google Shape;670;p40"/>
          <p:cNvCxnSpPr/>
          <p:nvPr/>
        </p:nvCxnSpPr>
        <p:spPr>
          <a:xfrm>
            <a:off x="4159249" y="9144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71" name="Google Shape;671;p40"/>
          <p:cNvCxnSpPr/>
          <p:nvPr/>
        </p:nvCxnSpPr>
        <p:spPr>
          <a:xfrm>
            <a:off x="4055533" y="25463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72" name="Google Shape;672;p40"/>
          <p:cNvSpPr/>
          <p:nvPr/>
        </p:nvSpPr>
        <p:spPr>
          <a:xfrm>
            <a:off x="4313767" y="20796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0"/>
          <p:cNvSpPr/>
          <p:nvPr/>
        </p:nvSpPr>
        <p:spPr>
          <a:xfrm>
            <a:off x="4574116" y="2352675"/>
            <a:ext cx="48683" cy="36512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40"/>
          <p:cNvSpPr/>
          <p:nvPr/>
        </p:nvSpPr>
        <p:spPr>
          <a:xfrm>
            <a:off x="4728633" y="17303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40"/>
          <p:cNvSpPr/>
          <p:nvPr/>
        </p:nvSpPr>
        <p:spPr>
          <a:xfrm>
            <a:off x="5196416" y="10302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0"/>
          <p:cNvSpPr/>
          <p:nvPr/>
        </p:nvSpPr>
        <p:spPr>
          <a:xfrm>
            <a:off x="5403849" y="14970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40"/>
          <p:cNvSpPr/>
          <p:nvPr/>
        </p:nvSpPr>
        <p:spPr>
          <a:xfrm>
            <a:off x="5871633" y="14192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0"/>
          <p:cNvSpPr/>
          <p:nvPr/>
        </p:nvSpPr>
        <p:spPr>
          <a:xfrm>
            <a:off x="6390216" y="23526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40"/>
          <p:cNvSpPr/>
          <p:nvPr/>
        </p:nvSpPr>
        <p:spPr>
          <a:xfrm>
            <a:off x="6493933" y="20415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0"/>
          <p:cNvSpPr/>
          <p:nvPr/>
        </p:nvSpPr>
        <p:spPr>
          <a:xfrm>
            <a:off x="6337300" y="18462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40"/>
          <p:cNvSpPr txBox="1"/>
          <p:nvPr/>
        </p:nvSpPr>
        <p:spPr>
          <a:xfrm>
            <a:off x="4483100" y="25463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682" name="Google Shape;682;p40"/>
          <p:cNvCxnSpPr/>
          <p:nvPr/>
        </p:nvCxnSpPr>
        <p:spPr>
          <a:xfrm>
            <a:off x="4781549" y="26638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83" name="Google Shape;683;p40"/>
          <p:cNvSpPr txBox="1"/>
          <p:nvPr/>
        </p:nvSpPr>
        <p:spPr>
          <a:xfrm>
            <a:off x="3860800" y="19256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684" name="Google Shape;684;p40"/>
          <p:cNvCxnSpPr/>
          <p:nvPr/>
        </p:nvCxnSpPr>
        <p:spPr>
          <a:xfrm rot="10800000">
            <a:off x="4002616" y="16144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85" name="Google Shape;685;p40"/>
          <p:cNvCxnSpPr/>
          <p:nvPr/>
        </p:nvCxnSpPr>
        <p:spPr>
          <a:xfrm>
            <a:off x="4064000" y="1371600"/>
            <a:ext cx="2798233" cy="750887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86" name="Google Shape;686;p40"/>
          <p:cNvCxnSpPr/>
          <p:nvPr/>
        </p:nvCxnSpPr>
        <p:spPr>
          <a:xfrm>
            <a:off x="4159249" y="27432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87" name="Google Shape;687;p40"/>
          <p:cNvCxnSpPr/>
          <p:nvPr/>
        </p:nvCxnSpPr>
        <p:spPr>
          <a:xfrm>
            <a:off x="4055533" y="43751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88" name="Google Shape;688;p40"/>
          <p:cNvSpPr/>
          <p:nvPr/>
        </p:nvSpPr>
        <p:spPr>
          <a:xfrm>
            <a:off x="4313767" y="39084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40"/>
          <p:cNvSpPr/>
          <p:nvPr/>
        </p:nvSpPr>
        <p:spPr>
          <a:xfrm>
            <a:off x="4574116" y="41814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40"/>
          <p:cNvSpPr/>
          <p:nvPr/>
        </p:nvSpPr>
        <p:spPr>
          <a:xfrm>
            <a:off x="4728633" y="35591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0"/>
          <p:cNvSpPr/>
          <p:nvPr/>
        </p:nvSpPr>
        <p:spPr>
          <a:xfrm>
            <a:off x="5196416" y="28590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40"/>
          <p:cNvSpPr/>
          <p:nvPr/>
        </p:nvSpPr>
        <p:spPr>
          <a:xfrm>
            <a:off x="5403849" y="3325812"/>
            <a:ext cx="48683" cy="3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40"/>
          <p:cNvSpPr/>
          <p:nvPr/>
        </p:nvSpPr>
        <p:spPr>
          <a:xfrm>
            <a:off x="5871633" y="32480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40"/>
          <p:cNvSpPr/>
          <p:nvPr/>
        </p:nvSpPr>
        <p:spPr>
          <a:xfrm>
            <a:off x="6390216" y="41814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40"/>
          <p:cNvSpPr/>
          <p:nvPr/>
        </p:nvSpPr>
        <p:spPr>
          <a:xfrm>
            <a:off x="6493933" y="38703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40"/>
          <p:cNvSpPr/>
          <p:nvPr/>
        </p:nvSpPr>
        <p:spPr>
          <a:xfrm>
            <a:off x="6337300" y="36750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40"/>
          <p:cNvSpPr txBox="1"/>
          <p:nvPr/>
        </p:nvSpPr>
        <p:spPr>
          <a:xfrm>
            <a:off x="4483100" y="43751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698" name="Google Shape;698;p40"/>
          <p:cNvCxnSpPr/>
          <p:nvPr/>
        </p:nvCxnSpPr>
        <p:spPr>
          <a:xfrm>
            <a:off x="4781549" y="44926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99" name="Google Shape;699;p40"/>
          <p:cNvSpPr txBox="1"/>
          <p:nvPr/>
        </p:nvSpPr>
        <p:spPr>
          <a:xfrm>
            <a:off x="3860800" y="37544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700" name="Google Shape;700;p40"/>
          <p:cNvCxnSpPr/>
          <p:nvPr/>
        </p:nvCxnSpPr>
        <p:spPr>
          <a:xfrm rot="10800000">
            <a:off x="4002616" y="34432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01" name="Google Shape;701;p40"/>
          <p:cNvCxnSpPr/>
          <p:nvPr/>
        </p:nvCxnSpPr>
        <p:spPr>
          <a:xfrm>
            <a:off x="4038600" y="3522662"/>
            <a:ext cx="2728383" cy="354012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02" name="Google Shape;702;p40"/>
          <p:cNvCxnSpPr/>
          <p:nvPr/>
        </p:nvCxnSpPr>
        <p:spPr>
          <a:xfrm>
            <a:off x="4159249" y="45720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03" name="Google Shape;703;p40"/>
          <p:cNvCxnSpPr/>
          <p:nvPr/>
        </p:nvCxnSpPr>
        <p:spPr>
          <a:xfrm>
            <a:off x="4055533" y="62039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04" name="Google Shape;704;p40"/>
          <p:cNvSpPr/>
          <p:nvPr/>
        </p:nvSpPr>
        <p:spPr>
          <a:xfrm>
            <a:off x="4313767" y="57372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0"/>
          <p:cNvSpPr/>
          <p:nvPr/>
        </p:nvSpPr>
        <p:spPr>
          <a:xfrm>
            <a:off x="4574116" y="60102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0"/>
          <p:cNvSpPr/>
          <p:nvPr/>
        </p:nvSpPr>
        <p:spPr>
          <a:xfrm>
            <a:off x="4728633" y="53879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0"/>
          <p:cNvSpPr/>
          <p:nvPr/>
        </p:nvSpPr>
        <p:spPr>
          <a:xfrm>
            <a:off x="5196416" y="46878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0"/>
          <p:cNvSpPr/>
          <p:nvPr/>
        </p:nvSpPr>
        <p:spPr>
          <a:xfrm>
            <a:off x="5403849" y="51546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0"/>
          <p:cNvSpPr/>
          <p:nvPr/>
        </p:nvSpPr>
        <p:spPr>
          <a:xfrm>
            <a:off x="5871633" y="50768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0"/>
          <p:cNvSpPr/>
          <p:nvPr/>
        </p:nvSpPr>
        <p:spPr>
          <a:xfrm>
            <a:off x="6390216" y="6010275"/>
            <a:ext cx="48683" cy="36512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0"/>
          <p:cNvSpPr/>
          <p:nvPr/>
        </p:nvSpPr>
        <p:spPr>
          <a:xfrm>
            <a:off x="6493933" y="56991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0"/>
          <p:cNvSpPr/>
          <p:nvPr/>
        </p:nvSpPr>
        <p:spPr>
          <a:xfrm>
            <a:off x="6337300" y="55038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0"/>
          <p:cNvSpPr txBox="1"/>
          <p:nvPr/>
        </p:nvSpPr>
        <p:spPr>
          <a:xfrm>
            <a:off x="4483100" y="62039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714" name="Google Shape;714;p40"/>
          <p:cNvCxnSpPr/>
          <p:nvPr/>
        </p:nvCxnSpPr>
        <p:spPr>
          <a:xfrm>
            <a:off x="4781549" y="63214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15" name="Google Shape;715;p40"/>
          <p:cNvSpPr txBox="1"/>
          <p:nvPr/>
        </p:nvSpPr>
        <p:spPr>
          <a:xfrm>
            <a:off x="3860800" y="55832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716" name="Google Shape;716;p40"/>
          <p:cNvCxnSpPr/>
          <p:nvPr/>
        </p:nvCxnSpPr>
        <p:spPr>
          <a:xfrm rot="10800000">
            <a:off x="4002616" y="52720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17" name="Google Shape;717;p40"/>
          <p:cNvCxnSpPr/>
          <p:nvPr/>
        </p:nvCxnSpPr>
        <p:spPr>
          <a:xfrm>
            <a:off x="4038600" y="5303837"/>
            <a:ext cx="2743200" cy="330200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18" name="Google Shape;718;p40"/>
          <p:cNvCxnSpPr/>
          <p:nvPr/>
        </p:nvCxnSpPr>
        <p:spPr>
          <a:xfrm>
            <a:off x="7105649" y="45720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19" name="Google Shape;719;p40"/>
          <p:cNvCxnSpPr/>
          <p:nvPr/>
        </p:nvCxnSpPr>
        <p:spPr>
          <a:xfrm>
            <a:off x="7001933" y="62039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20" name="Google Shape;720;p40"/>
          <p:cNvSpPr/>
          <p:nvPr/>
        </p:nvSpPr>
        <p:spPr>
          <a:xfrm>
            <a:off x="7260167" y="57372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0"/>
          <p:cNvSpPr/>
          <p:nvPr/>
        </p:nvSpPr>
        <p:spPr>
          <a:xfrm>
            <a:off x="7520516" y="60102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0"/>
          <p:cNvSpPr/>
          <p:nvPr/>
        </p:nvSpPr>
        <p:spPr>
          <a:xfrm>
            <a:off x="7675033" y="53879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0"/>
          <p:cNvSpPr/>
          <p:nvPr/>
        </p:nvSpPr>
        <p:spPr>
          <a:xfrm>
            <a:off x="8142816" y="46878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0"/>
          <p:cNvSpPr/>
          <p:nvPr/>
        </p:nvSpPr>
        <p:spPr>
          <a:xfrm>
            <a:off x="8350249" y="51546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0"/>
          <p:cNvSpPr/>
          <p:nvPr/>
        </p:nvSpPr>
        <p:spPr>
          <a:xfrm>
            <a:off x="8818033" y="50768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0"/>
          <p:cNvSpPr/>
          <p:nvPr/>
        </p:nvSpPr>
        <p:spPr>
          <a:xfrm>
            <a:off x="9336616" y="60102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0"/>
          <p:cNvSpPr/>
          <p:nvPr/>
        </p:nvSpPr>
        <p:spPr>
          <a:xfrm>
            <a:off x="9440333" y="5699125"/>
            <a:ext cx="48683" cy="36512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0"/>
          <p:cNvSpPr/>
          <p:nvPr/>
        </p:nvSpPr>
        <p:spPr>
          <a:xfrm>
            <a:off x="9283700" y="55038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0"/>
          <p:cNvSpPr txBox="1"/>
          <p:nvPr/>
        </p:nvSpPr>
        <p:spPr>
          <a:xfrm>
            <a:off x="7429500" y="62039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730" name="Google Shape;730;p40"/>
          <p:cNvCxnSpPr/>
          <p:nvPr/>
        </p:nvCxnSpPr>
        <p:spPr>
          <a:xfrm>
            <a:off x="7727949" y="63214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31" name="Google Shape;731;p40"/>
          <p:cNvSpPr txBox="1"/>
          <p:nvPr/>
        </p:nvSpPr>
        <p:spPr>
          <a:xfrm>
            <a:off x="6807200" y="55832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732" name="Google Shape;732;p40"/>
          <p:cNvCxnSpPr/>
          <p:nvPr/>
        </p:nvCxnSpPr>
        <p:spPr>
          <a:xfrm rot="10800000">
            <a:off x="6949016" y="52720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33" name="Google Shape;733;p40"/>
          <p:cNvCxnSpPr/>
          <p:nvPr/>
        </p:nvCxnSpPr>
        <p:spPr>
          <a:xfrm>
            <a:off x="6985000" y="5194300"/>
            <a:ext cx="2662767" cy="622300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34" name="Google Shape;734;p40"/>
          <p:cNvCxnSpPr/>
          <p:nvPr/>
        </p:nvCxnSpPr>
        <p:spPr>
          <a:xfrm>
            <a:off x="7105649" y="27432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35" name="Google Shape;735;p40"/>
          <p:cNvCxnSpPr/>
          <p:nvPr/>
        </p:nvCxnSpPr>
        <p:spPr>
          <a:xfrm>
            <a:off x="7001933" y="43751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36" name="Google Shape;736;p40"/>
          <p:cNvSpPr/>
          <p:nvPr/>
        </p:nvSpPr>
        <p:spPr>
          <a:xfrm>
            <a:off x="7260167" y="39084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0"/>
          <p:cNvSpPr/>
          <p:nvPr/>
        </p:nvSpPr>
        <p:spPr>
          <a:xfrm>
            <a:off x="7520516" y="41814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0"/>
          <p:cNvSpPr/>
          <p:nvPr/>
        </p:nvSpPr>
        <p:spPr>
          <a:xfrm>
            <a:off x="7675033" y="35591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0"/>
          <p:cNvSpPr/>
          <p:nvPr/>
        </p:nvSpPr>
        <p:spPr>
          <a:xfrm>
            <a:off x="8142816" y="28590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0"/>
          <p:cNvSpPr/>
          <p:nvPr/>
        </p:nvSpPr>
        <p:spPr>
          <a:xfrm>
            <a:off x="8350249" y="33258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0"/>
          <p:cNvSpPr/>
          <p:nvPr/>
        </p:nvSpPr>
        <p:spPr>
          <a:xfrm>
            <a:off x="8818033" y="3248025"/>
            <a:ext cx="48683" cy="3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0"/>
          <p:cNvSpPr/>
          <p:nvPr/>
        </p:nvSpPr>
        <p:spPr>
          <a:xfrm>
            <a:off x="9336616" y="41814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0"/>
          <p:cNvSpPr/>
          <p:nvPr/>
        </p:nvSpPr>
        <p:spPr>
          <a:xfrm>
            <a:off x="9440333" y="38703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40"/>
          <p:cNvSpPr/>
          <p:nvPr/>
        </p:nvSpPr>
        <p:spPr>
          <a:xfrm>
            <a:off x="9283700" y="36750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40"/>
          <p:cNvSpPr txBox="1"/>
          <p:nvPr/>
        </p:nvSpPr>
        <p:spPr>
          <a:xfrm>
            <a:off x="7429500" y="43751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746" name="Google Shape;746;p40"/>
          <p:cNvCxnSpPr/>
          <p:nvPr/>
        </p:nvCxnSpPr>
        <p:spPr>
          <a:xfrm>
            <a:off x="7727949" y="44926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47" name="Google Shape;747;p40"/>
          <p:cNvSpPr txBox="1"/>
          <p:nvPr/>
        </p:nvSpPr>
        <p:spPr>
          <a:xfrm>
            <a:off x="6807200" y="37544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748" name="Google Shape;748;p40"/>
          <p:cNvCxnSpPr/>
          <p:nvPr/>
        </p:nvCxnSpPr>
        <p:spPr>
          <a:xfrm rot="10800000">
            <a:off x="6949016" y="34432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49" name="Google Shape;749;p40"/>
          <p:cNvCxnSpPr/>
          <p:nvPr/>
        </p:nvCxnSpPr>
        <p:spPr>
          <a:xfrm>
            <a:off x="6968067" y="3500437"/>
            <a:ext cx="2825749" cy="377825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50" name="Google Shape;750;p40"/>
          <p:cNvCxnSpPr/>
          <p:nvPr/>
        </p:nvCxnSpPr>
        <p:spPr>
          <a:xfrm>
            <a:off x="7105649" y="9144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51" name="Google Shape;751;p40"/>
          <p:cNvCxnSpPr/>
          <p:nvPr/>
        </p:nvCxnSpPr>
        <p:spPr>
          <a:xfrm>
            <a:off x="7001933" y="25463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52" name="Google Shape;752;p40"/>
          <p:cNvSpPr/>
          <p:nvPr/>
        </p:nvSpPr>
        <p:spPr>
          <a:xfrm>
            <a:off x="7260167" y="20796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40"/>
          <p:cNvSpPr/>
          <p:nvPr/>
        </p:nvSpPr>
        <p:spPr>
          <a:xfrm>
            <a:off x="7520516" y="23526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40"/>
          <p:cNvSpPr/>
          <p:nvPr/>
        </p:nvSpPr>
        <p:spPr>
          <a:xfrm>
            <a:off x="7675033" y="1730375"/>
            <a:ext cx="50800" cy="3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40"/>
          <p:cNvSpPr/>
          <p:nvPr/>
        </p:nvSpPr>
        <p:spPr>
          <a:xfrm>
            <a:off x="8142816" y="10302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40"/>
          <p:cNvSpPr/>
          <p:nvPr/>
        </p:nvSpPr>
        <p:spPr>
          <a:xfrm>
            <a:off x="8350249" y="14970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0"/>
          <p:cNvSpPr/>
          <p:nvPr/>
        </p:nvSpPr>
        <p:spPr>
          <a:xfrm>
            <a:off x="8818033" y="14192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0"/>
          <p:cNvSpPr/>
          <p:nvPr/>
        </p:nvSpPr>
        <p:spPr>
          <a:xfrm>
            <a:off x="9336616" y="23526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0"/>
          <p:cNvSpPr/>
          <p:nvPr/>
        </p:nvSpPr>
        <p:spPr>
          <a:xfrm>
            <a:off x="9440333" y="20415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40"/>
          <p:cNvSpPr/>
          <p:nvPr/>
        </p:nvSpPr>
        <p:spPr>
          <a:xfrm>
            <a:off x="9283700" y="18462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40"/>
          <p:cNvSpPr txBox="1"/>
          <p:nvPr/>
        </p:nvSpPr>
        <p:spPr>
          <a:xfrm>
            <a:off x="7429500" y="25463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762" name="Google Shape;762;p40"/>
          <p:cNvCxnSpPr/>
          <p:nvPr/>
        </p:nvCxnSpPr>
        <p:spPr>
          <a:xfrm>
            <a:off x="7727949" y="26638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63" name="Google Shape;763;p40"/>
          <p:cNvSpPr txBox="1"/>
          <p:nvPr/>
        </p:nvSpPr>
        <p:spPr>
          <a:xfrm>
            <a:off x="6807200" y="19256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764" name="Google Shape;764;p40"/>
          <p:cNvCxnSpPr/>
          <p:nvPr/>
        </p:nvCxnSpPr>
        <p:spPr>
          <a:xfrm rot="10800000">
            <a:off x="6949016" y="16144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65" name="Google Shape;765;p40"/>
          <p:cNvCxnSpPr/>
          <p:nvPr/>
        </p:nvCxnSpPr>
        <p:spPr>
          <a:xfrm>
            <a:off x="7052733" y="1816100"/>
            <a:ext cx="2724149" cy="147637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66" name="Google Shape;766;p40"/>
          <p:cNvSpPr txBox="1"/>
          <p:nvPr/>
        </p:nvSpPr>
        <p:spPr>
          <a:xfrm>
            <a:off x="9850967" y="4681537"/>
            <a:ext cx="2080683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2400"/>
              <a:buFont typeface="Arial"/>
              <a:buNone/>
            </a:pPr>
            <a:r>
              <a:rPr b="0" i="1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MSE</a:t>
            </a:r>
            <a:r>
              <a:rPr b="0" baseline="-25000" i="1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LOOCV </a:t>
            </a:r>
            <a:r>
              <a:rPr b="0" i="1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= 2.12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41"/>
          <p:cNvSpPr txBox="1"/>
          <p:nvPr>
            <p:ph type="title"/>
          </p:nvPr>
        </p:nvSpPr>
        <p:spPr>
          <a:xfrm>
            <a:off x="323849" y="182562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LOOCV for Quadratic Regression</a:t>
            </a:r>
            <a:endParaRPr/>
          </a:p>
        </p:txBody>
      </p:sp>
      <p:sp>
        <p:nvSpPr>
          <p:cNvPr id="772" name="Google Shape;772;p41"/>
          <p:cNvSpPr txBox="1"/>
          <p:nvPr/>
        </p:nvSpPr>
        <p:spPr>
          <a:xfrm>
            <a:off x="10043583" y="960437"/>
            <a:ext cx="1917700" cy="347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k=1 to R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1. Let 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be the </a:t>
            </a:r>
            <a:r>
              <a:rPr b="0" i="1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3000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record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2. Temporarily remove 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from the dataset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3. Train on the remaining R-1 datapoints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4. Note your error 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you’ve done all points, report the mean error.</a:t>
            </a:r>
            <a:endParaRPr/>
          </a:p>
        </p:txBody>
      </p:sp>
      <p:cxnSp>
        <p:nvCxnSpPr>
          <p:cNvPr id="773" name="Google Shape;773;p41"/>
          <p:cNvCxnSpPr/>
          <p:nvPr/>
        </p:nvCxnSpPr>
        <p:spPr>
          <a:xfrm>
            <a:off x="1212849" y="9144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74" name="Google Shape;774;p41"/>
          <p:cNvCxnSpPr/>
          <p:nvPr/>
        </p:nvCxnSpPr>
        <p:spPr>
          <a:xfrm>
            <a:off x="1109133" y="25463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75" name="Google Shape;775;p41"/>
          <p:cNvSpPr/>
          <p:nvPr/>
        </p:nvSpPr>
        <p:spPr>
          <a:xfrm>
            <a:off x="1367367" y="2079625"/>
            <a:ext cx="50800" cy="3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41"/>
          <p:cNvSpPr/>
          <p:nvPr/>
        </p:nvSpPr>
        <p:spPr>
          <a:xfrm>
            <a:off x="1627716" y="23526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41"/>
          <p:cNvSpPr/>
          <p:nvPr/>
        </p:nvSpPr>
        <p:spPr>
          <a:xfrm>
            <a:off x="1782233" y="17303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41"/>
          <p:cNvSpPr/>
          <p:nvPr/>
        </p:nvSpPr>
        <p:spPr>
          <a:xfrm>
            <a:off x="2250016" y="10302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41"/>
          <p:cNvSpPr/>
          <p:nvPr/>
        </p:nvSpPr>
        <p:spPr>
          <a:xfrm>
            <a:off x="2457449" y="14970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41"/>
          <p:cNvSpPr/>
          <p:nvPr/>
        </p:nvSpPr>
        <p:spPr>
          <a:xfrm>
            <a:off x="2925233" y="14192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41"/>
          <p:cNvSpPr/>
          <p:nvPr/>
        </p:nvSpPr>
        <p:spPr>
          <a:xfrm>
            <a:off x="3443816" y="23526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41"/>
          <p:cNvSpPr/>
          <p:nvPr/>
        </p:nvSpPr>
        <p:spPr>
          <a:xfrm>
            <a:off x="3547533" y="20415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41"/>
          <p:cNvSpPr/>
          <p:nvPr/>
        </p:nvSpPr>
        <p:spPr>
          <a:xfrm>
            <a:off x="3390900" y="18462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1"/>
          <p:cNvSpPr txBox="1"/>
          <p:nvPr/>
        </p:nvSpPr>
        <p:spPr>
          <a:xfrm>
            <a:off x="1536700" y="25463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785" name="Google Shape;785;p41"/>
          <p:cNvCxnSpPr/>
          <p:nvPr/>
        </p:nvCxnSpPr>
        <p:spPr>
          <a:xfrm>
            <a:off x="1835149" y="26638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86" name="Google Shape;786;p41"/>
          <p:cNvSpPr txBox="1"/>
          <p:nvPr/>
        </p:nvSpPr>
        <p:spPr>
          <a:xfrm>
            <a:off x="914400" y="19256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787" name="Google Shape;787;p41"/>
          <p:cNvCxnSpPr/>
          <p:nvPr/>
        </p:nvCxnSpPr>
        <p:spPr>
          <a:xfrm rot="10800000">
            <a:off x="1056216" y="16144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88" name="Google Shape;788;p41"/>
          <p:cNvCxnSpPr/>
          <p:nvPr/>
        </p:nvCxnSpPr>
        <p:spPr>
          <a:xfrm>
            <a:off x="1212849" y="27432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89" name="Google Shape;789;p41"/>
          <p:cNvCxnSpPr/>
          <p:nvPr/>
        </p:nvCxnSpPr>
        <p:spPr>
          <a:xfrm>
            <a:off x="1109133" y="43751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90" name="Google Shape;790;p41"/>
          <p:cNvSpPr/>
          <p:nvPr/>
        </p:nvSpPr>
        <p:spPr>
          <a:xfrm>
            <a:off x="1367367" y="39084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41"/>
          <p:cNvSpPr/>
          <p:nvPr/>
        </p:nvSpPr>
        <p:spPr>
          <a:xfrm>
            <a:off x="1627716" y="41814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41"/>
          <p:cNvSpPr/>
          <p:nvPr/>
        </p:nvSpPr>
        <p:spPr>
          <a:xfrm>
            <a:off x="1782233" y="35591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41"/>
          <p:cNvSpPr/>
          <p:nvPr/>
        </p:nvSpPr>
        <p:spPr>
          <a:xfrm>
            <a:off x="2250016" y="2859087"/>
            <a:ext cx="48683" cy="3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41"/>
          <p:cNvSpPr/>
          <p:nvPr/>
        </p:nvSpPr>
        <p:spPr>
          <a:xfrm>
            <a:off x="2457449" y="33258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41"/>
          <p:cNvSpPr/>
          <p:nvPr/>
        </p:nvSpPr>
        <p:spPr>
          <a:xfrm>
            <a:off x="2925233" y="32480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41"/>
          <p:cNvSpPr/>
          <p:nvPr/>
        </p:nvSpPr>
        <p:spPr>
          <a:xfrm>
            <a:off x="3443816" y="41814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1"/>
          <p:cNvSpPr/>
          <p:nvPr/>
        </p:nvSpPr>
        <p:spPr>
          <a:xfrm>
            <a:off x="3547533" y="38703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41"/>
          <p:cNvSpPr/>
          <p:nvPr/>
        </p:nvSpPr>
        <p:spPr>
          <a:xfrm>
            <a:off x="3390900" y="36750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41"/>
          <p:cNvSpPr txBox="1"/>
          <p:nvPr/>
        </p:nvSpPr>
        <p:spPr>
          <a:xfrm>
            <a:off x="1536700" y="43751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800" name="Google Shape;800;p41"/>
          <p:cNvCxnSpPr/>
          <p:nvPr/>
        </p:nvCxnSpPr>
        <p:spPr>
          <a:xfrm>
            <a:off x="1835149" y="44926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801" name="Google Shape;801;p41"/>
          <p:cNvSpPr txBox="1"/>
          <p:nvPr/>
        </p:nvSpPr>
        <p:spPr>
          <a:xfrm>
            <a:off x="914400" y="37544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802" name="Google Shape;802;p41"/>
          <p:cNvCxnSpPr/>
          <p:nvPr/>
        </p:nvCxnSpPr>
        <p:spPr>
          <a:xfrm rot="10800000">
            <a:off x="1056216" y="34432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803" name="Google Shape;803;p41"/>
          <p:cNvCxnSpPr/>
          <p:nvPr/>
        </p:nvCxnSpPr>
        <p:spPr>
          <a:xfrm>
            <a:off x="1212849" y="45720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04" name="Google Shape;804;p41"/>
          <p:cNvCxnSpPr/>
          <p:nvPr/>
        </p:nvCxnSpPr>
        <p:spPr>
          <a:xfrm>
            <a:off x="1109133" y="62039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05" name="Google Shape;805;p41"/>
          <p:cNvSpPr/>
          <p:nvPr/>
        </p:nvSpPr>
        <p:spPr>
          <a:xfrm>
            <a:off x="1367367" y="57372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41"/>
          <p:cNvSpPr/>
          <p:nvPr/>
        </p:nvSpPr>
        <p:spPr>
          <a:xfrm>
            <a:off x="1627716" y="60102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41"/>
          <p:cNvSpPr/>
          <p:nvPr/>
        </p:nvSpPr>
        <p:spPr>
          <a:xfrm>
            <a:off x="1782233" y="53879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41"/>
          <p:cNvSpPr/>
          <p:nvPr/>
        </p:nvSpPr>
        <p:spPr>
          <a:xfrm>
            <a:off x="2250016" y="46878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41"/>
          <p:cNvSpPr/>
          <p:nvPr/>
        </p:nvSpPr>
        <p:spPr>
          <a:xfrm>
            <a:off x="2457449" y="51546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41"/>
          <p:cNvSpPr/>
          <p:nvPr/>
        </p:nvSpPr>
        <p:spPr>
          <a:xfrm>
            <a:off x="2925233" y="50768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41"/>
          <p:cNvSpPr/>
          <p:nvPr/>
        </p:nvSpPr>
        <p:spPr>
          <a:xfrm>
            <a:off x="3443816" y="60102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41"/>
          <p:cNvSpPr/>
          <p:nvPr/>
        </p:nvSpPr>
        <p:spPr>
          <a:xfrm>
            <a:off x="3547533" y="56991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41"/>
          <p:cNvSpPr/>
          <p:nvPr/>
        </p:nvSpPr>
        <p:spPr>
          <a:xfrm>
            <a:off x="3390900" y="5503862"/>
            <a:ext cx="50800" cy="3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1"/>
          <p:cNvSpPr txBox="1"/>
          <p:nvPr/>
        </p:nvSpPr>
        <p:spPr>
          <a:xfrm>
            <a:off x="1536700" y="62039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815" name="Google Shape;815;p41"/>
          <p:cNvCxnSpPr/>
          <p:nvPr/>
        </p:nvCxnSpPr>
        <p:spPr>
          <a:xfrm>
            <a:off x="1835149" y="63214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816" name="Google Shape;816;p41"/>
          <p:cNvSpPr txBox="1"/>
          <p:nvPr/>
        </p:nvSpPr>
        <p:spPr>
          <a:xfrm>
            <a:off x="914400" y="55832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817" name="Google Shape;817;p41"/>
          <p:cNvCxnSpPr/>
          <p:nvPr/>
        </p:nvCxnSpPr>
        <p:spPr>
          <a:xfrm rot="10800000">
            <a:off x="1056216" y="52720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818" name="Google Shape;818;p41"/>
          <p:cNvCxnSpPr/>
          <p:nvPr/>
        </p:nvCxnSpPr>
        <p:spPr>
          <a:xfrm>
            <a:off x="4159249" y="9144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19" name="Google Shape;819;p41"/>
          <p:cNvCxnSpPr/>
          <p:nvPr/>
        </p:nvCxnSpPr>
        <p:spPr>
          <a:xfrm>
            <a:off x="4055533" y="25463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20" name="Google Shape;820;p41"/>
          <p:cNvSpPr/>
          <p:nvPr/>
        </p:nvSpPr>
        <p:spPr>
          <a:xfrm>
            <a:off x="4313767" y="20796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41"/>
          <p:cNvSpPr/>
          <p:nvPr/>
        </p:nvSpPr>
        <p:spPr>
          <a:xfrm>
            <a:off x="4574116" y="2352675"/>
            <a:ext cx="48683" cy="36512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41"/>
          <p:cNvSpPr/>
          <p:nvPr/>
        </p:nvSpPr>
        <p:spPr>
          <a:xfrm>
            <a:off x="4728633" y="17303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41"/>
          <p:cNvSpPr/>
          <p:nvPr/>
        </p:nvSpPr>
        <p:spPr>
          <a:xfrm>
            <a:off x="5196416" y="10302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41"/>
          <p:cNvSpPr/>
          <p:nvPr/>
        </p:nvSpPr>
        <p:spPr>
          <a:xfrm>
            <a:off x="5403849" y="14970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41"/>
          <p:cNvSpPr/>
          <p:nvPr/>
        </p:nvSpPr>
        <p:spPr>
          <a:xfrm>
            <a:off x="5871633" y="14192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41"/>
          <p:cNvSpPr/>
          <p:nvPr/>
        </p:nvSpPr>
        <p:spPr>
          <a:xfrm>
            <a:off x="6390216" y="23526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41"/>
          <p:cNvSpPr/>
          <p:nvPr/>
        </p:nvSpPr>
        <p:spPr>
          <a:xfrm>
            <a:off x="6493933" y="20415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41"/>
          <p:cNvSpPr/>
          <p:nvPr/>
        </p:nvSpPr>
        <p:spPr>
          <a:xfrm>
            <a:off x="6337300" y="18462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41"/>
          <p:cNvSpPr txBox="1"/>
          <p:nvPr/>
        </p:nvSpPr>
        <p:spPr>
          <a:xfrm>
            <a:off x="4483100" y="25463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830" name="Google Shape;830;p41"/>
          <p:cNvCxnSpPr/>
          <p:nvPr/>
        </p:nvCxnSpPr>
        <p:spPr>
          <a:xfrm>
            <a:off x="4781549" y="26638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831" name="Google Shape;831;p41"/>
          <p:cNvSpPr txBox="1"/>
          <p:nvPr/>
        </p:nvSpPr>
        <p:spPr>
          <a:xfrm>
            <a:off x="3860800" y="19256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832" name="Google Shape;832;p41"/>
          <p:cNvCxnSpPr/>
          <p:nvPr/>
        </p:nvCxnSpPr>
        <p:spPr>
          <a:xfrm rot="10800000">
            <a:off x="4002616" y="16144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833" name="Google Shape;833;p41"/>
          <p:cNvCxnSpPr/>
          <p:nvPr/>
        </p:nvCxnSpPr>
        <p:spPr>
          <a:xfrm>
            <a:off x="4159249" y="27432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34" name="Google Shape;834;p41"/>
          <p:cNvCxnSpPr/>
          <p:nvPr/>
        </p:nvCxnSpPr>
        <p:spPr>
          <a:xfrm>
            <a:off x="4055533" y="43751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35" name="Google Shape;835;p41"/>
          <p:cNvSpPr/>
          <p:nvPr/>
        </p:nvSpPr>
        <p:spPr>
          <a:xfrm>
            <a:off x="4313767" y="39084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41"/>
          <p:cNvSpPr/>
          <p:nvPr/>
        </p:nvSpPr>
        <p:spPr>
          <a:xfrm>
            <a:off x="4574116" y="41814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41"/>
          <p:cNvSpPr/>
          <p:nvPr/>
        </p:nvSpPr>
        <p:spPr>
          <a:xfrm>
            <a:off x="4728633" y="35591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41"/>
          <p:cNvSpPr/>
          <p:nvPr/>
        </p:nvSpPr>
        <p:spPr>
          <a:xfrm>
            <a:off x="5196416" y="28590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41"/>
          <p:cNvSpPr/>
          <p:nvPr/>
        </p:nvSpPr>
        <p:spPr>
          <a:xfrm>
            <a:off x="5403849" y="3325812"/>
            <a:ext cx="48683" cy="3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41"/>
          <p:cNvSpPr/>
          <p:nvPr/>
        </p:nvSpPr>
        <p:spPr>
          <a:xfrm>
            <a:off x="5871633" y="32480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41"/>
          <p:cNvSpPr/>
          <p:nvPr/>
        </p:nvSpPr>
        <p:spPr>
          <a:xfrm>
            <a:off x="6390216" y="41814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41"/>
          <p:cNvSpPr/>
          <p:nvPr/>
        </p:nvSpPr>
        <p:spPr>
          <a:xfrm>
            <a:off x="6493933" y="38703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41"/>
          <p:cNvSpPr/>
          <p:nvPr/>
        </p:nvSpPr>
        <p:spPr>
          <a:xfrm>
            <a:off x="6337300" y="36750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41"/>
          <p:cNvSpPr txBox="1"/>
          <p:nvPr/>
        </p:nvSpPr>
        <p:spPr>
          <a:xfrm>
            <a:off x="4483100" y="43751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845" name="Google Shape;845;p41"/>
          <p:cNvCxnSpPr/>
          <p:nvPr/>
        </p:nvCxnSpPr>
        <p:spPr>
          <a:xfrm>
            <a:off x="4781549" y="44926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846" name="Google Shape;846;p41"/>
          <p:cNvSpPr txBox="1"/>
          <p:nvPr/>
        </p:nvSpPr>
        <p:spPr>
          <a:xfrm>
            <a:off x="3860800" y="37544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847" name="Google Shape;847;p41"/>
          <p:cNvCxnSpPr/>
          <p:nvPr/>
        </p:nvCxnSpPr>
        <p:spPr>
          <a:xfrm rot="10800000">
            <a:off x="4002616" y="34432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848" name="Google Shape;848;p41"/>
          <p:cNvCxnSpPr/>
          <p:nvPr/>
        </p:nvCxnSpPr>
        <p:spPr>
          <a:xfrm>
            <a:off x="4159249" y="45720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49" name="Google Shape;849;p41"/>
          <p:cNvCxnSpPr/>
          <p:nvPr/>
        </p:nvCxnSpPr>
        <p:spPr>
          <a:xfrm>
            <a:off x="4055533" y="62039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50" name="Google Shape;850;p41"/>
          <p:cNvSpPr/>
          <p:nvPr/>
        </p:nvSpPr>
        <p:spPr>
          <a:xfrm>
            <a:off x="4313767" y="57372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41"/>
          <p:cNvSpPr/>
          <p:nvPr/>
        </p:nvSpPr>
        <p:spPr>
          <a:xfrm>
            <a:off x="4574116" y="60102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41"/>
          <p:cNvSpPr/>
          <p:nvPr/>
        </p:nvSpPr>
        <p:spPr>
          <a:xfrm>
            <a:off x="4728633" y="53879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41"/>
          <p:cNvSpPr/>
          <p:nvPr/>
        </p:nvSpPr>
        <p:spPr>
          <a:xfrm>
            <a:off x="5196416" y="46878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1"/>
          <p:cNvSpPr/>
          <p:nvPr/>
        </p:nvSpPr>
        <p:spPr>
          <a:xfrm>
            <a:off x="5403849" y="51546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41"/>
          <p:cNvSpPr/>
          <p:nvPr/>
        </p:nvSpPr>
        <p:spPr>
          <a:xfrm>
            <a:off x="5871633" y="50768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41"/>
          <p:cNvSpPr/>
          <p:nvPr/>
        </p:nvSpPr>
        <p:spPr>
          <a:xfrm>
            <a:off x="6390216" y="6010275"/>
            <a:ext cx="48683" cy="36512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41"/>
          <p:cNvSpPr/>
          <p:nvPr/>
        </p:nvSpPr>
        <p:spPr>
          <a:xfrm>
            <a:off x="6493933" y="56991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41"/>
          <p:cNvSpPr/>
          <p:nvPr/>
        </p:nvSpPr>
        <p:spPr>
          <a:xfrm>
            <a:off x="6337300" y="55038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41"/>
          <p:cNvSpPr txBox="1"/>
          <p:nvPr/>
        </p:nvSpPr>
        <p:spPr>
          <a:xfrm>
            <a:off x="4483100" y="62039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860" name="Google Shape;860;p41"/>
          <p:cNvCxnSpPr/>
          <p:nvPr/>
        </p:nvCxnSpPr>
        <p:spPr>
          <a:xfrm>
            <a:off x="4781549" y="63214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861" name="Google Shape;861;p41"/>
          <p:cNvSpPr txBox="1"/>
          <p:nvPr/>
        </p:nvSpPr>
        <p:spPr>
          <a:xfrm>
            <a:off x="3860800" y="55832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862" name="Google Shape;862;p41"/>
          <p:cNvCxnSpPr/>
          <p:nvPr/>
        </p:nvCxnSpPr>
        <p:spPr>
          <a:xfrm rot="10800000">
            <a:off x="4002616" y="52720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863" name="Google Shape;863;p41"/>
          <p:cNvCxnSpPr/>
          <p:nvPr/>
        </p:nvCxnSpPr>
        <p:spPr>
          <a:xfrm>
            <a:off x="7105649" y="45720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64" name="Google Shape;864;p41"/>
          <p:cNvCxnSpPr/>
          <p:nvPr/>
        </p:nvCxnSpPr>
        <p:spPr>
          <a:xfrm>
            <a:off x="7001933" y="62039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65" name="Google Shape;865;p41"/>
          <p:cNvSpPr/>
          <p:nvPr/>
        </p:nvSpPr>
        <p:spPr>
          <a:xfrm>
            <a:off x="7260167" y="57372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41"/>
          <p:cNvSpPr/>
          <p:nvPr/>
        </p:nvSpPr>
        <p:spPr>
          <a:xfrm>
            <a:off x="7520516" y="60102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41"/>
          <p:cNvSpPr/>
          <p:nvPr/>
        </p:nvSpPr>
        <p:spPr>
          <a:xfrm>
            <a:off x="7675033" y="53879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41"/>
          <p:cNvSpPr/>
          <p:nvPr/>
        </p:nvSpPr>
        <p:spPr>
          <a:xfrm>
            <a:off x="8142816" y="46878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41"/>
          <p:cNvSpPr/>
          <p:nvPr/>
        </p:nvSpPr>
        <p:spPr>
          <a:xfrm>
            <a:off x="8350249" y="51546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41"/>
          <p:cNvSpPr/>
          <p:nvPr/>
        </p:nvSpPr>
        <p:spPr>
          <a:xfrm>
            <a:off x="8818033" y="50768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41"/>
          <p:cNvSpPr/>
          <p:nvPr/>
        </p:nvSpPr>
        <p:spPr>
          <a:xfrm>
            <a:off x="9336616" y="60102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41"/>
          <p:cNvSpPr/>
          <p:nvPr/>
        </p:nvSpPr>
        <p:spPr>
          <a:xfrm>
            <a:off x="9440333" y="5699125"/>
            <a:ext cx="48683" cy="36512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41"/>
          <p:cNvSpPr/>
          <p:nvPr/>
        </p:nvSpPr>
        <p:spPr>
          <a:xfrm>
            <a:off x="9283700" y="55038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41"/>
          <p:cNvSpPr txBox="1"/>
          <p:nvPr/>
        </p:nvSpPr>
        <p:spPr>
          <a:xfrm>
            <a:off x="7429500" y="62039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875" name="Google Shape;875;p41"/>
          <p:cNvCxnSpPr/>
          <p:nvPr/>
        </p:nvCxnSpPr>
        <p:spPr>
          <a:xfrm>
            <a:off x="7727949" y="63214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876" name="Google Shape;876;p41"/>
          <p:cNvSpPr txBox="1"/>
          <p:nvPr/>
        </p:nvSpPr>
        <p:spPr>
          <a:xfrm>
            <a:off x="6807200" y="55832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877" name="Google Shape;877;p41"/>
          <p:cNvCxnSpPr/>
          <p:nvPr/>
        </p:nvCxnSpPr>
        <p:spPr>
          <a:xfrm rot="10800000">
            <a:off x="6949016" y="52720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878" name="Google Shape;878;p41"/>
          <p:cNvCxnSpPr/>
          <p:nvPr/>
        </p:nvCxnSpPr>
        <p:spPr>
          <a:xfrm>
            <a:off x="7105649" y="27432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79" name="Google Shape;879;p41"/>
          <p:cNvCxnSpPr/>
          <p:nvPr/>
        </p:nvCxnSpPr>
        <p:spPr>
          <a:xfrm>
            <a:off x="7001933" y="43751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80" name="Google Shape;880;p41"/>
          <p:cNvSpPr/>
          <p:nvPr/>
        </p:nvSpPr>
        <p:spPr>
          <a:xfrm>
            <a:off x="7260167" y="39084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41"/>
          <p:cNvSpPr/>
          <p:nvPr/>
        </p:nvSpPr>
        <p:spPr>
          <a:xfrm>
            <a:off x="7520516" y="41814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41"/>
          <p:cNvSpPr/>
          <p:nvPr/>
        </p:nvSpPr>
        <p:spPr>
          <a:xfrm>
            <a:off x="7675033" y="35591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1"/>
          <p:cNvSpPr/>
          <p:nvPr/>
        </p:nvSpPr>
        <p:spPr>
          <a:xfrm>
            <a:off x="8142816" y="28590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41"/>
          <p:cNvSpPr/>
          <p:nvPr/>
        </p:nvSpPr>
        <p:spPr>
          <a:xfrm>
            <a:off x="8350249" y="33258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1"/>
          <p:cNvSpPr/>
          <p:nvPr/>
        </p:nvSpPr>
        <p:spPr>
          <a:xfrm>
            <a:off x="8818033" y="3248025"/>
            <a:ext cx="48683" cy="3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41"/>
          <p:cNvSpPr/>
          <p:nvPr/>
        </p:nvSpPr>
        <p:spPr>
          <a:xfrm>
            <a:off x="9336616" y="41814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41"/>
          <p:cNvSpPr/>
          <p:nvPr/>
        </p:nvSpPr>
        <p:spPr>
          <a:xfrm>
            <a:off x="9440333" y="38703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41"/>
          <p:cNvSpPr/>
          <p:nvPr/>
        </p:nvSpPr>
        <p:spPr>
          <a:xfrm>
            <a:off x="9283700" y="36750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41"/>
          <p:cNvSpPr txBox="1"/>
          <p:nvPr/>
        </p:nvSpPr>
        <p:spPr>
          <a:xfrm>
            <a:off x="7429500" y="43751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890" name="Google Shape;890;p41"/>
          <p:cNvCxnSpPr/>
          <p:nvPr/>
        </p:nvCxnSpPr>
        <p:spPr>
          <a:xfrm>
            <a:off x="7727949" y="44926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891" name="Google Shape;891;p41"/>
          <p:cNvSpPr txBox="1"/>
          <p:nvPr/>
        </p:nvSpPr>
        <p:spPr>
          <a:xfrm>
            <a:off x="6807200" y="37544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892" name="Google Shape;892;p41"/>
          <p:cNvCxnSpPr/>
          <p:nvPr/>
        </p:nvCxnSpPr>
        <p:spPr>
          <a:xfrm rot="10800000">
            <a:off x="6949016" y="34432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893" name="Google Shape;893;p41"/>
          <p:cNvCxnSpPr/>
          <p:nvPr/>
        </p:nvCxnSpPr>
        <p:spPr>
          <a:xfrm>
            <a:off x="7105649" y="9144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94" name="Google Shape;894;p41"/>
          <p:cNvCxnSpPr/>
          <p:nvPr/>
        </p:nvCxnSpPr>
        <p:spPr>
          <a:xfrm>
            <a:off x="7001933" y="25463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95" name="Google Shape;895;p41"/>
          <p:cNvSpPr/>
          <p:nvPr/>
        </p:nvSpPr>
        <p:spPr>
          <a:xfrm>
            <a:off x="7260167" y="20796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41"/>
          <p:cNvSpPr/>
          <p:nvPr/>
        </p:nvSpPr>
        <p:spPr>
          <a:xfrm>
            <a:off x="7520516" y="23526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41"/>
          <p:cNvSpPr/>
          <p:nvPr/>
        </p:nvSpPr>
        <p:spPr>
          <a:xfrm>
            <a:off x="7675033" y="1730375"/>
            <a:ext cx="50800" cy="3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41"/>
          <p:cNvSpPr/>
          <p:nvPr/>
        </p:nvSpPr>
        <p:spPr>
          <a:xfrm>
            <a:off x="8142816" y="10302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41"/>
          <p:cNvSpPr/>
          <p:nvPr/>
        </p:nvSpPr>
        <p:spPr>
          <a:xfrm>
            <a:off x="8350249" y="14970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41"/>
          <p:cNvSpPr/>
          <p:nvPr/>
        </p:nvSpPr>
        <p:spPr>
          <a:xfrm>
            <a:off x="8818033" y="14192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41"/>
          <p:cNvSpPr/>
          <p:nvPr/>
        </p:nvSpPr>
        <p:spPr>
          <a:xfrm>
            <a:off x="9336616" y="23526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41"/>
          <p:cNvSpPr/>
          <p:nvPr/>
        </p:nvSpPr>
        <p:spPr>
          <a:xfrm>
            <a:off x="9440333" y="20415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41"/>
          <p:cNvSpPr/>
          <p:nvPr/>
        </p:nvSpPr>
        <p:spPr>
          <a:xfrm>
            <a:off x="9283700" y="18462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41"/>
          <p:cNvSpPr txBox="1"/>
          <p:nvPr/>
        </p:nvSpPr>
        <p:spPr>
          <a:xfrm>
            <a:off x="7429500" y="25463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905" name="Google Shape;905;p41"/>
          <p:cNvCxnSpPr/>
          <p:nvPr/>
        </p:nvCxnSpPr>
        <p:spPr>
          <a:xfrm>
            <a:off x="7727949" y="26638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906" name="Google Shape;906;p41"/>
          <p:cNvSpPr txBox="1"/>
          <p:nvPr/>
        </p:nvSpPr>
        <p:spPr>
          <a:xfrm>
            <a:off x="6807200" y="19256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907" name="Google Shape;907;p41"/>
          <p:cNvCxnSpPr/>
          <p:nvPr/>
        </p:nvCxnSpPr>
        <p:spPr>
          <a:xfrm rot="10800000">
            <a:off x="6949016" y="16144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08" name="Google Shape;908;p41"/>
          <p:cNvCxnSpPr/>
          <p:nvPr/>
        </p:nvCxnSpPr>
        <p:spPr>
          <a:xfrm flipH="1">
            <a:off x="1262070" y="1912585"/>
            <a:ext cx="2456400" cy="388200"/>
          </a:xfrm>
          <a:prstGeom prst="curvedConnector2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909" name="Google Shape;909;p41"/>
          <p:cNvCxnSpPr/>
          <p:nvPr/>
        </p:nvCxnSpPr>
        <p:spPr>
          <a:xfrm rot="10800000">
            <a:off x="7031218" y="5767883"/>
            <a:ext cx="2574400" cy="171900"/>
          </a:xfrm>
          <a:prstGeom prst="curvedConnector2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910" name="Google Shape;910;p41"/>
          <p:cNvCxnSpPr/>
          <p:nvPr/>
        </p:nvCxnSpPr>
        <p:spPr>
          <a:xfrm flipH="1">
            <a:off x="4269220" y="5628936"/>
            <a:ext cx="2292400" cy="173700"/>
          </a:xfrm>
          <a:prstGeom prst="curvedConnector2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911" name="Google Shape;911;p41"/>
          <p:cNvCxnSpPr/>
          <p:nvPr/>
        </p:nvCxnSpPr>
        <p:spPr>
          <a:xfrm rot="10800000">
            <a:off x="1277120" y="5561561"/>
            <a:ext cx="2464400" cy="341700"/>
          </a:xfrm>
          <a:prstGeom prst="curvedConnector2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912" name="Google Shape;912;p41"/>
          <p:cNvCxnSpPr/>
          <p:nvPr/>
        </p:nvCxnSpPr>
        <p:spPr>
          <a:xfrm rot="10800000">
            <a:off x="7115466" y="3851077"/>
            <a:ext cx="2628400" cy="122700"/>
          </a:xfrm>
          <a:prstGeom prst="curvedConnector2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913" name="Google Shape;913;p41"/>
          <p:cNvCxnSpPr/>
          <p:nvPr/>
        </p:nvCxnSpPr>
        <p:spPr>
          <a:xfrm flipH="1">
            <a:off x="4260555" y="3833770"/>
            <a:ext cx="2616800" cy="185700"/>
          </a:xfrm>
          <a:prstGeom prst="curvedConnector2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914" name="Google Shape;914;p41"/>
          <p:cNvCxnSpPr/>
          <p:nvPr/>
        </p:nvCxnSpPr>
        <p:spPr>
          <a:xfrm flipH="1">
            <a:off x="1200523" y="3950730"/>
            <a:ext cx="2503200" cy="182100"/>
          </a:xfrm>
          <a:prstGeom prst="curvedConnector2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915" name="Google Shape;915;p41"/>
          <p:cNvCxnSpPr/>
          <p:nvPr/>
        </p:nvCxnSpPr>
        <p:spPr>
          <a:xfrm flipH="1">
            <a:off x="4197130" y="2015392"/>
            <a:ext cx="2519200" cy="9300"/>
          </a:xfrm>
          <a:prstGeom prst="curvedConnector2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916" name="Google Shape;916;p41"/>
          <p:cNvCxnSpPr/>
          <p:nvPr/>
        </p:nvCxnSpPr>
        <p:spPr>
          <a:xfrm flipH="1">
            <a:off x="7099674" y="1974292"/>
            <a:ext cx="2503200" cy="182100"/>
          </a:xfrm>
          <a:prstGeom prst="curvedConnector2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17" name="Google Shape;917;p41"/>
          <p:cNvSpPr txBox="1"/>
          <p:nvPr/>
        </p:nvSpPr>
        <p:spPr>
          <a:xfrm>
            <a:off x="9850967" y="4681537"/>
            <a:ext cx="2080683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2400"/>
              <a:buFont typeface="Arial"/>
              <a:buNone/>
            </a:pPr>
            <a:r>
              <a:rPr b="0" i="1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MSE</a:t>
            </a:r>
            <a:r>
              <a:rPr b="0" baseline="-25000" i="1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LOOCV</a:t>
            </a:r>
            <a:r>
              <a:rPr b="0" i="1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=0.962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2"/>
          <p:cNvSpPr txBox="1"/>
          <p:nvPr>
            <p:ph type="title"/>
          </p:nvPr>
        </p:nvSpPr>
        <p:spPr>
          <a:xfrm>
            <a:off x="323849" y="182562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LOOCV for Join The Dots</a:t>
            </a:r>
            <a:endParaRPr/>
          </a:p>
        </p:txBody>
      </p:sp>
      <p:sp>
        <p:nvSpPr>
          <p:cNvPr id="923" name="Google Shape;923;p42"/>
          <p:cNvSpPr txBox="1"/>
          <p:nvPr/>
        </p:nvSpPr>
        <p:spPr>
          <a:xfrm>
            <a:off x="10043583" y="960437"/>
            <a:ext cx="1917700" cy="347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k=1 to R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1. Let 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be the </a:t>
            </a:r>
            <a:r>
              <a:rPr b="0" i="1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3000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record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2. Temporarily remove 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from the dataset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3. Train on the remaining R-1 datapoints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4. Note your error 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1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you’ve done all points, report the mean error.</a:t>
            </a:r>
            <a:endParaRPr/>
          </a:p>
        </p:txBody>
      </p:sp>
      <p:cxnSp>
        <p:nvCxnSpPr>
          <p:cNvPr id="924" name="Google Shape;924;p42"/>
          <p:cNvCxnSpPr/>
          <p:nvPr/>
        </p:nvCxnSpPr>
        <p:spPr>
          <a:xfrm>
            <a:off x="1212849" y="9144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925" name="Google Shape;925;p42"/>
          <p:cNvCxnSpPr/>
          <p:nvPr/>
        </p:nvCxnSpPr>
        <p:spPr>
          <a:xfrm>
            <a:off x="1109133" y="25463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26" name="Google Shape;926;p42"/>
          <p:cNvSpPr/>
          <p:nvPr/>
        </p:nvSpPr>
        <p:spPr>
          <a:xfrm>
            <a:off x="1367367" y="2079625"/>
            <a:ext cx="50800" cy="3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42"/>
          <p:cNvSpPr/>
          <p:nvPr/>
        </p:nvSpPr>
        <p:spPr>
          <a:xfrm>
            <a:off x="1627716" y="23526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42"/>
          <p:cNvSpPr/>
          <p:nvPr/>
        </p:nvSpPr>
        <p:spPr>
          <a:xfrm>
            <a:off x="1782233" y="17303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42"/>
          <p:cNvSpPr/>
          <p:nvPr/>
        </p:nvSpPr>
        <p:spPr>
          <a:xfrm>
            <a:off x="2250016" y="10302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42"/>
          <p:cNvSpPr/>
          <p:nvPr/>
        </p:nvSpPr>
        <p:spPr>
          <a:xfrm>
            <a:off x="2457449" y="14970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42"/>
          <p:cNvSpPr/>
          <p:nvPr/>
        </p:nvSpPr>
        <p:spPr>
          <a:xfrm>
            <a:off x="2925233" y="14192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42"/>
          <p:cNvSpPr/>
          <p:nvPr/>
        </p:nvSpPr>
        <p:spPr>
          <a:xfrm>
            <a:off x="3443816" y="23526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42"/>
          <p:cNvSpPr/>
          <p:nvPr/>
        </p:nvSpPr>
        <p:spPr>
          <a:xfrm>
            <a:off x="3547533" y="20415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42"/>
          <p:cNvSpPr/>
          <p:nvPr/>
        </p:nvSpPr>
        <p:spPr>
          <a:xfrm>
            <a:off x="3390900" y="18462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42"/>
          <p:cNvSpPr txBox="1"/>
          <p:nvPr/>
        </p:nvSpPr>
        <p:spPr>
          <a:xfrm>
            <a:off x="1536700" y="25463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936" name="Google Shape;936;p42"/>
          <p:cNvCxnSpPr/>
          <p:nvPr/>
        </p:nvCxnSpPr>
        <p:spPr>
          <a:xfrm>
            <a:off x="1835149" y="26638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937" name="Google Shape;937;p42"/>
          <p:cNvSpPr txBox="1"/>
          <p:nvPr/>
        </p:nvSpPr>
        <p:spPr>
          <a:xfrm>
            <a:off x="914400" y="19256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938" name="Google Shape;938;p42"/>
          <p:cNvCxnSpPr/>
          <p:nvPr/>
        </p:nvCxnSpPr>
        <p:spPr>
          <a:xfrm rot="10800000">
            <a:off x="1056216" y="16144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39" name="Google Shape;939;p42"/>
          <p:cNvCxnSpPr/>
          <p:nvPr/>
        </p:nvCxnSpPr>
        <p:spPr>
          <a:xfrm>
            <a:off x="1212849" y="27432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940" name="Google Shape;940;p42"/>
          <p:cNvCxnSpPr/>
          <p:nvPr/>
        </p:nvCxnSpPr>
        <p:spPr>
          <a:xfrm>
            <a:off x="1109133" y="43751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41" name="Google Shape;941;p42"/>
          <p:cNvSpPr/>
          <p:nvPr/>
        </p:nvSpPr>
        <p:spPr>
          <a:xfrm>
            <a:off x="1367367" y="39084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42"/>
          <p:cNvSpPr/>
          <p:nvPr/>
        </p:nvSpPr>
        <p:spPr>
          <a:xfrm>
            <a:off x="1627716" y="41814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42"/>
          <p:cNvSpPr/>
          <p:nvPr/>
        </p:nvSpPr>
        <p:spPr>
          <a:xfrm>
            <a:off x="1782233" y="35591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42"/>
          <p:cNvSpPr/>
          <p:nvPr/>
        </p:nvSpPr>
        <p:spPr>
          <a:xfrm>
            <a:off x="2250016" y="2859087"/>
            <a:ext cx="48683" cy="3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42"/>
          <p:cNvSpPr/>
          <p:nvPr/>
        </p:nvSpPr>
        <p:spPr>
          <a:xfrm>
            <a:off x="2457449" y="33258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42"/>
          <p:cNvSpPr/>
          <p:nvPr/>
        </p:nvSpPr>
        <p:spPr>
          <a:xfrm>
            <a:off x="2925233" y="32480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42"/>
          <p:cNvSpPr/>
          <p:nvPr/>
        </p:nvSpPr>
        <p:spPr>
          <a:xfrm>
            <a:off x="3443816" y="41814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42"/>
          <p:cNvSpPr/>
          <p:nvPr/>
        </p:nvSpPr>
        <p:spPr>
          <a:xfrm>
            <a:off x="3547533" y="38703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42"/>
          <p:cNvSpPr/>
          <p:nvPr/>
        </p:nvSpPr>
        <p:spPr>
          <a:xfrm>
            <a:off x="3390900" y="36750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42"/>
          <p:cNvSpPr txBox="1"/>
          <p:nvPr/>
        </p:nvSpPr>
        <p:spPr>
          <a:xfrm>
            <a:off x="1536700" y="43751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951" name="Google Shape;951;p42"/>
          <p:cNvCxnSpPr/>
          <p:nvPr/>
        </p:nvCxnSpPr>
        <p:spPr>
          <a:xfrm>
            <a:off x="1835149" y="44926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952" name="Google Shape;952;p42"/>
          <p:cNvSpPr txBox="1"/>
          <p:nvPr/>
        </p:nvSpPr>
        <p:spPr>
          <a:xfrm>
            <a:off x="914400" y="37544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953" name="Google Shape;953;p42"/>
          <p:cNvCxnSpPr/>
          <p:nvPr/>
        </p:nvCxnSpPr>
        <p:spPr>
          <a:xfrm rot="10800000">
            <a:off x="1056216" y="34432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54" name="Google Shape;954;p42"/>
          <p:cNvCxnSpPr/>
          <p:nvPr/>
        </p:nvCxnSpPr>
        <p:spPr>
          <a:xfrm>
            <a:off x="1212849" y="45720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955" name="Google Shape;955;p42"/>
          <p:cNvCxnSpPr/>
          <p:nvPr/>
        </p:nvCxnSpPr>
        <p:spPr>
          <a:xfrm>
            <a:off x="1109133" y="62039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56" name="Google Shape;956;p42"/>
          <p:cNvSpPr/>
          <p:nvPr/>
        </p:nvSpPr>
        <p:spPr>
          <a:xfrm>
            <a:off x="1367367" y="57372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42"/>
          <p:cNvSpPr/>
          <p:nvPr/>
        </p:nvSpPr>
        <p:spPr>
          <a:xfrm>
            <a:off x="1627716" y="60102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42"/>
          <p:cNvSpPr/>
          <p:nvPr/>
        </p:nvSpPr>
        <p:spPr>
          <a:xfrm>
            <a:off x="1782233" y="53879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42"/>
          <p:cNvSpPr/>
          <p:nvPr/>
        </p:nvSpPr>
        <p:spPr>
          <a:xfrm>
            <a:off x="2250016" y="46878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42"/>
          <p:cNvSpPr/>
          <p:nvPr/>
        </p:nvSpPr>
        <p:spPr>
          <a:xfrm>
            <a:off x="2457449" y="51546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42"/>
          <p:cNvSpPr/>
          <p:nvPr/>
        </p:nvSpPr>
        <p:spPr>
          <a:xfrm>
            <a:off x="2925233" y="50768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42"/>
          <p:cNvSpPr/>
          <p:nvPr/>
        </p:nvSpPr>
        <p:spPr>
          <a:xfrm>
            <a:off x="3443816" y="60102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42"/>
          <p:cNvSpPr/>
          <p:nvPr/>
        </p:nvSpPr>
        <p:spPr>
          <a:xfrm>
            <a:off x="3547533" y="56991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42"/>
          <p:cNvSpPr/>
          <p:nvPr/>
        </p:nvSpPr>
        <p:spPr>
          <a:xfrm>
            <a:off x="3390900" y="5503862"/>
            <a:ext cx="50800" cy="3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42"/>
          <p:cNvSpPr txBox="1"/>
          <p:nvPr/>
        </p:nvSpPr>
        <p:spPr>
          <a:xfrm>
            <a:off x="1536700" y="62039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966" name="Google Shape;966;p42"/>
          <p:cNvCxnSpPr/>
          <p:nvPr/>
        </p:nvCxnSpPr>
        <p:spPr>
          <a:xfrm>
            <a:off x="1835149" y="63214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967" name="Google Shape;967;p42"/>
          <p:cNvSpPr txBox="1"/>
          <p:nvPr/>
        </p:nvSpPr>
        <p:spPr>
          <a:xfrm>
            <a:off x="914400" y="55832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968" name="Google Shape;968;p42"/>
          <p:cNvCxnSpPr/>
          <p:nvPr/>
        </p:nvCxnSpPr>
        <p:spPr>
          <a:xfrm rot="10800000">
            <a:off x="1056216" y="52720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69" name="Google Shape;969;p42"/>
          <p:cNvCxnSpPr/>
          <p:nvPr/>
        </p:nvCxnSpPr>
        <p:spPr>
          <a:xfrm>
            <a:off x="4159249" y="9144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970" name="Google Shape;970;p42"/>
          <p:cNvCxnSpPr/>
          <p:nvPr/>
        </p:nvCxnSpPr>
        <p:spPr>
          <a:xfrm>
            <a:off x="4055533" y="25463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71" name="Google Shape;971;p42"/>
          <p:cNvSpPr/>
          <p:nvPr/>
        </p:nvSpPr>
        <p:spPr>
          <a:xfrm>
            <a:off x="4313767" y="20796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42"/>
          <p:cNvSpPr/>
          <p:nvPr/>
        </p:nvSpPr>
        <p:spPr>
          <a:xfrm>
            <a:off x="4574116" y="2352675"/>
            <a:ext cx="48683" cy="36512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42"/>
          <p:cNvSpPr/>
          <p:nvPr/>
        </p:nvSpPr>
        <p:spPr>
          <a:xfrm>
            <a:off x="4728633" y="17303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42"/>
          <p:cNvSpPr/>
          <p:nvPr/>
        </p:nvSpPr>
        <p:spPr>
          <a:xfrm>
            <a:off x="5196416" y="10302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42"/>
          <p:cNvSpPr/>
          <p:nvPr/>
        </p:nvSpPr>
        <p:spPr>
          <a:xfrm>
            <a:off x="5403849" y="14970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42"/>
          <p:cNvSpPr/>
          <p:nvPr/>
        </p:nvSpPr>
        <p:spPr>
          <a:xfrm>
            <a:off x="5871633" y="14192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42"/>
          <p:cNvSpPr/>
          <p:nvPr/>
        </p:nvSpPr>
        <p:spPr>
          <a:xfrm>
            <a:off x="6390216" y="23526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42"/>
          <p:cNvSpPr/>
          <p:nvPr/>
        </p:nvSpPr>
        <p:spPr>
          <a:xfrm>
            <a:off x="6493933" y="20415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42"/>
          <p:cNvSpPr/>
          <p:nvPr/>
        </p:nvSpPr>
        <p:spPr>
          <a:xfrm>
            <a:off x="6337300" y="18462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42"/>
          <p:cNvSpPr txBox="1"/>
          <p:nvPr/>
        </p:nvSpPr>
        <p:spPr>
          <a:xfrm>
            <a:off x="4483100" y="25463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981" name="Google Shape;981;p42"/>
          <p:cNvCxnSpPr/>
          <p:nvPr/>
        </p:nvCxnSpPr>
        <p:spPr>
          <a:xfrm>
            <a:off x="4781549" y="26638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982" name="Google Shape;982;p42"/>
          <p:cNvSpPr txBox="1"/>
          <p:nvPr/>
        </p:nvSpPr>
        <p:spPr>
          <a:xfrm>
            <a:off x="3860800" y="19256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983" name="Google Shape;983;p42"/>
          <p:cNvCxnSpPr/>
          <p:nvPr/>
        </p:nvCxnSpPr>
        <p:spPr>
          <a:xfrm rot="10800000">
            <a:off x="4002616" y="16144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84" name="Google Shape;984;p42"/>
          <p:cNvCxnSpPr/>
          <p:nvPr/>
        </p:nvCxnSpPr>
        <p:spPr>
          <a:xfrm>
            <a:off x="4159249" y="27432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985" name="Google Shape;985;p42"/>
          <p:cNvCxnSpPr/>
          <p:nvPr/>
        </p:nvCxnSpPr>
        <p:spPr>
          <a:xfrm>
            <a:off x="4055533" y="43751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86" name="Google Shape;986;p42"/>
          <p:cNvSpPr/>
          <p:nvPr/>
        </p:nvSpPr>
        <p:spPr>
          <a:xfrm>
            <a:off x="4313767" y="39084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42"/>
          <p:cNvSpPr/>
          <p:nvPr/>
        </p:nvSpPr>
        <p:spPr>
          <a:xfrm>
            <a:off x="4574116" y="41814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42"/>
          <p:cNvSpPr/>
          <p:nvPr/>
        </p:nvSpPr>
        <p:spPr>
          <a:xfrm>
            <a:off x="4728633" y="35591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42"/>
          <p:cNvSpPr/>
          <p:nvPr/>
        </p:nvSpPr>
        <p:spPr>
          <a:xfrm>
            <a:off x="5196416" y="28590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42"/>
          <p:cNvSpPr/>
          <p:nvPr/>
        </p:nvSpPr>
        <p:spPr>
          <a:xfrm>
            <a:off x="5403849" y="3325812"/>
            <a:ext cx="48683" cy="3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42"/>
          <p:cNvSpPr/>
          <p:nvPr/>
        </p:nvSpPr>
        <p:spPr>
          <a:xfrm>
            <a:off x="5871633" y="32480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42"/>
          <p:cNvSpPr/>
          <p:nvPr/>
        </p:nvSpPr>
        <p:spPr>
          <a:xfrm>
            <a:off x="6390216" y="41814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42"/>
          <p:cNvSpPr/>
          <p:nvPr/>
        </p:nvSpPr>
        <p:spPr>
          <a:xfrm>
            <a:off x="6493933" y="38703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42"/>
          <p:cNvSpPr/>
          <p:nvPr/>
        </p:nvSpPr>
        <p:spPr>
          <a:xfrm>
            <a:off x="6337300" y="36750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42"/>
          <p:cNvSpPr txBox="1"/>
          <p:nvPr/>
        </p:nvSpPr>
        <p:spPr>
          <a:xfrm>
            <a:off x="4483100" y="43751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996" name="Google Shape;996;p42"/>
          <p:cNvCxnSpPr/>
          <p:nvPr/>
        </p:nvCxnSpPr>
        <p:spPr>
          <a:xfrm>
            <a:off x="4781549" y="44926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997" name="Google Shape;997;p42"/>
          <p:cNvSpPr txBox="1"/>
          <p:nvPr/>
        </p:nvSpPr>
        <p:spPr>
          <a:xfrm>
            <a:off x="3860800" y="37544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998" name="Google Shape;998;p42"/>
          <p:cNvCxnSpPr/>
          <p:nvPr/>
        </p:nvCxnSpPr>
        <p:spPr>
          <a:xfrm rot="10800000">
            <a:off x="4002616" y="34432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99" name="Google Shape;999;p42"/>
          <p:cNvCxnSpPr/>
          <p:nvPr/>
        </p:nvCxnSpPr>
        <p:spPr>
          <a:xfrm>
            <a:off x="4159249" y="45720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00" name="Google Shape;1000;p42"/>
          <p:cNvCxnSpPr/>
          <p:nvPr/>
        </p:nvCxnSpPr>
        <p:spPr>
          <a:xfrm>
            <a:off x="4055533" y="62039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01" name="Google Shape;1001;p42"/>
          <p:cNvSpPr/>
          <p:nvPr/>
        </p:nvSpPr>
        <p:spPr>
          <a:xfrm>
            <a:off x="4313767" y="57372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42"/>
          <p:cNvSpPr/>
          <p:nvPr/>
        </p:nvSpPr>
        <p:spPr>
          <a:xfrm>
            <a:off x="4574116" y="60102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42"/>
          <p:cNvSpPr/>
          <p:nvPr/>
        </p:nvSpPr>
        <p:spPr>
          <a:xfrm>
            <a:off x="4728633" y="53879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42"/>
          <p:cNvSpPr/>
          <p:nvPr/>
        </p:nvSpPr>
        <p:spPr>
          <a:xfrm>
            <a:off x="5196416" y="46878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42"/>
          <p:cNvSpPr/>
          <p:nvPr/>
        </p:nvSpPr>
        <p:spPr>
          <a:xfrm>
            <a:off x="5403849" y="51546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42"/>
          <p:cNvSpPr/>
          <p:nvPr/>
        </p:nvSpPr>
        <p:spPr>
          <a:xfrm>
            <a:off x="5871633" y="50768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42"/>
          <p:cNvSpPr/>
          <p:nvPr/>
        </p:nvSpPr>
        <p:spPr>
          <a:xfrm>
            <a:off x="6390216" y="6010275"/>
            <a:ext cx="48683" cy="36512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42"/>
          <p:cNvSpPr/>
          <p:nvPr/>
        </p:nvSpPr>
        <p:spPr>
          <a:xfrm>
            <a:off x="6493933" y="56991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42"/>
          <p:cNvSpPr/>
          <p:nvPr/>
        </p:nvSpPr>
        <p:spPr>
          <a:xfrm>
            <a:off x="6337300" y="55038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42"/>
          <p:cNvSpPr txBox="1"/>
          <p:nvPr/>
        </p:nvSpPr>
        <p:spPr>
          <a:xfrm>
            <a:off x="4483100" y="62039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1011" name="Google Shape;1011;p42"/>
          <p:cNvCxnSpPr/>
          <p:nvPr/>
        </p:nvCxnSpPr>
        <p:spPr>
          <a:xfrm>
            <a:off x="4781549" y="63214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012" name="Google Shape;1012;p42"/>
          <p:cNvSpPr txBox="1"/>
          <p:nvPr/>
        </p:nvSpPr>
        <p:spPr>
          <a:xfrm>
            <a:off x="3860800" y="55832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1013" name="Google Shape;1013;p42"/>
          <p:cNvCxnSpPr/>
          <p:nvPr/>
        </p:nvCxnSpPr>
        <p:spPr>
          <a:xfrm rot="10800000">
            <a:off x="4002616" y="52720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014" name="Google Shape;1014;p42"/>
          <p:cNvCxnSpPr/>
          <p:nvPr/>
        </p:nvCxnSpPr>
        <p:spPr>
          <a:xfrm>
            <a:off x="7105649" y="45720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15" name="Google Shape;1015;p42"/>
          <p:cNvCxnSpPr/>
          <p:nvPr/>
        </p:nvCxnSpPr>
        <p:spPr>
          <a:xfrm>
            <a:off x="7001933" y="62039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16" name="Google Shape;1016;p42"/>
          <p:cNvSpPr/>
          <p:nvPr/>
        </p:nvSpPr>
        <p:spPr>
          <a:xfrm>
            <a:off x="7260167" y="57372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42"/>
          <p:cNvSpPr/>
          <p:nvPr/>
        </p:nvSpPr>
        <p:spPr>
          <a:xfrm>
            <a:off x="7520516" y="60102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42"/>
          <p:cNvSpPr/>
          <p:nvPr/>
        </p:nvSpPr>
        <p:spPr>
          <a:xfrm>
            <a:off x="7675033" y="53879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42"/>
          <p:cNvSpPr/>
          <p:nvPr/>
        </p:nvSpPr>
        <p:spPr>
          <a:xfrm>
            <a:off x="8142816" y="46878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42"/>
          <p:cNvSpPr/>
          <p:nvPr/>
        </p:nvSpPr>
        <p:spPr>
          <a:xfrm>
            <a:off x="8350249" y="51546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42"/>
          <p:cNvSpPr/>
          <p:nvPr/>
        </p:nvSpPr>
        <p:spPr>
          <a:xfrm>
            <a:off x="8818033" y="50768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42"/>
          <p:cNvSpPr/>
          <p:nvPr/>
        </p:nvSpPr>
        <p:spPr>
          <a:xfrm>
            <a:off x="9336616" y="60102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42"/>
          <p:cNvSpPr/>
          <p:nvPr/>
        </p:nvSpPr>
        <p:spPr>
          <a:xfrm>
            <a:off x="9440333" y="5699125"/>
            <a:ext cx="48683" cy="36512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42"/>
          <p:cNvSpPr/>
          <p:nvPr/>
        </p:nvSpPr>
        <p:spPr>
          <a:xfrm>
            <a:off x="9283700" y="55038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42"/>
          <p:cNvSpPr txBox="1"/>
          <p:nvPr/>
        </p:nvSpPr>
        <p:spPr>
          <a:xfrm>
            <a:off x="7429500" y="62039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1026" name="Google Shape;1026;p42"/>
          <p:cNvCxnSpPr/>
          <p:nvPr/>
        </p:nvCxnSpPr>
        <p:spPr>
          <a:xfrm>
            <a:off x="7727949" y="63214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027" name="Google Shape;1027;p42"/>
          <p:cNvSpPr txBox="1"/>
          <p:nvPr/>
        </p:nvSpPr>
        <p:spPr>
          <a:xfrm>
            <a:off x="6807200" y="55832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1028" name="Google Shape;1028;p42"/>
          <p:cNvCxnSpPr/>
          <p:nvPr/>
        </p:nvCxnSpPr>
        <p:spPr>
          <a:xfrm rot="10800000">
            <a:off x="6949016" y="52720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029" name="Google Shape;1029;p42"/>
          <p:cNvCxnSpPr/>
          <p:nvPr/>
        </p:nvCxnSpPr>
        <p:spPr>
          <a:xfrm>
            <a:off x="7105649" y="27432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30" name="Google Shape;1030;p42"/>
          <p:cNvCxnSpPr/>
          <p:nvPr/>
        </p:nvCxnSpPr>
        <p:spPr>
          <a:xfrm>
            <a:off x="7001933" y="43751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31" name="Google Shape;1031;p42"/>
          <p:cNvSpPr/>
          <p:nvPr/>
        </p:nvSpPr>
        <p:spPr>
          <a:xfrm>
            <a:off x="7260167" y="39084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42"/>
          <p:cNvSpPr/>
          <p:nvPr/>
        </p:nvSpPr>
        <p:spPr>
          <a:xfrm>
            <a:off x="7520516" y="41814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42"/>
          <p:cNvSpPr/>
          <p:nvPr/>
        </p:nvSpPr>
        <p:spPr>
          <a:xfrm>
            <a:off x="7675033" y="355917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42"/>
          <p:cNvSpPr/>
          <p:nvPr/>
        </p:nvSpPr>
        <p:spPr>
          <a:xfrm>
            <a:off x="8142816" y="28590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42"/>
          <p:cNvSpPr/>
          <p:nvPr/>
        </p:nvSpPr>
        <p:spPr>
          <a:xfrm>
            <a:off x="8350249" y="33258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42"/>
          <p:cNvSpPr/>
          <p:nvPr/>
        </p:nvSpPr>
        <p:spPr>
          <a:xfrm>
            <a:off x="8818033" y="3248025"/>
            <a:ext cx="48683" cy="3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42"/>
          <p:cNvSpPr/>
          <p:nvPr/>
        </p:nvSpPr>
        <p:spPr>
          <a:xfrm>
            <a:off x="9336616" y="41814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42"/>
          <p:cNvSpPr/>
          <p:nvPr/>
        </p:nvSpPr>
        <p:spPr>
          <a:xfrm>
            <a:off x="9440333" y="38703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42"/>
          <p:cNvSpPr/>
          <p:nvPr/>
        </p:nvSpPr>
        <p:spPr>
          <a:xfrm>
            <a:off x="9283700" y="36750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42"/>
          <p:cNvSpPr txBox="1"/>
          <p:nvPr/>
        </p:nvSpPr>
        <p:spPr>
          <a:xfrm>
            <a:off x="7429500" y="43751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1041" name="Google Shape;1041;p42"/>
          <p:cNvCxnSpPr/>
          <p:nvPr/>
        </p:nvCxnSpPr>
        <p:spPr>
          <a:xfrm>
            <a:off x="7727949" y="44926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042" name="Google Shape;1042;p42"/>
          <p:cNvSpPr txBox="1"/>
          <p:nvPr/>
        </p:nvSpPr>
        <p:spPr>
          <a:xfrm>
            <a:off x="6807200" y="37544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1043" name="Google Shape;1043;p42"/>
          <p:cNvCxnSpPr/>
          <p:nvPr/>
        </p:nvCxnSpPr>
        <p:spPr>
          <a:xfrm rot="10800000">
            <a:off x="6949016" y="34432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044" name="Google Shape;1044;p42"/>
          <p:cNvCxnSpPr/>
          <p:nvPr/>
        </p:nvCxnSpPr>
        <p:spPr>
          <a:xfrm>
            <a:off x="7105649" y="914400"/>
            <a:ext cx="0" cy="170973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45" name="Google Shape;1045;p42"/>
          <p:cNvCxnSpPr/>
          <p:nvPr/>
        </p:nvCxnSpPr>
        <p:spPr>
          <a:xfrm>
            <a:off x="7001933" y="2546350"/>
            <a:ext cx="2696633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46" name="Google Shape;1046;p42"/>
          <p:cNvSpPr/>
          <p:nvPr/>
        </p:nvSpPr>
        <p:spPr>
          <a:xfrm>
            <a:off x="7260167" y="2079625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42"/>
          <p:cNvSpPr/>
          <p:nvPr/>
        </p:nvSpPr>
        <p:spPr>
          <a:xfrm>
            <a:off x="7520516" y="23526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42"/>
          <p:cNvSpPr/>
          <p:nvPr/>
        </p:nvSpPr>
        <p:spPr>
          <a:xfrm>
            <a:off x="7675033" y="1730375"/>
            <a:ext cx="50800" cy="38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42"/>
          <p:cNvSpPr/>
          <p:nvPr/>
        </p:nvSpPr>
        <p:spPr>
          <a:xfrm>
            <a:off x="8142816" y="1030287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42"/>
          <p:cNvSpPr/>
          <p:nvPr/>
        </p:nvSpPr>
        <p:spPr>
          <a:xfrm>
            <a:off x="8350249" y="1497012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42"/>
          <p:cNvSpPr/>
          <p:nvPr/>
        </p:nvSpPr>
        <p:spPr>
          <a:xfrm>
            <a:off x="8818033" y="1419225"/>
            <a:ext cx="48683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42"/>
          <p:cNvSpPr/>
          <p:nvPr/>
        </p:nvSpPr>
        <p:spPr>
          <a:xfrm>
            <a:off x="9336616" y="235267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42"/>
          <p:cNvSpPr/>
          <p:nvPr/>
        </p:nvSpPr>
        <p:spPr>
          <a:xfrm>
            <a:off x="9440333" y="2041525"/>
            <a:ext cx="48683" cy="3651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42"/>
          <p:cNvSpPr/>
          <p:nvPr/>
        </p:nvSpPr>
        <p:spPr>
          <a:xfrm>
            <a:off x="9283700" y="1846262"/>
            <a:ext cx="50800" cy="3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42"/>
          <p:cNvSpPr txBox="1"/>
          <p:nvPr/>
        </p:nvSpPr>
        <p:spPr>
          <a:xfrm>
            <a:off x="7429500" y="2546350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1056" name="Google Shape;1056;p42"/>
          <p:cNvCxnSpPr/>
          <p:nvPr/>
        </p:nvCxnSpPr>
        <p:spPr>
          <a:xfrm>
            <a:off x="7727949" y="2663825"/>
            <a:ext cx="3619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057" name="Google Shape;1057;p42"/>
          <p:cNvSpPr txBox="1"/>
          <p:nvPr/>
        </p:nvSpPr>
        <p:spPr>
          <a:xfrm>
            <a:off x="6807200" y="1925637"/>
            <a:ext cx="285749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1058" name="Google Shape;1058;p42"/>
          <p:cNvCxnSpPr/>
          <p:nvPr/>
        </p:nvCxnSpPr>
        <p:spPr>
          <a:xfrm rot="10800000">
            <a:off x="6949016" y="1614487"/>
            <a:ext cx="0" cy="309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059" name="Google Shape;1059;p42"/>
          <p:cNvSpPr txBox="1"/>
          <p:nvPr/>
        </p:nvSpPr>
        <p:spPr>
          <a:xfrm>
            <a:off x="9850967" y="4681537"/>
            <a:ext cx="2080683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2400"/>
              <a:buFont typeface="Arial"/>
              <a:buNone/>
            </a:pPr>
            <a:r>
              <a:rPr b="0" i="1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MSE</a:t>
            </a:r>
            <a:r>
              <a:rPr b="0" baseline="-25000" i="1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LOOCV</a:t>
            </a:r>
            <a:r>
              <a:rPr b="0" i="1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=3.33</a:t>
            </a:r>
            <a:endParaRPr/>
          </a:p>
        </p:txBody>
      </p:sp>
      <p:sp>
        <p:nvSpPr>
          <p:cNvPr id="1060" name="Google Shape;1060;p42"/>
          <p:cNvSpPr/>
          <p:nvPr/>
        </p:nvSpPr>
        <p:spPr>
          <a:xfrm>
            <a:off x="1536700" y="1047750"/>
            <a:ext cx="2127249" cy="1838325"/>
          </a:xfrm>
          <a:custGeom>
            <a:rect b="b" l="l" r="r" t="t"/>
            <a:pathLst>
              <a:path extrusionOk="0" h="1158" w="1005">
                <a:moveTo>
                  <a:pt x="0" y="1158"/>
                </a:moveTo>
                <a:lnTo>
                  <a:pt x="57" y="837"/>
                </a:lnTo>
                <a:lnTo>
                  <a:pt x="129" y="438"/>
                </a:lnTo>
                <a:lnTo>
                  <a:pt x="348" y="0"/>
                </a:lnTo>
                <a:lnTo>
                  <a:pt x="447" y="294"/>
                </a:lnTo>
                <a:lnTo>
                  <a:pt x="669" y="246"/>
                </a:lnTo>
                <a:lnTo>
                  <a:pt x="891" y="516"/>
                </a:lnTo>
                <a:lnTo>
                  <a:pt x="912" y="837"/>
                </a:lnTo>
                <a:lnTo>
                  <a:pt x="1005" y="456"/>
                </a:lnTo>
              </a:path>
            </a:pathLst>
          </a:custGeom>
          <a:noFill/>
          <a:ln cap="flat" cmpd="sng" w="38100">
            <a:solidFill>
              <a:srgbClr val="33CC33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42"/>
          <p:cNvSpPr/>
          <p:nvPr/>
        </p:nvSpPr>
        <p:spPr>
          <a:xfrm>
            <a:off x="4343400" y="1052512"/>
            <a:ext cx="2273300" cy="1328737"/>
          </a:xfrm>
          <a:custGeom>
            <a:rect b="b" l="l" r="r" t="t"/>
            <a:pathLst>
              <a:path extrusionOk="0" h="837" w="1074">
                <a:moveTo>
                  <a:pt x="0" y="663"/>
                </a:moveTo>
                <a:lnTo>
                  <a:pt x="174" y="441"/>
                </a:lnTo>
                <a:lnTo>
                  <a:pt x="198" y="438"/>
                </a:lnTo>
                <a:lnTo>
                  <a:pt x="417" y="0"/>
                </a:lnTo>
                <a:lnTo>
                  <a:pt x="516" y="294"/>
                </a:lnTo>
                <a:lnTo>
                  <a:pt x="738" y="246"/>
                </a:lnTo>
                <a:lnTo>
                  <a:pt x="960" y="516"/>
                </a:lnTo>
                <a:lnTo>
                  <a:pt x="981" y="837"/>
                </a:lnTo>
                <a:lnTo>
                  <a:pt x="1074" y="456"/>
                </a:lnTo>
              </a:path>
            </a:pathLst>
          </a:custGeom>
          <a:noFill/>
          <a:ln cap="flat" cmpd="sng" w="38100">
            <a:solidFill>
              <a:srgbClr val="33CC33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42"/>
          <p:cNvSpPr/>
          <p:nvPr/>
        </p:nvSpPr>
        <p:spPr>
          <a:xfrm>
            <a:off x="7169149" y="1052512"/>
            <a:ext cx="2387600" cy="1328737"/>
          </a:xfrm>
          <a:custGeom>
            <a:rect b="b" l="l" r="r" t="t"/>
            <a:pathLst>
              <a:path extrusionOk="0" h="837" w="1128">
                <a:moveTo>
                  <a:pt x="0" y="570"/>
                </a:moveTo>
                <a:lnTo>
                  <a:pt x="180" y="837"/>
                </a:lnTo>
                <a:lnTo>
                  <a:pt x="303" y="465"/>
                </a:lnTo>
                <a:lnTo>
                  <a:pt x="471" y="0"/>
                </a:lnTo>
                <a:lnTo>
                  <a:pt x="570" y="294"/>
                </a:lnTo>
                <a:lnTo>
                  <a:pt x="792" y="246"/>
                </a:lnTo>
                <a:lnTo>
                  <a:pt x="1014" y="516"/>
                </a:lnTo>
                <a:lnTo>
                  <a:pt x="1035" y="837"/>
                </a:lnTo>
                <a:lnTo>
                  <a:pt x="1128" y="456"/>
                </a:lnTo>
              </a:path>
            </a:pathLst>
          </a:custGeom>
          <a:noFill/>
          <a:ln cap="flat" cmpd="sng" w="38100">
            <a:solidFill>
              <a:srgbClr val="33CC33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42"/>
          <p:cNvSpPr/>
          <p:nvPr/>
        </p:nvSpPr>
        <p:spPr>
          <a:xfrm>
            <a:off x="1270000" y="3271837"/>
            <a:ext cx="2387600" cy="938212"/>
          </a:xfrm>
          <a:custGeom>
            <a:rect b="b" l="l" r="r" t="t"/>
            <a:pathLst>
              <a:path extrusionOk="0" h="591" w="1128">
                <a:moveTo>
                  <a:pt x="0" y="324"/>
                </a:moveTo>
                <a:lnTo>
                  <a:pt x="180" y="591"/>
                </a:lnTo>
                <a:lnTo>
                  <a:pt x="252" y="192"/>
                </a:lnTo>
                <a:lnTo>
                  <a:pt x="426" y="111"/>
                </a:lnTo>
                <a:lnTo>
                  <a:pt x="570" y="48"/>
                </a:lnTo>
                <a:lnTo>
                  <a:pt x="792" y="0"/>
                </a:lnTo>
                <a:lnTo>
                  <a:pt x="1014" y="270"/>
                </a:lnTo>
                <a:lnTo>
                  <a:pt x="1035" y="591"/>
                </a:lnTo>
                <a:lnTo>
                  <a:pt x="1128" y="210"/>
                </a:lnTo>
              </a:path>
            </a:pathLst>
          </a:custGeom>
          <a:noFill/>
          <a:ln cap="flat" cmpd="sng" w="38100">
            <a:solidFill>
              <a:srgbClr val="33CC33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42"/>
          <p:cNvSpPr/>
          <p:nvPr/>
        </p:nvSpPr>
        <p:spPr>
          <a:xfrm>
            <a:off x="4222749" y="4710112"/>
            <a:ext cx="2495549" cy="1328737"/>
          </a:xfrm>
          <a:custGeom>
            <a:rect b="b" l="l" r="r" t="t"/>
            <a:pathLst>
              <a:path extrusionOk="0" h="837" w="1179">
                <a:moveTo>
                  <a:pt x="0" y="570"/>
                </a:moveTo>
                <a:lnTo>
                  <a:pt x="180" y="837"/>
                </a:lnTo>
                <a:lnTo>
                  <a:pt x="252" y="438"/>
                </a:lnTo>
                <a:lnTo>
                  <a:pt x="471" y="0"/>
                </a:lnTo>
                <a:lnTo>
                  <a:pt x="570" y="294"/>
                </a:lnTo>
                <a:lnTo>
                  <a:pt x="792" y="246"/>
                </a:lnTo>
                <a:lnTo>
                  <a:pt x="1014" y="516"/>
                </a:lnTo>
                <a:lnTo>
                  <a:pt x="1047" y="573"/>
                </a:lnTo>
                <a:lnTo>
                  <a:pt x="1179" y="789"/>
                </a:lnTo>
              </a:path>
            </a:pathLst>
          </a:custGeom>
          <a:noFill/>
          <a:ln cap="flat" cmpd="sng" w="38100">
            <a:solidFill>
              <a:srgbClr val="33CC33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42"/>
          <p:cNvSpPr/>
          <p:nvPr/>
        </p:nvSpPr>
        <p:spPr>
          <a:xfrm>
            <a:off x="1270000" y="4714875"/>
            <a:ext cx="2387600" cy="1328737"/>
          </a:xfrm>
          <a:custGeom>
            <a:rect b="b" l="l" r="r" t="t"/>
            <a:pathLst>
              <a:path extrusionOk="0" h="837" w="1128">
                <a:moveTo>
                  <a:pt x="0" y="570"/>
                </a:moveTo>
                <a:lnTo>
                  <a:pt x="180" y="837"/>
                </a:lnTo>
                <a:lnTo>
                  <a:pt x="252" y="438"/>
                </a:lnTo>
                <a:lnTo>
                  <a:pt x="471" y="0"/>
                </a:lnTo>
                <a:lnTo>
                  <a:pt x="570" y="294"/>
                </a:lnTo>
                <a:lnTo>
                  <a:pt x="792" y="246"/>
                </a:lnTo>
                <a:lnTo>
                  <a:pt x="918" y="534"/>
                </a:lnTo>
                <a:lnTo>
                  <a:pt x="1035" y="837"/>
                </a:lnTo>
                <a:lnTo>
                  <a:pt x="1128" y="456"/>
                </a:lnTo>
              </a:path>
            </a:pathLst>
          </a:custGeom>
          <a:noFill/>
          <a:ln cap="flat" cmpd="sng" w="38100">
            <a:solidFill>
              <a:srgbClr val="33CC33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42"/>
          <p:cNvSpPr/>
          <p:nvPr/>
        </p:nvSpPr>
        <p:spPr>
          <a:xfrm>
            <a:off x="7175500" y="4719637"/>
            <a:ext cx="2222500" cy="1519237"/>
          </a:xfrm>
          <a:custGeom>
            <a:rect b="b" l="l" r="r" t="t"/>
            <a:pathLst>
              <a:path extrusionOk="0" h="957" w="1050">
                <a:moveTo>
                  <a:pt x="0" y="570"/>
                </a:moveTo>
                <a:lnTo>
                  <a:pt x="180" y="837"/>
                </a:lnTo>
                <a:lnTo>
                  <a:pt x="252" y="438"/>
                </a:lnTo>
                <a:lnTo>
                  <a:pt x="471" y="0"/>
                </a:lnTo>
                <a:lnTo>
                  <a:pt x="570" y="294"/>
                </a:lnTo>
                <a:lnTo>
                  <a:pt x="792" y="246"/>
                </a:lnTo>
                <a:lnTo>
                  <a:pt x="1014" y="516"/>
                </a:lnTo>
                <a:lnTo>
                  <a:pt x="1035" y="837"/>
                </a:lnTo>
                <a:lnTo>
                  <a:pt x="1050" y="957"/>
                </a:lnTo>
              </a:path>
            </a:pathLst>
          </a:custGeom>
          <a:noFill/>
          <a:ln cap="flat" cmpd="sng" w="38100">
            <a:solidFill>
              <a:srgbClr val="33CC33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42"/>
          <p:cNvSpPr/>
          <p:nvPr/>
        </p:nvSpPr>
        <p:spPr>
          <a:xfrm>
            <a:off x="7162800" y="2886075"/>
            <a:ext cx="2387600" cy="1328737"/>
          </a:xfrm>
          <a:custGeom>
            <a:rect b="b" l="l" r="r" t="t"/>
            <a:pathLst>
              <a:path extrusionOk="0" h="837" w="1128">
                <a:moveTo>
                  <a:pt x="0" y="570"/>
                </a:moveTo>
                <a:lnTo>
                  <a:pt x="180" y="837"/>
                </a:lnTo>
                <a:lnTo>
                  <a:pt x="252" y="438"/>
                </a:lnTo>
                <a:lnTo>
                  <a:pt x="471" y="0"/>
                </a:lnTo>
                <a:lnTo>
                  <a:pt x="570" y="294"/>
                </a:lnTo>
                <a:lnTo>
                  <a:pt x="756" y="378"/>
                </a:lnTo>
                <a:lnTo>
                  <a:pt x="1014" y="516"/>
                </a:lnTo>
                <a:lnTo>
                  <a:pt x="1035" y="837"/>
                </a:lnTo>
                <a:lnTo>
                  <a:pt x="1128" y="456"/>
                </a:lnTo>
              </a:path>
            </a:pathLst>
          </a:custGeom>
          <a:noFill/>
          <a:ln cap="flat" cmpd="sng" w="38100">
            <a:solidFill>
              <a:srgbClr val="33CC33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42"/>
          <p:cNvSpPr/>
          <p:nvPr/>
        </p:nvSpPr>
        <p:spPr>
          <a:xfrm>
            <a:off x="4229100" y="2886075"/>
            <a:ext cx="2387600" cy="1328737"/>
          </a:xfrm>
          <a:custGeom>
            <a:rect b="b" l="l" r="r" t="t"/>
            <a:pathLst>
              <a:path extrusionOk="0" h="837" w="1128">
                <a:moveTo>
                  <a:pt x="0" y="570"/>
                </a:moveTo>
                <a:lnTo>
                  <a:pt x="180" y="837"/>
                </a:lnTo>
                <a:lnTo>
                  <a:pt x="252" y="438"/>
                </a:lnTo>
                <a:lnTo>
                  <a:pt x="471" y="0"/>
                </a:lnTo>
                <a:lnTo>
                  <a:pt x="624" y="120"/>
                </a:lnTo>
                <a:lnTo>
                  <a:pt x="792" y="246"/>
                </a:lnTo>
                <a:lnTo>
                  <a:pt x="1014" y="516"/>
                </a:lnTo>
                <a:lnTo>
                  <a:pt x="1035" y="837"/>
                </a:lnTo>
                <a:lnTo>
                  <a:pt x="1128" y="456"/>
                </a:lnTo>
              </a:path>
            </a:pathLst>
          </a:custGeom>
          <a:noFill/>
          <a:ln cap="flat" cmpd="sng" w="38100">
            <a:solidFill>
              <a:srgbClr val="33CC33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43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Which kind of Cross Validation?</a:t>
            </a:r>
            <a:endParaRPr/>
          </a:p>
        </p:txBody>
      </p:sp>
      <p:graphicFrame>
        <p:nvGraphicFramePr>
          <p:cNvPr id="1074" name="Google Shape;1074;p43"/>
          <p:cNvGraphicFramePr/>
          <p:nvPr/>
        </p:nvGraphicFramePr>
        <p:xfrm>
          <a:off x="910167" y="13763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2518825"/>
                <a:gridCol w="4764600"/>
                <a:gridCol w="3153825"/>
              </a:tblGrid>
              <a:tr h="58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Downside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CC33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none">
                          <a:solidFill>
                            <a:srgbClr val="33CC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Upside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Test-set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Variance: unreliable estimate of future performance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CC33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rgbClr val="33CC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Cheap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145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Leave-one-out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Expensive.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Has some weird behavior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CC33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rgbClr val="33CC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Doesn’t waste data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CC"/>
                    </a:solidFill>
                  </a:tcPr>
                </a:tc>
              </a:tr>
            </a:tbl>
          </a:graphicData>
        </a:graphic>
      </p:graphicFrame>
      <p:sp>
        <p:nvSpPr>
          <p:cNvPr id="1075" name="Google Shape;1075;p43"/>
          <p:cNvSpPr txBox="1"/>
          <p:nvPr/>
        </p:nvSpPr>
        <p:spPr>
          <a:xfrm>
            <a:off x="2309283" y="5583237"/>
            <a:ext cx="910166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..can we get the best of both worlds?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44"/>
          <p:cNvSpPr txBox="1"/>
          <p:nvPr>
            <p:ph type="title"/>
          </p:nvPr>
        </p:nvSpPr>
        <p:spPr>
          <a:xfrm>
            <a:off x="323849" y="182562"/>
            <a:ext cx="5300133" cy="12144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k-fold Cross Validation</a:t>
            </a:r>
            <a:endParaRPr/>
          </a:p>
        </p:txBody>
      </p:sp>
      <p:cxnSp>
        <p:nvCxnSpPr>
          <p:cNvPr id="1081" name="Google Shape;1081;p44"/>
          <p:cNvCxnSpPr/>
          <p:nvPr/>
        </p:nvCxnSpPr>
        <p:spPr>
          <a:xfrm>
            <a:off x="812800" y="129540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82" name="Google Shape;1082;p44"/>
          <p:cNvCxnSpPr/>
          <p:nvPr/>
        </p:nvCxnSpPr>
        <p:spPr>
          <a:xfrm>
            <a:off x="609600" y="4495800"/>
            <a:ext cx="528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83" name="Google Shape;1083;p44"/>
          <p:cNvSpPr/>
          <p:nvPr/>
        </p:nvSpPr>
        <p:spPr>
          <a:xfrm>
            <a:off x="1117600" y="35814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44"/>
          <p:cNvSpPr/>
          <p:nvPr/>
        </p:nvSpPr>
        <p:spPr>
          <a:xfrm>
            <a:off x="1625600" y="41148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44"/>
          <p:cNvSpPr/>
          <p:nvPr/>
        </p:nvSpPr>
        <p:spPr>
          <a:xfrm>
            <a:off x="1930400" y="28956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44"/>
          <p:cNvSpPr/>
          <p:nvPr/>
        </p:nvSpPr>
        <p:spPr>
          <a:xfrm>
            <a:off x="2844800" y="15240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44"/>
          <p:cNvSpPr/>
          <p:nvPr/>
        </p:nvSpPr>
        <p:spPr>
          <a:xfrm>
            <a:off x="3251200" y="24384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44"/>
          <p:cNvSpPr/>
          <p:nvPr/>
        </p:nvSpPr>
        <p:spPr>
          <a:xfrm>
            <a:off x="4165600" y="22860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44"/>
          <p:cNvSpPr/>
          <p:nvPr/>
        </p:nvSpPr>
        <p:spPr>
          <a:xfrm>
            <a:off x="5181600" y="41148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44"/>
          <p:cNvSpPr/>
          <p:nvPr/>
        </p:nvSpPr>
        <p:spPr>
          <a:xfrm>
            <a:off x="5384800" y="35052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44"/>
          <p:cNvSpPr/>
          <p:nvPr/>
        </p:nvSpPr>
        <p:spPr>
          <a:xfrm>
            <a:off x="5080000" y="31242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44"/>
          <p:cNvSpPr txBox="1"/>
          <p:nvPr/>
        </p:nvSpPr>
        <p:spPr>
          <a:xfrm>
            <a:off x="1524000" y="44958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1093" name="Google Shape;1093;p44"/>
          <p:cNvCxnSpPr/>
          <p:nvPr/>
        </p:nvCxnSpPr>
        <p:spPr>
          <a:xfrm>
            <a:off x="2032000" y="4724400"/>
            <a:ext cx="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094" name="Google Shape;1094;p44"/>
          <p:cNvSpPr txBox="1"/>
          <p:nvPr/>
        </p:nvSpPr>
        <p:spPr>
          <a:xfrm>
            <a:off x="304800" y="32766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1095" name="Google Shape;1095;p44"/>
          <p:cNvCxnSpPr/>
          <p:nvPr/>
        </p:nvCxnSpPr>
        <p:spPr>
          <a:xfrm rot="10800000">
            <a:off x="508000" y="2667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096" name="Google Shape;1096;p44"/>
          <p:cNvSpPr txBox="1"/>
          <p:nvPr/>
        </p:nvSpPr>
        <p:spPr>
          <a:xfrm>
            <a:off x="5700183" y="252412"/>
            <a:ext cx="6292849" cy="131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Randomly break the dataset into k partitions (in our example we’ll have k=3 partitions colored Red Green and Blue)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45"/>
          <p:cNvSpPr txBox="1"/>
          <p:nvPr>
            <p:ph type="title"/>
          </p:nvPr>
        </p:nvSpPr>
        <p:spPr>
          <a:xfrm>
            <a:off x="323849" y="182562"/>
            <a:ext cx="5300133" cy="12144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k-fold Cross Validation</a:t>
            </a:r>
            <a:endParaRPr/>
          </a:p>
        </p:txBody>
      </p:sp>
      <p:cxnSp>
        <p:nvCxnSpPr>
          <p:cNvPr id="1102" name="Google Shape;1102;p45"/>
          <p:cNvCxnSpPr/>
          <p:nvPr/>
        </p:nvCxnSpPr>
        <p:spPr>
          <a:xfrm>
            <a:off x="812800" y="129540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03" name="Google Shape;1103;p45"/>
          <p:cNvCxnSpPr/>
          <p:nvPr/>
        </p:nvCxnSpPr>
        <p:spPr>
          <a:xfrm>
            <a:off x="609600" y="4495800"/>
            <a:ext cx="528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04" name="Google Shape;1104;p45"/>
          <p:cNvSpPr/>
          <p:nvPr/>
        </p:nvSpPr>
        <p:spPr>
          <a:xfrm>
            <a:off x="1117600" y="35814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45"/>
          <p:cNvSpPr/>
          <p:nvPr/>
        </p:nvSpPr>
        <p:spPr>
          <a:xfrm>
            <a:off x="1625600" y="41148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45"/>
          <p:cNvSpPr/>
          <p:nvPr/>
        </p:nvSpPr>
        <p:spPr>
          <a:xfrm>
            <a:off x="1930400" y="28956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45"/>
          <p:cNvSpPr/>
          <p:nvPr/>
        </p:nvSpPr>
        <p:spPr>
          <a:xfrm>
            <a:off x="2844800" y="15240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45"/>
          <p:cNvSpPr/>
          <p:nvPr/>
        </p:nvSpPr>
        <p:spPr>
          <a:xfrm>
            <a:off x="3251200" y="24384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45"/>
          <p:cNvSpPr/>
          <p:nvPr/>
        </p:nvSpPr>
        <p:spPr>
          <a:xfrm>
            <a:off x="4165600" y="22860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45"/>
          <p:cNvSpPr/>
          <p:nvPr/>
        </p:nvSpPr>
        <p:spPr>
          <a:xfrm>
            <a:off x="5181600" y="41148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45"/>
          <p:cNvSpPr/>
          <p:nvPr/>
        </p:nvSpPr>
        <p:spPr>
          <a:xfrm>
            <a:off x="5384800" y="35052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45"/>
          <p:cNvSpPr/>
          <p:nvPr/>
        </p:nvSpPr>
        <p:spPr>
          <a:xfrm>
            <a:off x="5080000" y="31242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45"/>
          <p:cNvSpPr txBox="1"/>
          <p:nvPr/>
        </p:nvSpPr>
        <p:spPr>
          <a:xfrm>
            <a:off x="1524000" y="44958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1114" name="Google Shape;1114;p45"/>
          <p:cNvCxnSpPr/>
          <p:nvPr/>
        </p:nvCxnSpPr>
        <p:spPr>
          <a:xfrm>
            <a:off x="2032000" y="4724400"/>
            <a:ext cx="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115" name="Google Shape;1115;p45"/>
          <p:cNvSpPr txBox="1"/>
          <p:nvPr/>
        </p:nvSpPr>
        <p:spPr>
          <a:xfrm>
            <a:off x="304800" y="32766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1116" name="Google Shape;1116;p45"/>
          <p:cNvCxnSpPr/>
          <p:nvPr/>
        </p:nvCxnSpPr>
        <p:spPr>
          <a:xfrm rot="10800000">
            <a:off x="508000" y="2667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117" name="Google Shape;1117;p45"/>
          <p:cNvSpPr txBox="1"/>
          <p:nvPr/>
        </p:nvSpPr>
        <p:spPr>
          <a:xfrm>
            <a:off x="5700183" y="252412"/>
            <a:ext cx="6292849" cy="2682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Randomly break the dataset into k partitions (in our example we’ll have k=3 partitions colored Red Green and Blue)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For the red partition: Train on all the points not in the red partition. Find the test-set sum of errors on the red points.</a:t>
            </a:r>
            <a:endParaRPr/>
          </a:p>
        </p:txBody>
      </p:sp>
      <p:cxnSp>
        <p:nvCxnSpPr>
          <p:cNvPr id="1118" name="Google Shape;1118;p45"/>
          <p:cNvCxnSpPr/>
          <p:nvPr/>
        </p:nvCxnSpPr>
        <p:spPr>
          <a:xfrm>
            <a:off x="698500" y="3328987"/>
            <a:ext cx="4876800" cy="315912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19" name="Google Shape;1119;p45"/>
          <p:cNvCxnSpPr/>
          <p:nvPr/>
        </p:nvCxnSpPr>
        <p:spPr>
          <a:xfrm rot="10800000">
            <a:off x="1153583" y="3352800"/>
            <a:ext cx="0" cy="255587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20" name="Google Shape;1120;p45"/>
          <p:cNvCxnSpPr/>
          <p:nvPr/>
        </p:nvCxnSpPr>
        <p:spPr>
          <a:xfrm>
            <a:off x="2876549" y="1547812"/>
            <a:ext cx="0" cy="1914525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21" name="Google Shape;1121;p45"/>
          <p:cNvCxnSpPr/>
          <p:nvPr/>
        </p:nvCxnSpPr>
        <p:spPr>
          <a:xfrm>
            <a:off x="4210049" y="2316162"/>
            <a:ext cx="0" cy="12446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6" name="Google Shape;1126;p46"/>
          <p:cNvCxnSpPr/>
          <p:nvPr/>
        </p:nvCxnSpPr>
        <p:spPr>
          <a:xfrm>
            <a:off x="789516" y="3005137"/>
            <a:ext cx="4794249" cy="549275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27" name="Google Shape;1127;p46"/>
          <p:cNvSpPr txBox="1"/>
          <p:nvPr>
            <p:ph type="title"/>
          </p:nvPr>
        </p:nvSpPr>
        <p:spPr>
          <a:xfrm>
            <a:off x="323849" y="182562"/>
            <a:ext cx="5300133" cy="12144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k-fold Cross Validation</a:t>
            </a:r>
            <a:endParaRPr/>
          </a:p>
        </p:txBody>
      </p:sp>
      <p:cxnSp>
        <p:nvCxnSpPr>
          <p:cNvPr id="1128" name="Google Shape;1128;p46"/>
          <p:cNvCxnSpPr/>
          <p:nvPr/>
        </p:nvCxnSpPr>
        <p:spPr>
          <a:xfrm>
            <a:off x="812800" y="129540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29" name="Google Shape;1129;p46"/>
          <p:cNvCxnSpPr/>
          <p:nvPr/>
        </p:nvCxnSpPr>
        <p:spPr>
          <a:xfrm>
            <a:off x="609600" y="4495800"/>
            <a:ext cx="528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30" name="Google Shape;1130;p46"/>
          <p:cNvSpPr/>
          <p:nvPr/>
        </p:nvSpPr>
        <p:spPr>
          <a:xfrm>
            <a:off x="1117600" y="35814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46"/>
          <p:cNvSpPr/>
          <p:nvPr/>
        </p:nvSpPr>
        <p:spPr>
          <a:xfrm>
            <a:off x="1625600" y="41148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46"/>
          <p:cNvSpPr/>
          <p:nvPr/>
        </p:nvSpPr>
        <p:spPr>
          <a:xfrm>
            <a:off x="1930400" y="28956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46"/>
          <p:cNvSpPr/>
          <p:nvPr/>
        </p:nvSpPr>
        <p:spPr>
          <a:xfrm>
            <a:off x="2844800" y="15240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46"/>
          <p:cNvSpPr/>
          <p:nvPr/>
        </p:nvSpPr>
        <p:spPr>
          <a:xfrm>
            <a:off x="3251200" y="24384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46"/>
          <p:cNvSpPr/>
          <p:nvPr/>
        </p:nvSpPr>
        <p:spPr>
          <a:xfrm>
            <a:off x="4165600" y="22860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46"/>
          <p:cNvSpPr/>
          <p:nvPr/>
        </p:nvSpPr>
        <p:spPr>
          <a:xfrm>
            <a:off x="5181600" y="41148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46"/>
          <p:cNvSpPr/>
          <p:nvPr/>
        </p:nvSpPr>
        <p:spPr>
          <a:xfrm>
            <a:off x="5384800" y="35052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46"/>
          <p:cNvSpPr/>
          <p:nvPr/>
        </p:nvSpPr>
        <p:spPr>
          <a:xfrm>
            <a:off x="5080000" y="31242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46"/>
          <p:cNvSpPr txBox="1"/>
          <p:nvPr/>
        </p:nvSpPr>
        <p:spPr>
          <a:xfrm>
            <a:off x="1524000" y="44958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1140" name="Google Shape;1140;p46"/>
          <p:cNvCxnSpPr/>
          <p:nvPr/>
        </p:nvCxnSpPr>
        <p:spPr>
          <a:xfrm>
            <a:off x="2032000" y="4724400"/>
            <a:ext cx="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141" name="Google Shape;1141;p46"/>
          <p:cNvSpPr txBox="1"/>
          <p:nvPr/>
        </p:nvSpPr>
        <p:spPr>
          <a:xfrm>
            <a:off x="304800" y="32766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1142" name="Google Shape;1142;p46"/>
          <p:cNvCxnSpPr/>
          <p:nvPr/>
        </p:nvCxnSpPr>
        <p:spPr>
          <a:xfrm rot="10800000">
            <a:off x="508000" y="2667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143" name="Google Shape;1143;p46"/>
          <p:cNvSpPr txBox="1"/>
          <p:nvPr/>
        </p:nvSpPr>
        <p:spPr>
          <a:xfrm>
            <a:off x="5700183" y="252412"/>
            <a:ext cx="6292849" cy="405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Randomly break the dataset into k partitions (in our example we’ll have k=3 partitions colored Red Green and Blue)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For the red partition: Train on all the points not in the red partition. Find the test-set sum of errors on the red points.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CC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For the green partition: Train on all the points not in the green partition. Find the test-set sum of errors on the green points.</a:t>
            </a:r>
            <a:endParaRPr/>
          </a:p>
        </p:txBody>
      </p:sp>
      <p:cxnSp>
        <p:nvCxnSpPr>
          <p:cNvPr id="1144" name="Google Shape;1144;p46"/>
          <p:cNvCxnSpPr/>
          <p:nvPr/>
        </p:nvCxnSpPr>
        <p:spPr>
          <a:xfrm>
            <a:off x="698500" y="3328987"/>
            <a:ext cx="4876800" cy="315912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45" name="Google Shape;1145;p46"/>
          <p:cNvCxnSpPr/>
          <p:nvPr/>
        </p:nvCxnSpPr>
        <p:spPr>
          <a:xfrm rot="10800000">
            <a:off x="1153583" y="3352800"/>
            <a:ext cx="0" cy="255587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46" name="Google Shape;1146;p46"/>
          <p:cNvCxnSpPr/>
          <p:nvPr/>
        </p:nvCxnSpPr>
        <p:spPr>
          <a:xfrm>
            <a:off x="2876549" y="1547812"/>
            <a:ext cx="0" cy="1914525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47" name="Google Shape;1147;p46"/>
          <p:cNvCxnSpPr/>
          <p:nvPr/>
        </p:nvCxnSpPr>
        <p:spPr>
          <a:xfrm>
            <a:off x="4210049" y="2316162"/>
            <a:ext cx="0" cy="12446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48" name="Google Shape;1148;p46"/>
          <p:cNvCxnSpPr/>
          <p:nvPr/>
        </p:nvCxnSpPr>
        <p:spPr>
          <a:xfrm rot="10800000">
            <a:off x="1665816" y="3067050"/>
            <a:ext cx="0" cy="1060450"/>
          </a:xfrm>
          <a:prstGeom prst="straightConnector1">
            <a:avLst/>
          </a:prstGeom>
          <a:noFill/>
          <a:ln cap="flat" cmpd="sng" w="9525">
            <a:solidFill>
              <a:srgbClr val="33CC3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49" name="Google Shape;1149;p46"/>
          <p:cNvCxnSpPr/>
          <p:nvPr/>
        </p:nvCxnSpPr>
        <p:spPr>
          <a:xfrm>
            <a:off x="3291416" y="2466975"/>
            <a:ext cx="0" cy="831850"/>
          </a:xfrm>
          <a:prstGeom prst="straightConnector1">
            <a:avLst/>
          </a:prstGeom>
          <a:noFill/>
          <a:ln cap="flat" cmpd="sng" w="9525">
            <a:solidFill>
              <a:srgbClr val="33CC3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50" name="Google Shape;1150;p46"/>
          <p:cNvCxnSpPr/>
          <p:nvPr/>
        </p:nvCxnSpPr>
        <p:spPr>
          <a:xfrm flipH="1">
            <a:off x="5223933" y="3505200"/>
            <a:ext cx="2116" cy="635000"/>
          </a:xfrm>
          <a:prstGeom prst="straightConnector1">
            <a:avLst/>
          </a:prstGeom>
          <a:noFill/>
          <a:ln cap="flat" cmpd="sng" w="9525">
            <a:solidFill>
              <a:srgbClr val="33CC3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5" name="Google Shape;1155;p47"/>
          <p:cNvCxnSpPr/>
          <p:nvPr/>
        </p:nvCxnSpPr>
        <p:spPr>
          <a:xfrm>
            <a:off x="789516" y="3005137"/>
            <a:ext cx="4794249" cy="549275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56" name="Google Shape;1156;p47"/>
          <p:cNvSpPr txBox="1"/>
          <p:nvPr>
            <p:ph type="title"/>
          </p:nvPr>
        </p:nvSpPr>
        <p:spPr>
          <a:xfrm>
            <a:off x="323849" y="182562"/>
            <a:ext cx="5300133" cy="12144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k-fold Cross Validation</a:t>
            </a:r>
            <a:endParaRPr/>
          </a:p>
        </p:txBody>
      </p:sp>
      <p:cxnSp>
        <p:nvCxnSpPr>
          <p:cNvPr id="1157" name="Google Shape;1157;p47"/>
          <p:cNvCxnSpPr/>
          <p:nvPr/>
        </p:nvCxnSpPr>
        <p:spPr>
          <a:xfrm>
            <a:off x="812800" y="129540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58" name="Google Shape;1158;p47"/>
          <p:cNvCxnSpPr/>
          <p:nvPr/>
        </p:nvCxnSpPr>
        <p:spPr>
          <a:xfrm>
            <a:off x="609600" y="4495800"/>
            <a:ext cx="528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59" name="Google Shape;1159;p47"/>
          <p:cNvSpPr/>
          <p:nvPr/>
        </p:nvSpPr>
        <p:spPr>
          <a:xfrm>
            <a:off x="1117600" y="35814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47"/>
          <p:cNvSpPr/>
          <p:nvPr/>
        </p:nvSpPr>
        <p:spPr>
          <a:xfrm>
            <a:off x="1625600" y="41148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47"/>
          <p:cNvSpPr/>
          <p:nvPr/>
        </p:nvSpPr>
        <p:spPr>
          <a:xfrm>
            <a:off x="1930400" y="28956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47"/>
          <p:cNvSpPr/>
          <p:nvPr/>
        </p:nvSpPr>
        <p:spPr>
          <a:xfrm>
            <a:off x="2844800" y="15240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47"/>
          <p:cNvSpPr/>
          <p:nvPr/>
        </p:nvSpPr>
        <p:spPr>
          <a:xfrm>
            <a:off x="3251200" y="24384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47"/>
          <p:cNvSpPr/>
          <p:nvPr/>
        </p:nvSpPr>
        <p:spPr>
          <a:xfrm>
            <a:off x="4165600" y="22860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47"/>
          <p:cNvSpPr/>
          <p:nvPr/>
        </p:nvSpPr>
        <p:spPr>
          <a:xfrm>
            <a:off x="5181600" y="41148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47"/>
          <p:cNvSpPr/>
          <p:nvPr/>
        </p:nvSpPr>
        <p:spPr>
          <a:xfrm>
            <a:off x="5384800" y="35052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47"/>
          <p:cNvSpPr/>
          <p:nvPr/>
        </p:nvSpPr>
        <p:spPr>
          <a:xfrm>
            <a:off x="5080000" y="31242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47"/>
          <p:cNvSpPr txBox="1"/>
          <p:nvPr/>
        </p:nvSpPr>
        <p:spPr>
          <a:xfrm>
            <a:off x="1524000" y="44958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1169" name="Google Shape;1169;p47"/>
          <p:cNvCxnSpPr/>
          <p:nvPr/>
        </p:nvCxnSpPr>
        <p:spPr>
          <a:xfrm>
            <a:off x="2032000" y="4724400"/>
            <a:ext cx="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170" name="Google Shape;1170;p47"/>
          <p:cNvSpPr txBox="1"/>
          <p:nvPr/>
        </p:nvSpPr>
        <p:spPr>
          <a:xfrm>
            <a:off x="304800" y="32766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1171" name="Google Shape;1171;p47"/>
          <p:cNvCxnSpPr/>
          <p:nvPr/>
        </p:nvCxnSpPr>
        <p:spPr>
          <a:xfrm rot="10800000">
            <a:off x="508000" y="2667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172" name="Google Shape;1172;p47"/>
          <p:cNvSpPr txBox="1"/>
          <p:nvPr/>
        </p:nvSpPr>
        <p:spPr>
          <a:xfrm>
            <a:off x="5700183" y="252412"/>
            <a:ext cx="6292849" cy="542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Randomly break the dataset into k partitions (in our example we’ll have k=3 partitions colored Red Green and Blue)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For the red partition: Train on all the points not in the red partition. Find the test-set sum of errors on the red points.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CC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For the green partition: Train on all the points not in the green partition. Find the test-set sum of errors on the green points.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For the blue partition: Train on all the points not in the blue partition. Find the test-set sum of errors on the blue points.</a:t>
            </a:r>
            <a:endParaRPr/>
          </a:p>
        </p:txBody>
      </p:sp>
      <p:cxnSp>
        <p:nvCxnSpPr>
          <p:cNvPr id="1173" name="Google Shape;1173;p47"/>
          <p:cNvCxnSpPr/>
          <p:nvPr/>
        </p:nvCxnSpPr>
        <p:spPr>
          <a:xfrm>
            <a:off x="698500" y="3328987"/>
            <a:ext cx="4876800" cy="315912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74" name="Google Shape;1174;p47"/>
          <p:cNvCxnSpPr/>
          <p:nvPr/>
        </p:nvCxnSpPr>
        <p:spPr>
          <a:xfrm rot="10800000">
            <a:off x="1153583" y="3352800"/>
            <a:ext cx="0" cy="255587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75" name="Google Shape;1175;p47"/>
          <p:cNvCxnSpPr/>
          <p:nvPr/>
        </p:nvCxnSpPr>
        <p:spPr>
          <a:xfrm>
            <a:off x="2876549" y="1547812"/>
            <a:ext cx="0" cy="1914525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76" name="Google Shape;1176;p47"/>
          <p:cNvCxnSpPr/>
          <p:nvPr/>
        </p:nvCxnSpPr>
        <p:spPr>
          <a:xfrm>
            <a:off x="4210049" y="2316162"/>
            <a:ext cx="0" cy="12446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77" name="Google Shape;1177;p47"/>
          <p:cNvCxnSpPr/>
          <p:nvPr/>
        </p:nvCxnSpPr>
        <p:spPr>
          <a:xfrm rot="10800000">
            <a:off x="1665816" y="3067050"/>
            <a:ext cx="0" cy="1060450"/>
          </a:xfrm>
          <a:prstGeom prst="straightConnector1">
            <a:avLst/>
          </a:prstGeom>
          <a:noFill/>
          <a:ln cap="flat" cmpd="sng" w="9525">
            <a:solidFill>
              <a:srgbClr val="33CC3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78" name="Google Shape;1178;p47"/>
          <p:cNvCxnSpPr/>
          <p:nvPr/>
        </p:nvCxnSpPr>
        <p:spPr>
          <a:xfrm>
            <a:off x="3291416" y="2466975"/>
            <a:ext cx="0" cy="831850"/>
          </a:xfrm>
          <a:prstGeom prst="straightConnector1">
            <a:avLst/>
          </a:prstGeom>
          <a:noFill/>
          <a:ln cap="flat" cmpd="sng" w="9525">
            <a:solidFill>
              <a:srgbClr val="33CC3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79" name="Google Shape;1179;p47"/>
          <p:cNvCxnSpPr/>
          <p:nvPr/>
        </p:nvCxnSpPr>
        <p:spPr>
          <a:xfrm flipH="1">
            <a:off x="5223933" y="3505200"/>
            <a:ext cx="2116" cy="635000"/>
          </a:xfrm>
          <a:prstGeom prst="straightConnector1">
            <a:avLst/>
          </a:prstGeom>
          <a:noFill/>
          <a:ln cap="flat" cmpd="sng" w="9525">
            <a:solidFill>
              <a:srgbClr val="33CC3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80" name="Google Shape;1180;p47"/>
          <p:cNvCxnSpPr/>
          <p:nvPr/>
        </p:nvCxnSpPr>
        <p:spPr>
          <a:xfrm>
            <a:off x="683683" y="2863850"/>
            <a:ext cx="4845049" cy="1147762"/>
          </a:xfrm>
          <a:prstGeom prst="straightConnector1">
            <a:avLst/>
          </a:prstGeom>
          <a:noFill/>
          <a:ln cap="flat" cmpd="sng" w="381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81" name="Google Shape;1181;p47"/>
          <p:cNvCxnSpPr/>
          <p:nvPr/>
        </p:nvCxnSpPr>
        <p:spPr>
          <a:xfrm rot="10800000">
            <a:off x="1949449" y="2903537"/>
            <a:ext cx="2116" cy="217487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82" name="Google Shape;1182;p47"/>
          <p:cNvCxnSpPr/>
          <p:nvPr/>
        </p:nvCxnSpPr>
        <p:spPr>
          <a:xfrm>
            <a:off x="5151967" y="3154362"/>
            <a:ext cx="0" cy="773112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83" name="Google Shape;1183;p47"/>
          <p:cNvCxnSpPr/>
          <p:nvPr/>
        </p:nvCxnSpPr>
        <p:spPr>
          <a:xfrm flipH="1">
            <a:off x="5393267" y="3524250"/>
            <a:ext cx="2116" cy="463550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8" name="Google Shape;1188;p48"/>
          <p:cNvCxnSpPr/>
          <p:nvPr/>
        </p:nvCxnSpPr>
        <p:spPr>
          <a:xfrm>
            <a:off x="789516" y="3005137"/>
            <a:ext cx="4794249" cy="549275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89" name="Google Shape;1189;p48"/>
          <p:cNvSpPr txBox="1"/>
          <p:nvPr>
            <p:ph type="title"/>
          </p:nvPr>
        </p:nvSpPr>
        <p:spPr>
          <a:xfrm>
            <a:off x="323849" y="182562"/>
            <a:ext cx="5300133" cy="12144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k-fold Cross Validation</a:t>
            </a:r>
            <a:endParaRPr/>
          </a:p>
        </p:txBody>
      </p:sp>
      <p:cxnSp>
        <p:nvCxnSpPr>
          <p:cNvPr id="1190" name="Google Shape;1190;p48"/>
          <p:cNvCxnSpPr/>
          <p:nvPr/>
        </p:nvCxnSpPr>
        <p:spPr>
          <a:xfrm>
            <a:off x="812800" y="129540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91" name="Google Shape;1191;p48"/>
          <p:cNvCxnSpPr/>
          <p:nvPr/>
        </p:nvCxnSpPr>
        <p:spPr>
          <a:xfrm>
            <a:off x="609600" y="4495800"/>
            <a:ext cx="528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92" name="Google Shape;1192;p48"/>
          <p:cNvSpPr/>
          <p:nvPr/>
        </p:nvSpPr>
        <p:spPr>
          <a:xfrm>
            <a:off x="1117600" y="35814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48"/>
          <p:cNvSpPr/>
          <p:nvPr/>
        </p:nvSpPr>
        <p:spPr>
          <a:xfrm>
            <a:off x="1625600" y="41148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48"/>
          <p:cNvSpPr/>
          <p:nvPr/>
        </p:nvSpPr>
        <p:spPr>
          <a:xfrm>
            <a:off x="1930400" y="28956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48"/>
          <p:cNvSpPr/>
          <p:nvPr/>
        </p:nvSpPr>
        <p:spPr>
          <a:xfrm>
            <a:off x="2844800" y="15240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48"/>
          <p:cNvSpPr/>
          <p:nvPr/>
        </p:nvSpPr>
        <p:spPr>
          <a:xfrm>
            <a:off x="3251200" y="24384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48"/>
          <p:cNvSpPr/>
          <p:nvPr/>
        </p:nvSpPr>
        <p:spPr>
          <a:xfrm>
            <a:off x="4165600" y="22860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48"/>
          <p:cNvSpPr/>
          <p:nvPr/>
        </p:nvSpPr>
        <p:spPr>
          <a:xfrm>
            <a:off x="5181600" y="41148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48"/>
          <p:cNvSpPr/>
          <p:nvPr/>
        </p:nvSpPr>
        <p:spPr>
          <a:xfrm>
            <a:off x="5384800" y="35052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48"/>
          <p:cNvSpPr/>
          <p:nvPr/>
        </p:nvSpPr>
        <p:spPr>
          <a:xfrm>
            <a:off x="5080000" y="31242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48"/>
          <p:cNvSpPr txBox="1"/>
          <p:nvPr/>
        </p:nvSpPr>
        <p:spPr>
          <a:xfrm>
            <a:off x="1524000" y="44958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1202" name="Google Shape;1202;p48"/>
          <p:cNvCxnSpPr/>
          <p:nvPr/>
        </p:nvCxnSpPr>
        <p:spPr>
          <a:xfrm>
            <a:off x="2032000" y="4724400"/>
            <a:ext cx="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203" name="Google Shape;1203;p48"/>
          <p:cNvSpPr txBox="1"/>
          <p:nvPr/>
        </p:nvSpPr>
        <p:spPr>
          <a:xfrm>
            <a:off x="304800" y="32766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1204" name="Google Shape;1204;p48"/>
          <p:cNvCxnSpPr/>
          <p:nvPr/>
        </p:nvCxnSpPr>
        <p:spPr>
          <a:xfrm rot="10800000">
            <a:off x="508000" y="2667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205" name="Google Shape;1205;p48"/>
          <p:cNvSpPr txBox="1"/>
          <p:nvPr/>
        </p:nvSpPr>
        <p:spPr>
          <a:xfrm>
            <a:off x="5700183" y="252412"/>
            <a:ext cx="6292849" cy="588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Randomly break the dataset into k partitions (in our example we’ll have k=3 partitions colored Red Green and Blue)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For the red partition: Train on all the points not in the red partition. Find the test-set sum of errors on the red points.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CC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For the green partition: Train on all the points not in the green partition. Find the test-set sum of errors on the green points.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For the blue partition: Train on all the points not in the blue partition. Find the test-set sum of errors on the blue points.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report the mean error</a:t>
            </a:r>
            <a:endParaRPr/>
          </a:p>
        </p:txBody>
      </p:sp>
      <p:cxnSp>
        <p:nvCxnSpPr>
          <p:cNvPr id="1206" name="Google Shape;1206;p48"/>
          <p:cNvCxnSpPr/>
          <p:nvPr/>
        </p:nvCxnSpPr>
        <p:spPr>
          <a:xfrm>
            <a:off x="698500" y="3328987"/>
            <a:ext cx="4876800" cy="315912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07" name="Google Shape;1207;p48"/>
          <p:cNvCxnSpPr/>
          <p:nvPr/>
        </p:nvCxnSpPr>
        <p:spPr>
          <a:xfrm rot="10800000">
            <a:off x="1153583" y="3352800"/>
            <a:ext cx="0" cy="255587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08" name="Google Shape;1208;p48"/>
          <p:cNvCxnSpPr/>
          <p:nvPr/>
        </p:nvCxnSpPr>
        <p:spPr>
          <a:xfrm>
            <a:off x="2876549" y="1547812"/>
            <a:ext cx="0" cy="1914525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09" name="Google Shape;1209;p48"/>
          <p:cNvCxnSpPr/>
          <p:nvPr/>
        </p:nvCxnSpPr>
        <p:spPr>
          <a:xfrm>
            <a:off x="4210049" y="2316162"/>
            <a:ext cx="0" cy="12446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10" name="Google Shape;1210;p48"/>
          <p:cNvCxnSpPr/>
          <p:nvPr/>
        </p:nvCxnSpPr>
        <p:spPr>
          <a:xfrm rot="10800000">
            <a:off x="1665816" y="3067050"/>
            <a:ext cx="0" cy="1060450"/>
          </a:xfrm>
          <a:prstGeom prst="straightConnector1">
            <a:avLst/>
          </a:prstGeom>
          <a:noFill/>
          <a:ln cap="flat" cmpd="sng" w="9525">
            <a:solidFill>
              <a:srgbClr val="33CC3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11" name="Google Shape;1211;p48"/>
          <p:cNvCxnSpPr/>
          <p:nvPr/>
        </p:nvCxnSpPr>
        <p:spPr>
          <a:xfrm>
            <a:off x="3291416" y="2466975"/>
            <a:ext cx="0" cy="831850"/>
          </a:xfrm>
          <a:prstGeom prst="straightConnector1">
            <a:avLst/>
          </a:prstGeom>
          <a:noFill/>
          <a:ln cap="flat" cmpd="sng" w="9525">
            <a:solidFill>
              <a:srgbClr val="33CC3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12" name="Google Shape;1212;p48"/>
          <p:cNvCxnSpPr/>
          <p:nvPr/>
        </p:nvCxnSpPr>
        <p:spPr>
          <a:xfrm flipH="1">
            <a:off x="5223933" y="3505200"/>
            <a:ext cx="2116" cy="635000"/>
          </a:xfrm>
          <a:prstGeom prst="straightConnector1">
            <a:avLst/>
          </a:prstGeom>
          <a:noFill/>
          <a:ln cap="flat" cmpd="sng" w="9525">
            <a:solidFill>
              <a:srgbClr val="33CC3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13" name="Google Shape;1213;p48"/>
          <p:cNvCxnSpPr/>
          <p:nvPr/>
        </p:nvCxnSpPr>
        <p:spPr>
          <a:xfrm>
            <a:off x="683683" y="2863850"/>
            <a:ext cx="4845049" cy="1147762"/>
          </a:xfrm>
          <a:prstGeom prst="straightConnector1">
            <a:avLst/>
          </a:prstGeom>
          <a:noFill/>
          <a:ln cap="flat" cmpd="sng" w="381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14" name="Google Shape;1214;p48"/>
          <p:cNvCxnSpPr/>
          <p:nvPr/>
        </p:nvCxnSpPr>
        <p:spPr>
          <a:xfrm rot="10800000">
            <a:off x="1949449" y="2903537"/>
            <a:ext cx="2116" cy="217487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15" name="Google Shape;1215;p48"/>
          <p:cNvCxnSpPr/>
          <p:nvPr/>
        </p:nvCxnSpPr>
        <p:spPr>
          <a:xfrm>
            <a:off x="5151967" y="3154362"/>
            <a:ext cx="0" cy="773112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16" name="Google Shape;1216;p48"/>
          <p:cNvCxnSpPr/>
          <p:nvPr/>
        </p:nvCxnSpPr>
        <p:spPr>
          <a:xfrm flipH="1">
            <a:off x="5393267" y="3524250"/>
            <a:ext cx="2116" cy="463550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217" name="Google Shape;1217;p48"/>
          <p:cNvSpPr txBox="1"/>
          <p:nvPr/>
        </p:nvSpPr>
        <p:spPr>
          <a:xfrm>
            <a:off x="325967" y="4986337"/>
            <a:ext cx="51689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Linear Regression </a:t>
            </a:r>
            <a:r>
              <a:rPr b="0" i="1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MSE</a:t>
            </a:r>
            <a:r>
              <a:rPr b="0" baseline="-25000" i="1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3FOLD</a:t>
            </a:r>
            <a:r>
              <a:rPr b="0" i="1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=2.05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49"/>
          <p:cNvSpPr txBox="1"/>
          <p:nvPr>
            <p:ph type="title"/>
          </p:nvPr>
        </p:nvSpPr>
        <p:spPr>
          <a:xfrm>
            <a:off x="323849" y="182562"/>
            <a:ext cx="5300133" cy="12144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k-fold Cross Validation</a:t>
            </a:r>
            <a:endParaRPr/>
          </a:p>
        </p:txBody>
      </p:sp>
      <p:cxnSp>
        <p:nvCxnSpPr>
          <p:cNvPr id="1223" name="Google Shape;1223;p49"/>
          <p:cNvCxnSpPr/>
          <p:nvPr/>
        </p:nvCxnSpPr>
        <p:spPr>
          <a:xfrm>
            <a:off x="812800" y="129540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24" name="Google Shape;1224;p49"/>
          <p:cNvCxnSpPr/>
          <p:nvPr/>
        </p:nvCxnSpPr>
        <p:spPr>
          <a:xfrm>
            <a:off x="609600" y="4495800"/>
            <a:ext cx="528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25" name="Google Shape;1225;p49"/>
          <p:cNvSpPr/>
          <p:nvPr/>
        </p:nvSpPr>
        <p:spPr>
          <a:xfrm>
            <a:off x="1117600" y="35814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49"/>
          <p:cNvSpPr/>
          <p:nvPr/>
        </p:nvSpPr>
        <p:spPr>
          <a:xfrm>
            <a:off x="1625600" y="41148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49"/>
          <p:cNvSpPr/>
          <p:nvPr/>
        </p:nvSpPr>
        <p:spPr>
          <a:xfrm>
            <a:off x="1930400" y="28956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49"/>
          <p:cNvSpPr/>
          <p:nvPr/>
        </p:nvSpPr>
        <p:spPr>
          <a:xfrm>
            <a:off x="2844800" y="15240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49"/>
          <p:cNvSpPr/>
          <p:nvPr/>
        </p:nvSpPr>
        <p:spPr>
          <a:xfrm>
            <a:off x="3251200" y="24384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49"/>
          <p:cNvSpPr/>
          <p:nvPr/>
        </p:nvSpPr>
        <p:spPr>
          <a:xfrm>
            <a:off x="4165600" y="22860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49"/>
          <p:cNvSpPr/>
          <p:nvPr/>
        </p:nvSpPr>
        <p:spPr>
          <a:xfrm>
            <a:off x="5181600" y="41148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49"/>
          <p:cNvSpPr/>
          <p:nvPr/>
        </p:nvSpPr>
        <p:spPr>
          <a:xfrm>
            <a:off x="5384800" y="35052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49"/>
          <p:cNvSpPr/>
          <p:nvPr/>
        </p:nvSpPr>
        <p:spPr>
          <a:xfrm>
            <a:off x="5080000" y="31242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49"/>
          <p:cNvSpPr txBox="1"/>
          <p:nvPr/>
        </p:nvSpPr>
        <p:spPr>
          <a:xfrm>
            <a:off x="1524000" y="44958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1235" name="Google Shape;1235;p49"/>
          <p:cNvCxnSpPr/>
          <p:nvPr/>
        </p:nvCxnSpPr>
        <p:spPr>
          <a:xfrm>
            <a:off x="2032000" y="4724400"/>
            <a:ext cx="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236" name="Google Shape;1236;p49"/>
          <p:cNvSpPr txBox="1"/>
          <p:nvPr/>
        </p:nvSpPr>
        <p:spPr>
          <a:xfrm>
            <a:off x="304800" y="32766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1237" name="Google Shape;1237;p49"/>
          <p:cNvCxnSpPr/>
          <p:nvPr/>
        </p:nvCxnSpPr>
        <p:spPr>
          <a:xfrm rot="10800000">
            <a:off x="508000" y="2667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238" name="Google Shape;1238;p49"/>
          <p:cNvSpPr txBox="1"/>
          <p:nvPr/>
        </p:nvSpPr>
        <p:spPr>
          <a:xfrm>
            <a:off x="5700183" y="252412"/>
            <a:ext cx="6292849" cy="588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Randomly break the dataset into k partitions (in our example we’ll have k=3 partitions colored Red Green and Blue)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For the red partition: Train on all the points not in the red partition. Find the test-set sum of errors on the red points.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CC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For the green partition: Train on all the points not in the green partition. Find the test-set sum of errors on the green points.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For the blue partition: Train on all the points not in the blue partition. Find the test-set sum of errors on the blue points.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report the mean error</a:t>
            </a:r>
            <a:endParaRPr/>
          </a:p>
        </p:txBody>
      </p:sp>
      <p:cxnSp>
        <p:nvCxnSpPr>
          <p:cNvPr id="1239" name="Google Shape;1239;p49"/>
          <p:cNvCxnSpPr/>
          <p:nvPr/>
        </p:nvCxnSpPr>
        <p:spPr>
          <a:xfrm>
            <a:off x="1153583" y="3608387"/>
            <a:ext cx="0" cy="48895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40" name="Google Shape;1240;p49"/>
          <p:cNvCxnSpPr/>
          <p:nvPr/>
        </p:nvCxnSpPr>
        <p:spPr>
          <a:xfrm>
            <a:off x="2876549" y="1547812"/>
            <a:ext cx="0" cy="1584325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41" name="Google Shape;1241;p49"/>
          <p:cNvCxnSpPr/>
          <p:nvPr/>
        </p:nvCxnSpPr>
        <p:spPr>
          <a:xfrm flipH="1">
            <a:off x="4207933" y="2316162"/>
            <a:ext cx="2116" cy="573087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42" name="Google Shape;1242;p49"/>
          <p:cNvCxnSpPr/>
          <p:nvPr/>
        </p:nvCxnSpPr>
        <p:spPr>
          <a:xfrm rot="10800000">
            <a:off x="1651000" y="3238500"/>
            <a:ext cx="14816" cy="889000"/>
          </a:xfrm>
          <a:prstGeom prst="straightConnector1">
            <a:avLst/>
          </a:prstGeom>
          <a:noFill/>
          <a:ln cap="flat" cmpd="sng" w="9525">
            <a:solidFill>
              <a:srgbClr val="33CC3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43" name="Google Shape;1243;p49"/>
          <p:cNvCxnSpPr/>
          <p:nvPr/>
        </p:nvCxnSpPr>
        <p:spPr>
          <a:xfrm>
            <a:off x="5211233" y="2921000"/>
            <a:ext cx="12700" cy="1219200"/>
          </a:xfrm>
          <a:prstGeom prst="straightConnector1">
            <a:avLst/>
          </a:prstGeom>
          <a:noFill/>
          <a:ln cap="flat" cmpd="sng" w="9525">
            <a:solidFill>
              <a:srgbClr val="33CC3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44" name="Google Shape;1244;p49"/>
          <p:cNvCxnSpPr/>
          <p:nvPr/>
        </p:nvCxnSpPr>
        <p:spPr>
          <a:xfrm rot="10800000">
            <a:off x="1949449" y="2903537"/>
            <a:ext cx="2116" cy="217487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45" name="Google Shape;1245;p49"/>
          <p:cNvCxnSpPr/>
          <p:nvPr/>
        </p:nvCxnSpPr>
        <p:spPr>
          <a:xfrm>
            <a:off x="5118100" y="3141662"/>
            <a:ext cx="2116" cy="577850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46" name="Google Shape;1246;p49"/>
          <p:cNvCxnSpPr/>
          <p:nvPr/>
        </p:nvCxnSpPr>
        <p:spPr>
          <a:xfrm flipH="1">
            <a:off x="5393267" y="3524250"/>
            <a:ext cx="2116" cy="682625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247" name="Google Shape;1247;p49"/>
          <p:cNvSpPr txBox="1"/>
          <p:nvPr/>
        </p:nvSpPr>
        <p:spPr>
          <a:xfrm>
            <a:off x="325967" y="4986337"/>
            <a:ext cx="51689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Quadratic Regression </a:t>
            </a:r>
            <a:r>
              <a:rPr b="0" i="1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MSE</a:t>
            </a:r>
            <a:r>
              <a:rPr b="0" baseline="-25000" i="1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3FOLD</a:t>
            </a:r>
            <a:r>
              <a:rPr b="0" i="1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=1.11</a:t>
            </a:r>
            <a:endParaRPr/>
          </a:p>
        </p:txBody>
      </p:sp>
      <p:cxnSp>
        <p:nvCxnSpPr>
          <p:cNvPr id="1248" name="Google Shape;1248;p49"/>
          <p:cNvCxnSpPr/>
          <p:nvPr/>
        </p:nvCxnSpPr>
        <p:spPr>
          <a:xfrm flipH="1">
            <a:off x="969371" y="3414222"/>
            <a:ext cx="5014400" cy="340800"/>
          </a:xfrm>
          <a:prstGeom prst="curvedConnector2">
            <a:avLst/>
          </a:prstGeom>
          <a:noFill/>
          <a:ln cap="flat" cmpd="sng" w="38100">
            <a:solidFill>
              <a:srgbClr val="33CC3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49" name="Google Shape;1249;p49"/>
          <p:cNvCxnSpPr/>
          <p:nvPr/>
        </p:nvCxnSpPr>
        <p:spPr>
          <a:xfrm flipH="1">
            <a:off x="1187241" y="3433538"/>
            <a:ext cx="4364800" cy="546600"/>
          </a:xfrm>
          <a:prstGeom prst="curvedConnector2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50" name="Google Shape;1250;p49"/>
          <p:cNvCxnSpPr/>
          <p:nvPr/>
        </p:nvCxnSpPr>
        <p:spPr>
          <a:xfrm flipH="1">
            <a:off x="878913" y="3995068"/>
            <a:ext cx="4532800" cy="63300"/>
          </a:xfrm>
          <a:prstGeom prst="curvedConnector2">
            <a:avLst/>
          </a:prstGeom>
          <a:noFill/>
          <a:ln cap="flat" cmpd="sng" w="381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51" name="Google Shape;1251;p49"/>
          <p:cNvCxnSpPr/>
          <p:nvPr/>
        </p:nvCxnSpPr>
        <p:spPr>
          <a:xfrm flipH="1">
            <a:off x="3266016" y="2487612"/>
            <a:ext cx="21167" cy="122237"/>
          </a:xfrm>
          <a:prstGeom prst="straightConnector1">
            <a:avLst/>
          </a:prstGeom>
          <a:noFill/>
          <a:ln cap="flat" cmpd="sng" w="9525">
            <a:solidFill>
              <a:srgbClr val="33CC3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50"/>
          <p:cNvSpPr txBox="1"/>
          <p:nvPr>
            <p:ph type="title"/>
          </p:nvPr>
        </p:nvSpPr>
        <p:spPr>
          <a:xfrm>
            <a:off x="323849" y="182562"/>
            <a:ext cx="5300133" cy="12144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k-fold Cross Validation</a:t>
            </a:r>
            <a:endParaRPr/>
          </a:p>
        </p:txBody>
      </p:sp>
      <p:cxnSp>
        <p:nvCxnSpPr>
          <p:cNvPr id="1257" name="Google Shape;1257;p50"/>
          <p:cNvCxnSpPr/>
          <p:nvPr/>
        </p:nvCxnSpPr>
        <p:spPr>
          <a:xfrm>
            <a:off x="812800" y="129540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58" name="Google Shape;1258;p50"/>
          <p:cNvCxnSpPr/>
          <p:nvPr/>
        </p:nvCxnSpPr>
        <p:spPr>
          <a:xfrm>
            <a:off x="609600" y="4495800"/>
            <a:ext cx="528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59" name="Google Shape;1259;p50"/>
          <p:cNvSpPr/>
          <p:nvPr/>
        </p:nvSpPr>
        <p:spPr>
          <a:xfrm>
            <a:off x="1117600" y="35814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50"/>
          <p:cNvSpPr/>
          <p:nvPr/>
        </p:nvSpPr>
        <p:spPr>
          <a:xfrm>
            <a:off x="1625600" y="41148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50"/>
          <p:cNvSpPr/>
          <p:nvPr/>
        </p:nvSpPr>
        <p:spPr>
          <a:xfrm>
            <a:off x="1930400" y="28956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50"/>
          <p:cNvSpPr/>
          <p:nvPr/>
        </p:nvSpPr>
        <p:spPr>
          <a:xfrm>
            <a:off x="2844800" y="15240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50"/>
          <p:cNvSpPr/>
          <p:nvPr/>
        </p:nvSpPr>
        <p:spPr>
          <a:xfrm>
            <a:off x="3251200" y="24384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50"/>
          <p:cNvSpPr/>
          <p:nvPr/>
        </p:nvSpPr>
        <p:spPr>
          <a:xfrm>
            <a:off x="4165600" y="2286000"/>
            <a:ext cx="97367" cy="73025"/>
          </a:xfrm>
          <a:prstGeom prst="ellipse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50"/>
          <p:cNvSpPr/>
          <p:nvPr/>
        </p:nvSpPr>
        <p:spPr>
          <a:xfrm>
            <a:off x="5181600" y="4114800"/>
            <a:ext cx="97367" cy="73025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50"/>
          <p:cNvSpPr/>
          <p:nvPr/>
        </p:nvSpPr>
        <p:spPr>
          <a:xfrm>
            <a:off x="5384800" y="35052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50"/>
          <p:cNvSpPr/>
          <p:nvPr/>
        </p:nvSpPr>
        <p:spPr>
          <a:xfrm>
            <a:off x="5080000" y="3124200"/>
            <a:ext cx="97367" cy="73025"/>
          </a:xfrm>
          <a:prstGeom prst="ellipse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50"/>
          <p:cNvSpPr txBox="1"/>
          <p:nvPr/>
        </p:nvSpPr>
        <p:spPr>
          <a:xfrm>
            <a:off x="1524000" y="44958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1269" name="Google Shape;1269;p50"/>
          <p:cNvCxnSpPr/>
          <p:nvPr/>
        </p:nvCxnSpPr>
        <p:spPr>
          <a:xfrm>
            <a:off x="2032000" y="4724400"/>
            <a:ext cx="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270" name="Google Shape;1270;p50"/>
          <p:cNvSpPr txBox="1"/>
          <p:nvPr/>
        </p:nvSpPr>
        <p:spPr>
          <a:xfrm>
            <a:off x="304800" y="3276600"/>
            <a:ext cx="40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cxnSp>
        <p:nvCxnSpPr>
          <p:cNvPr id="1271" name="Google Shape;1271;p50"/>
          <p:cNvCxnSpPr/>
          <p:nvPr/>
        </p:nvCxnSpPr>
        <p:spPr>
          <a:xfrm rot="10800000">
            <a:off x="508000" y="2667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272" name="Google Shape;1272;p50"/>
          <p:cNvSpPr txBox="1"/>
          <p:nvPr/>
        </p:nvSpPr>
        <p:spPr>
          <a:xfrm>
            <a:off x="5700183" y="252412"/>
            <a:ext cx="6292849" cy="588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Randomly break the dataset into k partitions (in our example we’ll have k=3 partitions colored Red Green and Blue)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For the red partition: Train on all the points not in the red partition. Find the test-set sum of errors on the red points.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CC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For the green partition: Train on all the points not in the green partition. Find the test-set sum of errors on the green points.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For the blue partition: Train on all the points not in the blue partition. Find the test-set sum of errors on the blue points.</a:t>
            </a:r>
            <a:endParaRPr/>
          </a:p>
          <a:p>
            <a:pPr indent="-339725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report the mean error</a:t>
            </a:r>
            <a:endParaRPr/>
          </a:p>
        </p:txBody>
      </p:sp>
      <p:cxnSp>
        <p:nvCxnSpPr>
          <p:cNvPr id="1273" name="Google Shape;1273;p50"/>
          <p:cNvCxnSpPr/>
          <p:nvPr/>
        </p:nvCxnSpPr>
        <p:spPr>
          <a:xfrm>
            <a:off x="1153583" y="3608387"/>
            <a:ext cx="0" cy="15367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74" name="Google Shape;1274;p50"/>
          <p:cNvCxnSpPr/>
          <p:nvPr/>
        </p:nvCxnSpPr>
        <p:spPr>
          <a:xfrm>
            <a:off x="2876549" y="1547812"/>
            <a:ext cx="0" cy="1036637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75" name="Google Shape;1275;p50"/>
          <p:cNvCxnSpPr/>
          <p:nvPr/>
        </p:nvCxnSpPr>
        <p:spPr>
          <a:xfrm flipH="1">
            <a:off x="4207933" y="2316162"/>
            <a:ext cx="2116" cy="490537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76" name="Google Shape;1276;p50"/>
          <p:cNvCxnSpPr/>
          <p:nvPr/>
        </p:nvCxnSpPr>
        <p:spPr>
          <a:xfrm rot="10800000">
            <a:off x="1651000" y="3189287"/>
            <a:ext cx="14816" cy="938212"/>
          </a:xfrm>
          <a:prstGeom prst="straightConnector1">
            <a:avLst/>
          </a:prstGeom>
          <a:noFill/>
          <a:ln cap="flat" cmpd="sng" w="9525">
            <a:solidFill>
              <a:srgbClr val="33CC3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77" name="Google Shape;1277;p50"/>
          <p:cNvCxnSpPr/>
          <p:nvPr/>
        </p:nvCxnSpPr>
        <p:spPr>
          <a:xfrm flipH="1">
            <a:off x="5223933" y="3278187"/>
            <a:ext cx="8467" cy="862012"/>
          </a:xfrm>
          <a:prstGeom prst="straightConnector1">
            <a:avLst/>
          </a:prstGeom>
          <a:noFill/>
          <a:ln cap="flat" cmpd="sng" w="9525">
            <a:solidFill>
              <a:srgbClr val="33CC3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78" name="Google Shape;1278;p50"/>
          <p:cNvCxnSpPr/>
          <p:nvPr/>
        </p:nvCxnSpPr>
        <p:spPr>
          <a:xfrm rot="10800000">
            <a:off x="1949449" y="2903537"/>
            <a:ext cx="2116" cy="623887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79" name="Google Shape;1279;p50"/>
          <p:cNvCxnSpPr/>
          <p:nvPr/>
        </p:nvCxnSpPr>
        <p:spPr>
          <a:xfrm>
            <a:off x="5118100" y="3141662"/>
            <a:ext cx="2116" cy="868362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80" name="Google Shape;1280;p50"/>
          <p:cNvCxnSpPr/>
          <p:nvPr/>
        </p:nvCxnSpPr>
        <p:spPr>
          <a:xfrm flipH="1">
            <a:off x="5393267" y="3524250"/>
            <a:ext cx="2116" cy="973137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281" name="Google Shape;1281;p50"/>
          <p:cNvSpPr txBox="1"/>
          <p:nvPr/>
        </p:nvSpPr>
        <p:spPr>
          <a:xfrm>
            <a:off x="325967" y="4986337"/>
            <a:ext cx="51689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Joint-the-dots </a:t>
            </a:r>
            <a:r>
              <a:rPr b="0" i="1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MSE</a:t>
            </a:r>
            <a:r>
              <a:rPr b="0" baseline="-25000" i="1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3FOLD</a:t>
            </a:r>
            <a:r>
              <a:rPr b="0" i="1" lang="en-US" sz="2400" u="non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=2.93</a:t>
            </a:r>
            <a:endParaRPr/>
          </a:p>
        </p:txBody>
      </p:sp>
      <p:cxnSp>
        <p:nvCxnSpPr>
          <p:cNvPr id="1282" name="Google Shape;1282;p50"/>
          <p:cNvCxnSpPr/>
          <p:nvPr/>
        </p:nvCxnSpPr>
        <p:spPr>
          <a:xfrm>
            <a:off x="3299883" y="1797050"/>
            <a:ext cx="0" cy="671512"/>
          </a:xfrm>
          <a:prstGeom prst="straightConnector1">
            <a:avLst/>
          </a:prstGeom>
          <a:noFill/>
          <a:ln cap="flat" cmpd="sng" w="9525">
            <a:solidFill>
              <a:srgbClr val="33CC3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283" name="Google Shape;1283;p50"/>
          <p:cNvSpPr/>
          <p:nvPr/>
        </p:nvSpPr>
        <p:spPr>
          <a:xfrm>
            <a:off x="1407583" y="2460625"/>
            <a:ext cx="4233333" cy="2735262"/>
          </a:xfrm>
          <a:custGeom>
            <a:rect b="b" l="l" r="r" t="t"/>
            <a:pathLst>
              <a:path extrusionOk="0" h="1723" w="2000">
                <a:moveTo>
                  <a:pt x="2000" y="346"/>
                </a:moveTo>
                <a:lnTo>
                  <a:pt x="1807" y="1073"/>
                </a:lnTo>
                <a:lnTo>
                  <a:pt x="1754" y="435"/>
                </a:lnTo>
                <a:lnTo>
                  <a:pt x="885" y="0"/>
                </a:lnTo>
                <a:lnTo>
                  <a:pt x="262" y="288"/>
                </a:lnTo>
                <a:lnTo>
                  <a:pt x="0" y="1723"/>
                </a:lnTo>
              </a:path>
            </a:pathLst>
          </a:custGeom>
          <a:noFill/>
          <a:ln cap="flat" cmpd="sng" w="28575">
            <a:solidFill>
              <a:schemeClr val="hlink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50"/>
          <p:cNvSpPr/>
          <p:nvPr/>
        </p:nvSpPr>
        <p:spPr>
          <a:xfrm>
            <a:off x="931333" y="1554162"/>
            <a:ext cx="4866216" cy="2444750"/>
          </a:xfrm>
          <a:custGeom>
            <a:rect b="b" l="l" r="r" t="t"/>
            <a:pathLst>
              <a:path extrusionOk="0" h="1540" w="2299">
                <a:moveTo>
                  <a:pt x="0" y="1414"/>
                </a:moveTo>
                <a:lnTo>
                  <a:pt x="492" y="869"/>
                </a:lnTo>
                <a:lnTo>
                  <a:pt x="921" y="0"/>
                </a:lnTo>
                <a:lnTo>
                  <a:pt x="1555" y="477"/>
                </a:lnTo>
                <a:lnTo>
                  <a:pt x="1979" y="1011"/>
                </a:lnTo>
                <a:lnTo>
                  <a:pt x="2299" y="1540"/>
                </a:lnTo>
              </a:path>
            </a:pathLst>
          </a:custGeom>
          <a:noFill/>
          <a:ln cap="flat" cmpd="sng" w="28575">
            <a:solidFill>
              <a:srgbClr val="33CC33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50"/>
          <p:cNvSpPr/>
          <p:nvPr/>
        </p:nvSpPr>
        <p:spPr>
          <a:xfrm>
            <a:off x="952500" y="1546225"/>
            <a:ext cx="4512733" cy="3067050"/>
          </a:xfrm>
          <a:custGeom>
            <a:rect b="b" l="l" r="r" t="t"/>
            <a:pathLst>
              <a:path extrusionOk="0" h="1932" w="2132">
                <a:moveTo>
                  <a:pt x="0" y="1178"/>
                </a:moveTo>
                <a:lnTo>
                  <a:pt x="335" y="1634"/>
                </a:lnTo>
                <a:lnTo>
                  <a:pt x="906" y="0"/>
                </a:lnTo>
                <a:lnTo>
                  <a:pt x="1110" y="581"/>
                </a:lnTo>
                <a:lnTo>
                  <a:pt x="1545" y="487"/>
                </a:lnTo>
                <a:lnTo>
                  <a:pt x="2132" y="1932"/>
                </a:lnTo>
              </a:path>
            </a:pathLst>
          </a:custGeom>
          <a:noFill/>
          <a:ln cap="flat" cmpd="sng" w="28575">
            <a:solidFill>
              <a:schemeClr val="folHlink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51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Which kind of Cross Validation?</a:t>
            </a:r>
            <a:endParaRPr/>
          </a:p>
        </p:txBody>
      </p:sp>
      <p:graphicFrame>
        <p:nvGraphicFramePr>
          <p:cNvPr id="1291" name="Google Shape;1291;p51"/>
          <p:cNvGraphicFramePr/>
          <p:nvPr/>
        </p:nvGraphicFramePr>
        <p:xfrm>
          <a:off x="114300" y="90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2087025"/>
                <a:gridCol w="4914900"/>
                <a:gridCol w="4851400"/>
              </a:tblGrid>
              <a:tr h="58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Downside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CC33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rgbClr val="33CC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Upside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Test-set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Variance: unreliable estimate of future performance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CC33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rgbClr val="33CC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Cheap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89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Leave-one-out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Expensive.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Has some weird behavior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CC33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rgbClr val="33CC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Doesn’t waste data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CC"/>
                    </a:solidFill>
                  </a:tcPr>
                </a:tc>
              </a:tr>
              <a:tr h="118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10-fold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C6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Wastes 10% of the data. 10 times more expensive than test set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C6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CC33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rgbClr val="33CC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 wastes 10%. Only 10 times more expensive instead of R times.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C6C7"/>
                    </a:solidFill>
                  </a:tcPr>
                </a:tc>
              </a:tr>
              <a:tr h="82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3-fold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C6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Wastier than 10-fold. Expensivier than test set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C6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CC33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rgbClr val="33CC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Slightly better than test-set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C6C7"/>
                    </a:solidFill>
                  </a:tcPr>
                </a:tc>
              </a:tr>
              <a:tr h="51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R-fold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C6C7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Identical to Leave-one-out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C6C7"/>
                    </a:solidFill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52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Which kind of Cross Validation?</a:t>
            </a:r>
            <a:endParaRPr/>
          </a:p>
        </p:txBody>
      </p:sp>
      <p:graphicFrame>
        <p:nvGraphicFramePr>
          <p:cNvPr id="1297" name="Google Shape;1297;p52"/>
          <p:cNvGraphicFramePr/>
          <p:nvPr/>
        </p:nvGraphicFramePr>
        <p:xfrm>
          <a:off x="114300" y="90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2087025"/>
                <a:gridCol w="4914900"/>
                <a:gridCol w="4851400"/>
              </a:tblGrid>
              <a:tr h="58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Downside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CC33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rgbClr val="33CC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Upside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Test-set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Variance: unreliable estimate of future performance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CC33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rgbClr val="33CC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Cheap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89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Leave-one-out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Expensive.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Has some weird behavior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CC33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rgbClr val="33CC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Doesn’t waste data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CC"/>
                    </a:solidFill>
                  </a:tcPr>
                </a:tc>
              </a:tr>
              <a:tr h="118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10-fold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C6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Wastes 10% of the data. 10 times more expensive than testset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C6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CC33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rgbClr val="33CC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 wastes 10%. Only 10 times more expensive instead of R times.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C6C7"/>
                    </a:solidFill>
                  </a:tcPr>
                </a:tc>
              </a:tr>
              <a:tr h="82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3-fold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C6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Wastier than 10-fold. Expensivier than testset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C6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CC33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rgbClr val="33CC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Slightly better than test-set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C6C7"/>
                    </a:solidFill>
                  </a:tcPr>
                </a:tc>
              </a:tr>
              <a:tr h="51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R-fold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C6C7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Identical to Leave-one-out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C6C7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1298" name="Google Shape;1298;p52"/>
          <p:cNvSpPr txBox="1"/>
          <p:nvPr/>
        </p:nvSpPr>
        <p:spPr>
          <a:xfrm>
            <a:off x="6794500" y="2609850"/>
            <a:ext cx="4356100" cy="192405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note: One of Andrew’s joys in life is algorithmic tricks for making these cheap</a:t>
            </a:r>
            <a:endParaRPr/>
          </a:p>
        </p:txBody>
      </p:sp>
      <p:cxnSp>
        <p:nvCxnSpPr>
          <p:cNvPr id="1299" name="Google Shape;1299;p52"/>
          <p:cNvCxnSpPr/>
          <p:nvPr/>
        </p:nvCxnSpPr>
        <p:spPr>
          <a:xfrm flipH="1">
            <a:off x="5933016" y="3170237"/>
            <a:ext cx="1138767" cy="36512"/>
          </a:xfrm>
          <a:prstGeom prst="straightConnector1">
            <a:avLst/>
          </a:prstGeom>
          <a:noFill/>
          <a:ln cap="flat" cmpd="sng" w="76200">
            <a:solidFill>
              <a:srgbClr val="993366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300" name="Google Shape;1300;p52"/>
          <p:cNvCxnSpPr/>
          <p:nvPr/>
        </p:nvCxnSpPr>
        <p:spPr>
          <a:xfrm flipH="1">
            <a:off x="5689600" y="3949700"/>
            <a:ext cx="1511300" cy="390525"/>
          </a:xfrm>
          <a:prstGeom prst="straightConnector1">
            <a:avLst/>
          </a:prstGeom>
          <a:noFill/>
          <a:ln cap="flat" cmpd="sng" w="76200">
            <a:solidFill>
              <a:srgbClr val="993366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53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CV-based Model Selection</a:t>
            </a:r>
            <a:endParaRPr/>
          </a:p>
        </p:txBody>
      </p:sp>
      <p:sp>
        <p:nvSpPr>
          <p:cNvPr id="1306" name="Google Shape;1306;p53"/>
          <p:cNvSpPr txBox="1"/>
          <p:nvPr>
            <p:ph idx="1" type="body"/>
          </p:nvPr>
        </p:nvSpPr>
        <p:spPr>
          <a:xfrm>
            <a:off x="304800" y="990600"/>
            <a:ext cx="11432116" cy="178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We’re trying to decide which algorithm to use.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train each machine and make a table…</a:t>
            </a:r>
            <a:endParaRPr/>
          </a:p>
        </p:txBody>
      </p:sp>
      <p:graphicFrame>
        <p:nvGraphicFramePr>
          <p:cNvPr id="1307" name="Google Shape;1307;p53"/>
          <p:cNvGraphicFramePr/>
          <p:nvPr/>
        </p:nvGraphicFramePr>
        <p:xfrm>
          <a:off x="239183" y="34401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687900"/>
                <a:gridCol w="738700"/>
                <a:gridCol w="2393925"/>
                <a:gridCol w="5037650"/>
                <a:gridCol w="2078550"/>
              </a:tblGrid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r>
                        <a:rPr b="0" baseline="-25000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TRAINERR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10-FOLD-CV-ERR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Choice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r>
                        <a:rPr b="0" baseline="-25000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r>
                        <a:rPr b="0" baseline="-25000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r>
                        <a:rPr b="0" baseline="-25000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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r>
                        <a:rPr b="0" baseline="-25000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r>
                        <a:rPr b="0" baseline="-25000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r>
                        <a:rPr b="0" baseline="-25000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08" name="Google Shape;1308;p53"/>
          <p:cNvSpPr/>
          <p:nvPr/>
        </p:nvSpPr>
        <p:spPr>
          <a:xfrm>
            <a:off x="4267200" y="3886200"/>
            <a:ext cx="2336800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53"/>
          <p:cNvSpPr/>
          <p:nvPr/>
        </p:nvSpPr>
        <p:spPr>
          <a:xfrm>
            <a:off x="4267200" y="4343400"/>
            <a:ext cx="914400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53"/>
          <p:cNvSpPr/>
          <p:nvPr/>
        </p:nvSpPr>
        <p:spPr>
          <a:xfrm>
            <a:off x="4267200" y="4724400"/>
            <a:ext cx="711200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53"/>
          <p:cNvSpPr/>
          <p:nvPr/>
        </p:nvSpPr>
        <p:spPr>
          <a:xfrm>
            <a:off x="4267200" y="5105400"/>
            <a:ext cx="1117600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53"/>
          <p:cNvSpPr/>
          <p:nvPr/>
        </p:nvSpPr>
        <p:spPr>
          <a:xfrm>
            <a:off x="4267200" y="5486400"/>
            <a:ext cx="1422400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53"/>
          <p:cNvSpPr/>
          <p:nvPr/>
        </p:nvSpPr>
        <p:spPr>
          <a:xfrm>
            <a:off x="4267200" y="5867400"/>
            <a:ext cx="1727200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53"/>
          <p:cNvSpPr/>
          <p:nvPr/>
        </p:nvSpPr>
        <p:spPr>
          <a:xfrm>
            <a:off x="1828800" y="3886200"/>
            <a:ext cx="1219200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53"/>
          <p:cNvSpPr/>
          <p:nvPr/>
        </p:nvSpPr>
        <p:spPr>
          <a:xfrm>
            <a:off x="1828800" y="4343400"/>
            <a:ext cx="914400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53"/>
          <p:cNvSpPr/>
          <p:nvPr/>
        </p:nvSpPr>
        <p:spPr>
          <a:xfrm>
            <a:off x="1828800" y="4724400"/>
            <a:ext cx="711200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53"/>
          <p:cNvSpPr/>
          <p:nvPr/>
        </p:nvSpPr>
        <p:spPr>
          <a:xfrm>
            <a:off x="1828800" y="5105400"/>
            <a:ext cx="304800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53"/>
          <p:cNvSpPr/>
          <p:nvPr/>
        </p:nvSpPr>
        <p:spPr>
          <a:xfrm>
            <a:off x="1828800" y="5486400"/>
            <a:ext cx="203200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53"/>
          <p:cNvSpPr/>
          <p:nvPr/>
        </p:nvSpPr>
        <p:spPr>
          <a:xfrm>
            <a:off x="1828800" y="5867400"/>
            <a:ext cx="101600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54"/>
          <p:cNvSpPr/>
          <p:nvPr/>
        </p:nvSpPr>
        <p:spPr>
          <a:xfrm>
            <a:off x="4468283" y="3113087"/>
            <a:ext cx="2336800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54"/>
          <p:cNvSpPr/>
          <p:nvPr/>
        </p:nvSpPr>
        <p:spPr>
          <a:xfrm>
            <a:off x="4468283" y="3570287"/>
            <a:ext cx="914400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54"/>
          <p:cNvSpPr/>
          <p:nvPr/>
        </p:nvSpPr>
        <p:spPr>
          <a:xfrm>
            <a:off x="4468283" y="3951287"/>
            <a:ext cx="711200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54"/>
          <p:cNvSpPr/>
          <p:nvPr/>
        </p:nvSpPr>
        <p:spPr>
          <a:xfrm>
            <a:off x="4468283" y="4332287"/>
            <a:ext cx="1117600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54"/>
          <p:cNvSpPr/>
          <p:nvPr/>
        </p:nvSpPr>
        <p:spPr>
          <a:xfrm>
            <a:off x="4468283" y="4713287"/>
            <a:ext cx="1422400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54"/>
          <p:cNvSpPr/>
          <p:nvPr/>
        </p:nvSpPr>
        <p:spPr>
          <a:xfrm>
            <a:off x="4468283" y="5094287"/>
            <a:ext cx="1727200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54"/>
          <p:cNvSpPr/>
          <p:nvPr/>
        </p:nvSpPr>
        <p:spPr>
          <a:xfrm>
            <a:off x="2531533" y="3113087"/>
            <a:ext cx="1219200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54"/>
          <p:cNvSpPr/>
          <p:nvPr/>
        </p:nvSpPr>
        <p:spPr>
          <a:xfrm>
            <a:off x="2531533" y="3570287"/>
            <a:ext cx="914400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54"/>
          <p:cNvSpPr/>
          <p:nvPr/>
        </p:nvSpPr>
        <p:spPr>
          <a:xfrm>
            <a:off x="2531533" y="3951287"/>
            <a:ext cx="711200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54"/>
          <p:cNvSpPr/>
          <p:nvPr/>
        </p:nvSpPr>
        <p:spPr>
          <a:xfrm>
            <a:off x="2531533" y="4332287"/>
            <a:ext cx="304800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54"/>
          <p:cNvSpPr/>
          <p:nvPr/>
        </p:nvSpPr>
        <p:spPr>
          <a:xfrm>
            <a:off x="2531533" y="4713287"/>
            <a:ext cx="203200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54"/>
          <p:cNvSpPr/>
          <p:nvPr/>
        </p:nvSpPr>
        <p:spPr>
          <a:xfrm>
            <a:off x="2531533" y="5094287"/>
            <a:ext cx="101600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54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CV-based Model Selection</a:t>
            </a:r>
            <a:endParaRPr/>
          </a:p>
        </p:txBody>
      </p:sp>
      <p:sp>
        <p:nvSpPr>
          <p:cNvPr id="1337" name="Google Shape;1337;p54"/>
          <p:cNvSpPr txBox="1"/>
          <p:nvPr>
            <p:ph idx="1" type="body"/>
          </p:nvPr>
        </p:nvSpPr>
        <p:spPr>
          <a:xfrm>
            <a:off x="304800" y="990600"/>
            <a:ext cx="11432116" cy="178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Choosing number of hidden units in a one-hidden-layer neural net.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Compute 10-fold CV error for six different model classes:</a:t>
            </a:r>
            <a:endParaRPr/>
          </a:p>
        </p:txBody>
      </p:sp>
      <p:graphicFrame>
        <p:nvGraphicFramePr>
          <p:cNvPr id="1338" name="Google Shape;1338;p54"/>
          <p:cNvGraphicFramePr/>
          <p:nvPr/>
        </p:nvGraphicFramePr>
        <p:xfrm>
          <a:off x="304800" y="266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2222500"/>
                <a:gridCol w="1930400"/>
                <a:gridCol w="4775200"/>
                <a:gridCol w="1320800"/>
              </a:tblGrid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Algorithm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TRAINERR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10-FOLD-CV-ERR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Choice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hidden units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hidden units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hidden units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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hidden units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hidden units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hidden units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9" name="Google Shape;1339;p54"/>
          <p:cNvSpPr txBox="1"/>
          <p:nvPr/>
        </p:nvSpPr>
        <p:spPr>
          <a:xfrm>
            <a:off x="304800" y="5562600"/>
            <a:ext cx="11432116" cy="947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2: Whichever model class gave best CV score: train it with all the data, and that’s the predictive model you’ll use.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55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CV-based Model Selection</a:t>
            </a:r>
            <a:endParaRPr/>
          </a:p>
        </p:txBody>
      </p:sp>
      <p:sp>
        <p:nvSpPr>
          <p:cNvPr id="1345" name="Google Shape;1345;p55"/>
          <p:cNvSpPr txBox="1"/>
          <p:nvPr>
            <p:ph idx="1" type="body"/>
          </p:nvPr>
        </p:nvSpPr>
        <p:spPr>
          <a:xfrm>
            <a:off x="304800" y="990600"/>
            <a:ext cx="11432116" cy="178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Choosing “k” for a k-nearest-neighbor regression.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Compute LOOCV error for six different model classes:</a:t>
            </a:r>
            <a:endParaRPr/>
          </a:p>
        </p:txBody>
      </p:sp>
      <p:sp>
        <p:nvSpPr>
          <p:cNvPr id="1346" name="Google Shape;1346;p55"/>
          <p:cNvSpPr txBox="1"/>
          <p:nvPr/>
        </p:nvSpPr>
        <p:spPr>
          <a:xfrm>
            <a:off x="304800" y="5562600"/>
            <a:ext cx="11432116" cy="947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2: Whichever model class gave best CV score: train it with all the data, and that’s the predictive model you’ll use.</a:t>
            </a:r>
            <a:endParaRPr/>
          </a:p>
        </p:txBody>
      </p:sp>
      <p:graphicFrame>
        <p:nvGraphicFramePr>
          <p:cNvPr id="1347" name="Google Shape;1347;p55"/>
          <p:cNvGraphicFramePr/>
          <p:nvPr/>
        </p:nvGraphicFramePr>
        <p:xfrm>
          <a:off x="508000" y="243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2222500"/>
                <a:gridCol w="1930400"/>
                <a:gridCol w="4775200"/>
                <a:gridCol w="1320800"/>
              </a:tblGrid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Algorithm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TRAINERR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10-fold-CV-ERR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Choice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K=1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K=2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K=3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K=4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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K=5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K=6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48" name="Google Shape;1348;p55"/>
          <p:cNvSpPr/>
          <p:nvPr/>
        </p:nvSpPr>
        <p:spPr>
          <a:xfrm>
            <a:off x="4671483" y="2884487"/>
            <a:ext cx="1424516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55"/>
          <p:cNvSpPr/>
          <p:nvPr/>
        </p:nvSpPr>
        <p:spPr>
          <a:xfrm>
            <a:off x="4671483" y="3341687"/>
            <a:ext cx="1221316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55"/>
          <p:cNvSpPr/>
          <p:nvPr/>
        </p:nvSpPr>
        <p:spPr>
          <a:xfrm>
            <a:off x="4671483" y="3722687"/>
            <a:ext cx="1119716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55"/>
          <p:cNvSpPr/>
          <p:nvPr/>
        </p:nvSpPr>
        <p:spPr>
          <a:xfrm>
            <a:off x="4671483" y="4103687"/>
            <a:ext cx="814916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55"/>
          <p:cNvSpPr/>
          <p:nvPr/>
        </p:nvSpPr>
        <p:spPr>
          <a:xfrm>
            <a:off x="4671483" y="4484687"/>
            <a:ext cx="916516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55"/>
          <p:cNvSpPr/>
          <p:nvPr/>
        </p:nvSpPr>
        <p:spPr>
          <a:xfrm>
            <a:off x="4671483" y="4865687"/>
            <a:ext cx="2237316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55"/>
          <p:cNvSpPr/>
          <p:nvPr/>
        </p:nvSpPr>
        <p:spPr>
          <a:xfrm>
            <a:off x="2734733" y="3341687"/>
            <a:ext cx="211667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55"/>
          <p:cNvSpPr/>
          <p:nvPr/>
        </p:nvSpPr>
        <p:spPr>
          <a:xfrm>
            <a:off x="2734733" y="3722687"/>
            <a:ext cx="313267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55"/>
          <p:cNvSpPr/>
          <p:nvPr/>
        </p:nvSpPr>
        <p:spPr>
          <a:xfrm>
            <a:off x="2734733" y="4103687"/>
            <a:ext cx="821267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55"/>
          <p:cNvSpPr/>
          <p:nvPr/>
        </p:nvSpPr>
        <p:spPr>
          <a:xfrm>
            <a:off x="2734733" y="4484687"/>
            <a:ext cx="1227667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55"/>
          <p:cNvSpPr/>
          <p:nvPr/>
        </p:nvSpPr>
        <p:spPr>
          <a:xfrm>
            <a:off x="2734733" y="4865687"/>
            <a:ext cx="1735667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3" name="Google Shape;1363;p56"/>
          <p:cNvGraphicFramePr/>
          <p:nvPr/>
        </p:nvGraphicFramePr>
        <p:xfrm>
          <a:off x="304800" y="266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2222500"/>
                <a:gridCol w="1930400"/>
                <a:gridCol w="4775200"/>
                <a:gridCol w="1320800"/>
              </a:tblGrid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Algorithm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TRAINERR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LOOCV-ERR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Choice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K=1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K=2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K=3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K=4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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K=5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K=6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4" name="Google Shape;1364;p56"/>
          <p:cNvSpPr/>
          <p:nvPr/>
        </p:nvSpPr>
        <p:spPr>
          <a:xfrm>
            <a:off x="4468283" y="3113087"/>
            <a:ext cx="1424516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56"/>
          <p:cNvSpPr/>
          <p:nvPr/>
        </p:nvSpPr>
        <p:spPr>
          <a:xfrm>
            <a:off x="4468283" y="3570287"/>
            <a:ext cx="1221316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56"/>
          <p:cNvSpPr/>
          <p:nvPr/>
        </p:nvSpPr>
        <p:spPr>
          <a:xfrm>
            <a:off x="4468283" y="3951287"/>
            <a:ext cx="1119716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56"/>
          <p:cNvSpPr/>
          <p:nvPr/>
        </p:nvSpPr>
        <p:spPr>
          <a:xfrm>
            <a:off x="4468283" y="4332287"/>
            <a:ext cx="814916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56"/>
          <p:cNvSpPr/>
          <p:nvPr/>
        </p:nvSpPr>
        <p:spPr>
          <a:xfrm>
            <a:off x="4468283" y="4713287"/>
            <a:ext cx="916516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56"/>
          <p:cNvSpPr/>
          <p:nvPr/>
        </p:nvSpPr>
        <p:spPr>
          <a:xfrm>
            <a:off x="4468283" y="5094287"/>
            <a:ext cx="2237316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56"/>
          <p:cNvSpPr/>
          <p:nvPr/>
        </p:nvSpPr>
        <p:spPr>
          <a:xfrm>
            <a:off x="2531533" y="3113087"/>
            <a:ext cx="1219200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56"/>
          <p:cNvSpPr/>
          <p:nvPr/>
        </p:nvSpPr>
        <p:spPr>
          <a:xfrm>
            <a:off x="2531533" y="3570287"/>
            <a:ext cx="914400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56"/>
          <p:cNvSpPr/>
          <p:nvPr/>
        </p:nvSpPr>
        <p:spPr>
          <a:xfrm>
            <a:off x="2531533" y="3951287"/>
            <a:ext cx="711200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56"/>
          <p:cNvSpPr/>
          <p:nvPr/>
        </p:nvSpPr>
        <p:spPr>
          <a:xfrm>
            <a:off x="2531533" y="4332287"/>
            <a:ext cx="304800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56"/>
          <p:cNvSpPr/>
          <p:nvPr/>
        </p:nvSpPr>
        <p:spPr>
          <a:xfrm>
            <a:off x="2531533" y="4713287"/>
            <a:ext cx="203200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56"/>
          <p:cNvSpPr/>
          <p:nvPr/>
        </p:nvSpPr>
        <p:spPr>
          <a:xfrm>
            <a:off x="2531533" y="5094287"/>
            <a:ext cx="101600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56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CV-based Model Selection</a:t>
            </a:r>
            <a:endParaRPr/>
          </a:p>
        </p:txBody>
      </p:sp>
      <p:sp>
        <p:nvSpPr>
          <p:cNvPr id="1377" name="Google Shape;1377;p56"/>
          <p:cNvSpPr txBox="1"/>
          <p:nvPr>
            <p:ph idx="1" type="body"/>
          </p:nvPr>
        </p:nvSpPr>
        <p:spPr>
          <a:xfrm>
            <a:off x="304800" y="990600"/>
            <a:ext cx="11432116" cy="178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Choosing “k” for a k-nearest-neighbor regression.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Compute LOOCV error for six different model classes:</a:t>
            </a:r>
            <a:endParaRPr/>
          </a:p>
        </p:txBody>
      </p:sp>
      <p:sp>
        <p:nvSpPr>
          <p:cNvPr id="1378" name="Google Shape;1378;p56"/>
          <p:cNvSpPr txBox="1"/>
          <p:nvPr/>
        </p:nvSpPr>
        <p:spPr>
          <a:xfrm>
            <a:off x="304800" y="5562600"/>
            <a:ext cx="11432116" cy="947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2: Whichever model class gave best CV score: train it with all the data, and that’s the predictive model you’ll use.</a:t>
            </a:r>
            <a:endParaRPr/>
          </a:p>
        </p:txBody>
      </p:sp>
      <p:sp>
        <p:nvSpPr>
          <p:cNvPr id="1379" name="Google Shape;1379;p56"/>
          <p:cNvSpPr/>
          <p:nvPr/>
        </p:nvSpPr>
        <p:spPr>
          <a:xfrm>
            <a:off x="3149600" y="1828800"/>
            <a:ext cx="4572000" cy="3505200"/>
          </a:xfrm>
          <a:prstGeom prst="wedgeRectCallout">
            <a:avLst>
              <a:gd fmla="val -3620" name="adj1"/>
              <a:gd fmla="val 78" name="adj2"/>
            </a:avLst>
          </a:prstGeom>
          <a:solidFill>
            <a:srgbClr val="FFC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did we use 10-fold-CV for neural nets and LOOCV for k-nearest neighbor?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why stop at K=6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we guaranteed that a local optimum of K vs LOOCV will be the global optimum?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should we do if we are depressed at the expense of doing LOOCV for K= 1 through 1000?</a:t>
            </a:r>
            <a:endParaRPr/>
          </a:p>
        </p:txBody>
      </p:sp>
      <p:sp>
        <p:nvSpPr>
          <p:cNvPr id="1380" name="Google Shape;1380;p56"/>
          <p:cNvSpPr/>
          <p:nvPr/>
        </p:nvSpPr>
        <p:spPr>
          <a:xfrm>
            <a:off x="8432800" y="1447800"/>
            <a:ext cx="3556000" cy="838200"/>
          </a:xfrm>
          <a:prstGeom prst="wedgeRectCallout">
            <a:avLst>
              <a:gd fmla="val -5194" name="adj1"/>
              <a:gd fmla="val 15259" name="adj2"/>
            </a:avLst>
          </a:prstGeom>
          <a:solidFill>
            <a:srgbClr val="9933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reason is Computational. For k-NN (and all other nonparametric methods) LOOCV happens to be as cheap as regular predictions.</a:t>
            </a:r>
            <a:endParaRPr/>
          </a:p>
        </p:txBody>
      </p:sp>
      <p:sp>
        <p:nvSpPr>
          <p:cNvPr id="1381" name="Google Shape;1381;p56"/>
          <p:cNvSpPr/>
          <p:nvPr/>
        </p:nvSpPr>
        <p:spPr>
          <a:xfrm>
            <a:off x="8229600" y="2438400"/>
            <a:ext cx="3556000" cy="685800"/>
          </a:xfrm>
          <a:prstGeom prst="wedgeRectCallout">
            <a:avLst>
              <a:gd fmla="val -5194" name="adj1"/>
              <a:gd fmla="val 18650" name="adj2"/>
            </a:avLst>
          </a:prstGeom>
          <a:solidFill>
            <a:srgbClr val="9933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good reason, except it looked like things were getting worse as K was increasing</a:t>
            </a:r>
            <a:endParaRPr/>
          </a:p>
        </p:txBody>
      </p:sp>
      <p:sp>
        <p:nvSpPr>
          <p:cNvPr id="1382" name="Google Shape;1382;p56"/>
          <p:cNvSpPr/>
          <p:nvPr/>
        </p:nvSpPr>
        <p:spPr>
          <a:xfrm>
            <a:off x="8432800" y="3276600"/>
            <a:ext cx="3556000" cy="457200"/>
          </a:xfrm>
          <a:prstGeom prst="wedgeRectCallout">
            <a:avLst>
              <a:gd fmla="val -5014" name="adj1"/>
              <a:gd fmla="val 13575" name="adj2"/>
            </a:avLst>
          </a:prstGeom>
          <a:solidFill>
            <a:srgbClr val="9933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Sadly, no. And in fact, the relationship can be very bumpy.</a:t>
            </a:r>
            <a:endParaRPr/>
          </a:p>
        </p:txBody>
      </p:sp>
      <p:sp>
        <p:nvSpPr>
          <p:cNvPr id="1383" name="Google Shape;1383;p56"/>
          <p:cNvSpPr/>
          <p:nvPr/>
        </p:nvSpPr>
        <p:spPr>
          <a:xfrm>
            <a:off x="8229600" y="4495800"/>
            <a:ext cx="3556000" cy="914400"/>
          </a:xfrm>
          <a:prstGeom prst="wedgeRectCallout">
            <a:avLst>
              <a:gd fmla="val -4834" name="adj1"/>
              <a:gd fmla="val 4800" name="adj2"/>
            </a:avLst>
          </a:prstGeom>
          <a:solidFill>
            <a:srgbClr val="9933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Idea One: K=1, K=2, K=4, K=8, K=16, K=32, K=64 … K=1024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Idea Two: Hillclimbing from an initial guess at K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57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CV-based Model Selection</a:t>
            </a:r>
            <a:endParaRPr/>
          </a:p>
        </p:txBody>
      </p:sp>
      <p:sp>
        <p:nvSpPr>
          <p:cNvPr id="1389" name="Google Shape;1389;p57"/>
          <p:cNvSpPr txBox="1"/>
          <p:nvPr>
            <p:ph idx="1" type="body"/>
          </p:nvPr>
        </p:nvSpPr>
        <p:spPr>
          <a:xfrm>
            <a:off x="304800" y="990600"/>
            <a:ext cx="11432116" cy="178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you think of other decisions we can ask Cross Validation to make for us, based on other machine learning algorithms in the class so far?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58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CV-based Model Selection</a:t>
            </a:r>
            <a:endParaRPr/>
          </a:p>
        </p:txBody>
      </p:sp>
      <p:sp>
        <p:nvSpPr>
          <p:cNvPr id="1395" name="Google Shape;1395;p58"/>
          <p:cNvSpPr txBox="1"/>
          <p:nvPr>
            <p:ph idx="1" type="body"/>
          </p:nvPr>
        </p:nvSpPr>
        <p:spPr>
          <a:xfrm>
            <a:off x="304800" y="990600"/>
            <a:ext cx="11432116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you think of other decisions we can ask Cross Validation to make for us, based on other machine learning algorithms in the class so far?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9933FF"/>
                </a:solidFill>
                <a:latin typeface="Arial"/>
                <a:ea typeface="Arial"/>
                <a:cs typeface="Arial"/>
                <a:sym typeface="Arial"/>
              </a:rPr>
              <a:t>Degree of polynomial in polynomial regression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9933FF"/>
                </a:solidFill>
                <a:latin typeface="Arial"/>
                <a:ea typeface="Arial"/>
                <a:cs typeface="Arial"/>
                <a:sym typeface="Arial"/>
              </a:rPr>
              <a:t>Whether to use full, diagonal or spherical Gaussians in a Gaussian Bayes Classifier.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9933FF"/>
                </a:solidFill>
                <a:latin typeface="Arial"/>
                <a:ea typeface="Arial"/>
                <a:cs typeface="Arial"/>
                <a:sym typeface="Arial"/>
              </a:rPr>
              <a:t>The Kernel Width in Kernel Regression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9933FF"/>
                </a:solidFill>
                <a:latin typeface="Arial"/>
                <a:ea typeface="Arial"/>
                <a:cs typeface="Arial"/>
                <a:sym typeface="Arial"/>
              </a:rPr>
              <a:t>The Kernel Width in Locally Weighted Regression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9933FF"/>
                </a:solidFill>
                <a:latin typeface="Arial"/>
                <a:ea typeface="Arial"/>
                <a:cs typeface="Arial"/>
                <a:sym typeface="Arial"/>
              </a:rPr>
              <a:t>The Bayesian Prior in Bayesian Regression</a:t>
            </a:r>
            <a:endParaRPr/>
          </a:p>
        </p:txBody>
      </p:sp>
      <p:sp>
        <p:nvSpPr>
          <p:cNvPr id="1396" name="Google Shape;1396;p58"/>
          <p:cNvSpPr/>
          <p:nvPr/>
        </p:nvSpPr>
        <p:spPr>
          <a:xfrm>
            <a:off x="609600" y="3200400"/>
            <a:ext cx="406400" cy="1066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99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58"/>
          <p:cNvSpPr txBox="1"/>
          <p:nvPr/>
        </p:nvSpPr>
        <p:spPr>
          <a:xfrm>
            <a:off x="1219200" y="4572000"/>
            <a:ext cx="4470400" cy="155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99CC"/>
                </a:solidFill>
                <a:latin typeface="Arial"/>
                <a:ea typeface="Arial"/>
                <a:cs typeface="Arial"/>
                <a:sym typeface="Arial"/>
              </a:rPr>
              <a:t>These involve choosing the value of a real-valued parameter. What should we do?</a:t>
            </a:r>
            <a:endParaRPr/>
          </a:p>
        </p:txBody>
      </p:sp>
      <p:sp>
        <p:nvSpPr>
          <p:cNvPr id="1398" name="Google Shape;1398;p58"/>
          <p:cNvSpPr/>
          <p:nvPr/>
        </p:nvSpPr>
        <p:spPr>
          <a:xfrm>
            <a:off x="203200" y="3733800"/>
            <a:ext cx="1145116" cy="1069975"/>
          </a:xfrm>
          <a:custGeom>
            <a:rect b="b" l="l" r="r" t="t"/>
            <a:pathLst>
              <a:path extrusionOk="0" h="674" w="541">
                <a:moveTo>
                  <a:pt x="138" y="0"/>
                </a:moveTo>
                <a:cubicBezTo>
                  <a:pt x="109" y="8"/>
                  <a:pt x="87" y="38"/>
                  <a:pt x="63" y="56"/>
                </a:cubicBezTo>
                <a:cubicBezTo>
                  <a:pt x="53" y="72"/>
                  <a:pt x="46" y="88"/>
                  <a:pt x="35" y="103"/>
                </a:cubicBezTo>
                <a:cubicBezTo>
                  <a:pt x="29" y="122"/>
                  <a:pt x="19" y="140"/>
                  <a:pt x="12" y="159"/>
                </a:cubicBezTo>
                <a:cubicBezTo>
                  <a:pt x="13" y="176"/>
                  <a:pt x="0" y="271"/>
                  <a:pt x="31" y="299"/>
                </a:cubicBezTo>
                <a:cubicBezTo>
                  <a:pt x="37" y="319"/>
                  <a:pt x="39" y="326"/>
                  <a:pt x="54" y="341"/>
                </a:cubicBezTo>
                <a:cubicBezTo>
                  <a:pt x="66" y="376"/>
                  <a:pt x="49" y="334"/>
                  <a:pt x="73" y="365"/>
                </a:cubicBezTo>
                <a:cubicBezTo>
                  <a:pt x="76" y="369"/>
                  <a:pt x="75" y="375"/>
                  <a:pt x="78" y="379"/>
                </a:cubicBezTo>
                <a:cubicBezTo>
                  <a:pt x="89" y="395"/>
                  <a:pt x="104" y="411"/>
                  <a:pt x="120" y="421"/>
                </a:cubicBezTo>
                <a:cubicBezTo>
                  <a:pt x="130" y="456"/>
                  <a:pt x="189" y="478"/>
                  <a:pt x="218" y="496"/>
                </a:cubicBezTo>
                <a:cubicBezTo>
                  <a:pt x="231" y="504"/>
                  <a:pt x="260" y="515"/>
                  <a:pt x="260" y="515"/>
                </a:cubicBezTo>
                <a:cubicBezTo>
                  <a:pt x="287" y="542"/>
                  <a:pt x="323" y="546"/>
                  <a:pt x="354" y="566"/>
                </a:cubicBezTo>
                <a:cubicBezTo>
                  <a:pt x="386" y="588"/>
                  <a:pt x="417" y="602"/>
                  <a:pt x="452" y="618"/>
                </a:cubicBezTo>
                <a:cubicBezTo>
                  <a:pt x="474" y="628"/>
                  <a:pt x="490" y="647"/>
                  <a:pt x="513" y="655"/>
                </a:cubicBezTo>
                <a:cubicBezTo>
                  <a:pt x="521" y="664"/>
                  <a:pt x="528" y="674"/>
                  <a:pt x="541" y="674"/>
                </a:cubicBezTo>
              </a:path>
            </a:pathLst>
          </a:custGeom>
          <a:noFill/>
          <a:ln cap="flat" cmpd="sng" w="38100">
            <a:solidFill>
              <a:srgbClr val="0099CC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59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CV-based Model Selection</a:t>
            </a:r>
            <a:endParaRPr/>
          </a:p>
        </p:txBody>
      </p:sp>
      <p:sp>
        <p:nvSpPr>
          <p:cNvPr id="1404" name="Google Shape;1404;p59"/>
          <p:cNvSpPr txBox="1"/>
          <p:nvPr>
            <p:ph idx="1" type="body"/>
          </p:nvPr>
        </p:nvSpPr>
        <p:spPr>
          <a:xfrm>
            <a:off x="304800" y="990600"/>
            <a:ext cx="11432116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you think of other decisions we can ask Cross Validation to make for us, based on other machine learning algorithms in the class so far?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9933FF"/>
                </a:solidFill>
                <a:latin typeface="Arial"/>
                <a:ea typeface="Arial"/>
                <a:cs typeface="Arial"/>
                <a:sym typeface="Arial"/>
              </a:rPr>
              <a:t>Degree of polynomial in polynomial regression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9933FF"/>
                </a:solidFill>
                <a:latin typeface="Arial"/>
                <a:ea typeface="Arial"/>
                <a:cs typeface="Arial"/>
                <a:sym typeface="Arial"/>
              </a:rPr>
              <a:t>Whether to use full, diagonal or spherical Gaussians in a Gaussian Bayes Classifier.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9933FF"/>
                </a:solidFill>
                <a:latin typeface="Arial"/>
                <a:ea typeface="Arial"/>
                <a:cs typeface="Arial"/>
                <a:sym typeface="Arial"/>
              </a:rPr>
              <a:t>The Kernel Width in Kernel Regression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9933FF"/>
                </a:solidFill>
                <a:latin typeface="Arial"/>
                <a:ea typeface="Arial"/>
                <a:cs typeface="Arial"/>
                <a:sym typeface="Arial"/>
              </a:rPr>
              <a:t>The Kernel Width in Locally Weighted Regression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9933FF"/>
                </a:solidFill>
                <a:latin typeface="Arial"/>
                <a:ea typeface="Arial"/>
                <a:cs typeface="Arial"/>
                <a:sym typeface="Arial"/>
              </a:rPr>
              <a:t>The Bayesian Prior in Bayesian Regression</a:t>
            </a:r>
            <a:endParaRPr/>
          </a:p>
        </p:txBody>
      </p:sp>
      <p:sp>
        <p:nvSpPr>
          <p:cNvPr id="1405" name="Google Shape;1405;p59"/>
          <p:cNvSpPr/>
          <p:nvPr/>
        </p:nvSpPr>
        <p:spPr>
          <a:xfrm>
            <a:off x="609600" y="3200400"/>
            <a:ext cx="406400" cy="1066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99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59"/>
          <p:cNvSpPr txBox="1"/>
          <p:nvPr/>
        </p:nvSpPr>
        <p:spPr>
          <a:xfrm>
            <a:off x="1219200" y="4572000"/>
            <a:ext cx="4470400" cy="155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99CC"/>
                </a:solidFill>
                <a:latin typeface="Arial"/>
                <a:ea typeface="Arial"/>
                <a:cs typeface="Arial"/>
                <a:sym typeface="Arial"/>
              </a:rPr>
              <a:t>These involve choosing the value of a real-valued parameter. What should we do?</a:t>
            </a:r>
            <a:endParaRPr/>
          </a:p>
        </p:txBody>
      </p:sp>
      <p:sp>
        <p:nvSpPr>
          <p:cNvPr id="1407" name="Google Shape;1407;p59"/>
          <p:cNvSpPr/>
          <p:nvPr/>
        </p:nvSpPr>
        <p:spPr>
          <a:xfrm>
            <a:off x="203200" y="3733800"/>
            <a:ext cx="1145116" cy="1069975"/>
          </a:xfrm>
          <a:custGeom>
            <a:rect b="b" l="l" r="r" t="t"/>
            <a:pathLst>
              <a:path extrusionOk="0" h="674" w="541">
                <a:moveTo>
                  <a:pt x="138" y="0"/>
                </a:moveTo>
                <a:cubicBezTo>
                  <a:pt x="109" y="8"/>
                  <a:pt x="87" y="38"/>
                  <a:pt x="63" y="56"/>
                </a:cubicBezTo>
                <a:cubicBezTo>
                  <a:pt x="53" y="72"/>
                  <a:pt x="46" y="88"/>
                  <a:pt x="35" y="103"/>
                </a:cubicBezTo>
                <a:cubicBezTo>
                  <a:pt x="29" y="122"/>
                  <a:pt x="19" y="140"/>
                  <a:pt x="12" y="159"/>
                </a:cubicBezTo>
                <a:cubicBezTo>
                  <a:pt x="13" y="176"/>
                  <a:pt x="0" y="271"/>
                  <a:pt x="31" y="299"/>
                </a:cubicBezTo>
                <a:cubicBezTo>
                  <a:pt x="37" y="319"/>
                  <a:pt x="39" y="326"/>
                  <a:pt x="54" y="341"/>
                </a:cubicBezTo>
                <a:cubicBezTo>
                  <a:pt x="66" y="376"/>
                  <a:pt x="49" y="334"/>
                  <a:pt x="73" y="365"/>
                </a:cubicBezTo>
                <a:cubicBezTo>
                  <a:pt x="76" y="369"/>
                  <a:pt x="75" y="375"/>
                  <a:pt x="78" y="379"/>
                </a:cubicBezTo>
                <a:cubicBezTo>
                  <a:pt x="89" y="395"/>
                  <a:pt x="104" y="411"/>
                  <a:pt x="120" y="421"/>
                </a:cubicBezTo>
                <a:cubicBezTo>
                  <a:pt x="130" y="456"/>
                  <a:pt x="189" y="478"/>
                  <a:pt x="218" y="496"/>
                </a:cubicBezTo>
                <a:cubicBezTo>
                  <a:pt x="231" y="504"/>
                  <a:pt x="260" y="515"/>
                  <a:pt x="260" y="515"/>
                </a:cubicBezTo>
                <a:cubicBezTo>
                  <a:pt x="287" y="542"/>
                  <a:pt x="323" y="546"/>
                  <a:pt x="354" y="566"/>
                </a:cubicBezTo>
                <a:cubicBezTo>
                  <a:pt x="386" y="588"/>
                  <a:pt x="417" y="602"/>
                  <a:pt x="452" y="618"/>
                </a:cubicBezTo>
                <a:cubicBezTo>
                  <a:pt x="474" y="628"/>
                  <a:pt x="490" y="647"/>
                  <a:pt x="513" y="655"/>
                </a:cubicBezTo>
                <a:cubicBezTo>
                  <a:pt x="521" y="664"/>
                  <a:pt x="528" y="674"/>
                  <a:pt x="541" y="674"/>
                </a:cubicBezTo>
              </a:path>
            </a:pathLst>
          </a:custGeom>
          <a:noFill/>
          <a:ln cap="flat" cmpd="sng" w="38100">
            <a:solidFill>
              <a:srgbClr val="0099CC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59"/>
          <p:cNvSpPr txBox="1"/>
          <p:nvPr/>
        </p:nvSpPr>
        <p:spPr>
          <a:xfrm>
            <a:off x="5791200" y="4648200"/>
            <a:ext cx="6096000" cy="1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One: Consider a discrete set of values (often best to consider a set of values with exponentially increasing gaps, as in the K-NN example).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Two: Compute                       and then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gradianet descent.</a:t>
            </a:r>
            <a:endParaRPr/>
          </a:p>
        </p:txBody>
      </p:sp>
      <p:pic>
        <p:nvPicPr>
          <p:cNvPr id="1409" name="Google Shape;140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1200" y="5638800"/>
            <a:ext cx="1219200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60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CV-based Model Selection</a:t>
            </a:r>
            <a:endParaRPr/>
          </a:p>
        </p:txBody>
      </p:sp>
      <p:sp>
        <p:nvSpPr>
          <p:cNvPr id="1415" name="Google Shape;1415;p60"/>
          <p:cNvSpPr txBox="1"/>
          <p:nvPr>
            <p:ph idx="1" type="body"/>
          </p:nvPr>
        </p:nvSpPr>
        <p:spPr>
          <a:xfrm>
            <a:off x="304800" y="990600"/>
            <a:ext cx="11432116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you think of other decisions we can ask Cross Validation to make for us, based on other machine learning algorithms in the class so far?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9933FF"/>
                </a:solidFill>
                <a:latin typeface="Arial"/>
                <a:ea typeface="Arial"/>
                <a:cs typeface="Arial"/>
                <a:sym typeface="Arial"/>
              </a:rPr>
              <a:t>Degree of polynomial in polynomial regression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9933FF"/>
                </a:solidFill>
                <a:latin typeface="Arial"/>
                <a:ea typeface="Arial"/>
                <a:cs typeface="Arial"/>
                <a:sym typeface="Arial"/>
              </a:rPr>
              <a:t>Whether to use full, diagonal or spherical Gaussians in a Gaussian Bayes Classifier.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9933FF"/>
                </a:solidFill>
                <a:latin typeface="Arial"/>
                <a:ea typeface="Arial"/>
                <a:cs typeface="Arial"/>
                <a:sym typeface="Arial"/>
              </a:rPr>
              <a:t>The Kernel Width in Kernel Regression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9933FF"/>
                </a:solidFill>
                <a:latin typeface="Arial"/>
                <a:ea typeface="Arial"/>
                <a:cs typeface="Arial"/>
                <a:sym typeface="Arial"/>
              </a:rPr>
              <a:t>The Kernel Width in Locally Weighted Regression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9933FF"/>
                </a:solidFill>
                <a:latin typeface="Arial"/>
                <a:ea typeface="Arial"/>
                <a:cs typeface="Arial"/>
                <a:sym typeface="Arial"/>
              </a:rPr>
              <a:t>The Bayesian Prior in Bayesian Regression</a:t>
            </a:r>
            <a:endParaRPr/>
          </a:p>
        </p:txBody>
      </p:sp>
      <p:sp>
        <p:nvSpPr>
          <p:cNvPr id="1416" name="Google Shape;1416;p60"/>
          <p:cNvSpPr/>
          <p:nvPr/>
        </p:nvSpPr>
        <p:spPr>
          <a:xfrm>
            <a:off x="609600" y="3200400"/>
            <a:ext cx="406400" cy="1066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99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60"/>
          <p:cNvSpPr txBox="1"/>
          <p:nvPr/>
        </p:nvSpPr>
        <p:spPr>
          <a:xfrm>
            <a:off x="1219200" y="4572000"/>
            <a:ext cx="4470400" cy="155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CC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99CC"/>
                </a:solidFill>
                <a:latin typeface="Arial"/>
                <a:ea typeface="Arial"/>
                <a:cs typeface="Arial"/>
                <a:sym typeface="Arial"/>
              </a:rPr>
              <a:t>These involve choosing the value of a real-valued parameter. What should we do?</a:t>
            </a:r>
            <a:endParaRPr/>
          </a:p>
        </p:txBody>
      </p:sp>
      <p:sp>
        <p:nvSpPr>
          <p:cNvPr id="1418" name="Google Shape;1418;p60"/>
          <p:cNvSpPr/>
          <p:nvPr/>
        </p:nvSpPr>
        <p:spPr>
          <a:xfrm>
            <a:off x="203200" y="3733800"/>
            <a:ext cx="1145116" cy="1069975"/>
          </a:xfrm>
          <a:custGeom>
            <a:rect b="b" l="l" r="r" t="t"/>
            <a:pathLst>
              <a:path extrusionOk="0" h="674" w="541">
                <a:moveTo>
                  <a:pt x="138" y="0"/>
                </a:moveTo>
                <a:cubicBezTo>
                  <a:pt x="109" y="8"/>
                  <a:pt x="87" y="38"/>
                  <a:pt x="63" y="56"/>
                </a:cubicBezTo>
                <a:cubicBezTo>
                  <a:pt x="53" y="72"/>
                  <a:pt x="46" y="88"/>
                  <a:pt x="35" y="103"/>
                </a:cubicBezTo>
                <a:cubicBezTo>
                  <a:pt x="29" y="122"/>
                  <a:pt x="19" y="140"/>
                  <a:pt x="12" y="159"/>
                </a:cubicBezTo>
                <a:cubicBezTo>
                  <a:pt x="13" y="176"/>
                  <a:pt x="0" y="271"/>
                  <a:pt x="31" y="299"/>
                </a:cubicBezTo>
                <a:cubicBezTo>
                  <a:pt x="37" y="319"/>
                  <a:pt x="39" y="326"/>
                  <a:pt x="54" y="341"/>
                </a:cubicBezTo>
                <a:cubicBezTo>
                  <a:pt x="66" y="376"/>
                  <a:pt x="49" y="334"/>
                  <a:pt x="73" y="365"/>
                </a:cubicBezTo>
                <a:cubicBezTo>
                  <a:pt x="76" y="369"/>
                  <a:pt x="75" y="375"/>
                  <a:pt x="78" y="379"/>
                </a:cubicBezTo>
                <a:cubicBezTo>
                  <a:pt x="89" y="395"/>
                  <a:pt x="104" y="411"/>
                  <a:pt x="120" y="421"/>
                </a:cubicBezTo>
                <a:cubicBezTo>
                  <a:pt x="130" y="456"/>
                  <a:pt x="189" y="478"/>
                  <a:pt x="218" y="496"/>
                </a:cubicBezTo>
                <a:cubicBezTo>
                  <a:pt x="231" y="504"/>
                  <a:pt x="260" y="515"/>
                  <a:pt x="260" y="515"/>
                </a:cubicBezTo>
                <a:cubicBezTo>
                  <a:pt x="287" y="542"/>
                  <a:pt x="323" y="546"/>
                  <a:pt x="354" y="566"/>
                </a:cubicBezTo>
                <a:cubicBezTo>
                  <a:pt x="386" y="588"/>
                  <a:pt x="417" y="602"/>
                  <a:pt x="452" y="618"/>
                </a:cubicBezTo>
                <a:cubicBezTo>
                  <a:pt x="474" y="628"/>
                  <a:pt x="490" y="647"/>
                  <a:pt x="513" y="655"/>
                </a:cubicBezTo>
                <a:cubicBezTo>
                  <a:pt x="521" y="664"/>
                  <a:pt x="528" y="674"/>
                  <a:pt x="541" y="674"/>
                </a:cubicBezTo>
              </a:path>
            </a:pathLst>
          </a:custGeom>
          <a:noFill/>
          <a:ln cap="flat" cmpd="sng" w="38100">
            <a:solidFill>
              <a:srgbClr val="0099CC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60"/>
          <p:cNvSpPr txBox="1"/>
          <p:nvPr/>
        </p:nvSpPr>
        <p:spPr>
          <a:xfrm>
            <a:off x="5791200" y="4648200"/>
            <a:ext cx="6096000" cy="1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One: Consider a discrete set of values (often best to consider a set of values with exponentially increasing gaps, as in the K-NN example).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Two: Compute                       and then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gradianet descent.</a:t>
            </a:r>
            <a:endParaRPr/>
          </a:p>
        </p:txBody>
      </p:sp>
      <p:pic>
        <p:nvPicPr>
          <p:cNvPr id="1420" name="Google Shape;142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1200" y="5638800"/>
            <a:ext cx="121920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1" name="Google Shape;1421;p60"/>
          <p:cNvSpPr txBox="1"/>
          <p:nvPr/>
        </p:nvSpPr>
        <p:spPr>
          <a:xfrm rot="-315686">
            <a:off x="5189891" y="3594907"/>
            <a:ext cx="6375751" cy="827061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Also: The scale factors of a non-parametric distance metric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6" name="Google Shape;1426;p61"/>
          <p:cNvGraphicFramePr/>
          <p:nvPr/>
        </p:nvGraphicFramePr>
        <p:xfrm>
          <a:off x="304800" y="266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{52146CE6-D6A4-4DAA-89F6-177008287AB8}</a:tableStyleId>
              </a:tblPr>
              <a:tblGrid>
                <a:gridCol w="2222500"/>
                <a:gridCol w="1930400"/>
                <a:gridCol w="4775200"/>
                <a:gridCol w="1320800"/>
              </a:tblGrid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Algorithm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TRAINERR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10-fold-CV-ERR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Choice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1-NN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10-NN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Linear Reg’n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Quad reg’n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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LWR, KW=0.1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LWR, KW=0.5</a:t>
                      </a:r>
                      <a:endParaRPr/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33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7" name="Google Shape;1427;p61"/>
          <p:cNvSpPr/>
          <p:nvPr/>
        </p:nvSpPr>
        <p:spPr>
          <a:xfrm>
            <a:off x="4468283" y="3113087"/>
            <a:ext cx="3659716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61"/>
          <p:cNvSpPr/>
          <p:nvPr/>
        </p:nvSpPr>
        <p:spPr>
          <a:xfrm>
            <a:off x="4468283" y="3570287"/>
            <a:ext cx="1729316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61"/>
          <p:cNvSpPr/>
          <p:nvPr/>
        </p:nvSpPr>
        <p:spPr>
          <a:xfrm>
            <a:off x="4468283" y="3951287"/>
            <a:ext cx="3253316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61"/>
          <p:cNvSpPr/>
          <p:nvPr/>
        </p:nvSpPr>
        <p:spPr>
          <a:xfrm>
            <a:off x="4468283" y="4332287"/>
            <a:ext cx="408516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61"/>
          <p:cNvSpPr/>
          <p:nvPr/>
        </p:nvSpPr>
        <p:spPr>
          <a:xfrm>
            <a:off x="4468283" y="4713287"/>
            <a:ext cx="510116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61"/>
          <p:cNvSpPr/>
          <p:nvPr/>
        </p:nvSpPr>
        <p:spPr>
          <a:xfrm>
            <a:off x="4468283" y="5094287"/>
            <a:ext cx="2237316" cy="228600"/>
          </a:xfrm>
          <a:prstGeom prst="rect">
            <a:avLst/>
          </a:prstGeom>
          <a:solidFill>
            <a:srgbClr val="00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61"/>
          <p:cNvSpPr/>
          <p:nvPr/>
        </p:nvSpPr>
        <p:spPr>
          <a:xfrm>
            <a:off x="2531533" y="3570287"/>
            <a:ext cx="618067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61"/>
          <p:cNvSpPr/>
          <p:nvPr/>
        </p:nvSpPr>
        <p:spPr>
          <a:xfrm>
            <a:off x="2531533" y="3951287"/>
            <a:ext cx="1634067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61"/>
          <p:cNvSpPr/>
          <p:nvPr/>
        </p:nvSpPr>
        <p:spPr>
          <a:xfrm>
            <a:off x="2531533" y="4332287"/>
            <a:ext cx="821267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61"/>
          <p:cNvSpPr/>
          <p:nvPr/>
        </p:nvSpPr>
        <p:spPr>
          <a:xfrm>
            <a:off x="2531533" y="4713287"/>
            <a:ext cx="1024467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61"/>
          <p:cNvSpPr/>
          <p:nvPr/>
        </p:nvSpPr>
        <p:spPr>
          <a:xfrm>
            <a:off x="2531533" y="5094287"/>
            <a:ext cx="1735667" cy="228600"/>
          </a:xfrm>
          <a:prstGeom prst="rect">
            <a:avLst/>
          </a:prstGeom>
          <a:solidFill>
            <a:srgbClr val="C2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61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CV-based Algorithm Choice</a:t>
            </a:r>
            <a:endParaRPr/>
          </a:p>
        </p:txBody>
      </p:sp>
      <p:sp>
        <p:nvSpPr>
          <p:cNvPr id="1439" name="Google Shape;1439;p61"/>
          <p:cNvSpPr txBox="1"/>
          <p:nvPr>
            <p:ph idx="1" type="body"/>
          </p:nvPr>
        </p:nvSpPr>
        <p:spPr>
          <a:xfrm>
            <a:off x="304800" y="990600"/>
            <a:ext cx="11432116" cy="178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Choosing which regression algorithm to use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Compute 10-fold-CV error for six different model classes:</a:t>
            </a:r>
            <a:endParaRPr/>
          </a:p>
        </p:txBody>
      </p:sp>
      <p:sp>
        <p:nvSpPr>
          <p:cNvPr id="1440" name="Google Shape;1440;p61"/>
          <p:cNvSpPr txBox="1"/>
          <p:nvPr/>
        </p:nvSpPr>
        <p:spPr>
          <a:xfrm>
            <a:off x="304800" y="5562600"/>
            <a:ext cx="11432116" cy="947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2: Whichever algorithm gave best CV score: train it with all the data, and that’s the predictive model you’ll use.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62"/>
          <p:cNvSpPr txBox="1"/>
          <p:nvPr>
            <p:ph idx="1" type="body"/>
          </p:nvPr>
        </p:nvSpPr>
        <p:spPr>
          <a:xfrm>
            <a:off x="304800" y="990600"/>
            <a:ext cx="11432116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selection methods: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Cross-validation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AIC (Akaike Information Criterion)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BIC (Bayesian Information Criterion)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VC-dimension (Vapnik-Chervonenkis  Dimension)</a:t>
            </a:r>
            <a:endParaRPr/>
          </a:p>
        </p:txBody>
      </p:sp>
      <p:sp>
        <p:nvSpPr>
          <p:cNvPr id="1446" name="Google Shape;1446;p62"/>
          <p:cNvSpPr/>
          <p:nvPr/>
        </p:nvSpPr>
        <p:spPr>
          <a:xfrm>
            <a:off x="7721600" y="4572000"/>
            <a:ext cx="3860800" cy="1828800"/>
          </a:xfrm>
          <a:prstGeom prst="wedgeRectCallout">
            <a:avLst>
              <a:gd fmla="val 853" name="adj1"/>
              <a:gd fmla="val -14381" name="adj2"/>
            </a:avLst>
          </a:prstGeom>
          <a:solidFill>
            <a:srgbClr val="CCFFCC"/>
          </a:solidFill>
          <a:ln cap="flat" cmpd="sng" w="12700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directly applicable to choosing classifiers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Described in a future Lecture</a:t>
            </a:r>
            <a:endParaRPr/>
          </a:p>
        </p:txBody>
      </p:sp>
      <p:sp>
        <p:nvSpPr>
          <p:cNvPr id="1447" name="Google Shape;1447;p62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Alternatives to CV-based model selection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63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Which model selection method is best?</a:t>
            </a:r>
            <a:endParaRPr/>
          </a:p>
        </p:txBody>
      </p:sp>
      <p:sp>
        <p:nvSpPr>
          <p:cNvPr id="1453" name="Google Shape;1453;p63"/>
          <p:cNvSpPr txBox="1"/>
          <p:nvPr>
            <p:ph idx="1" type="body"/>
          </p:nvPr>
        </p:nvSpPr>
        <p:spPr>
          <a:xfrm>
            <a:off x="101600" y="990600"/>
            <a:ext cx="119888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(CV) Cross-validation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AIC (Akaike Information Criterion)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BIC (Bayesian Information Criterion)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(SRMVC) Structural Risk Minimize with VC-dimension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AIC, BIC and SRMVC advantage: you only need the training error.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CV error might have more variance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SRMVC is wildly conservative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Asymptotically AIC and Leave-one-out CV should be the same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Asymptotically BIC and carefully chosen k-fold should be same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You want BIC if you want the best structure instead of the best predictor (e.g. for clustering or Bayes Net structure finding)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Many alternatives---including proper Bayesian approaches.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It’s an emotional issue.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64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Other Cross-validation issues</a:t>
            </a:r>
            <a:endParaRPr/>
          </a:p>
        </p:txBody>
      </p:sp>
      <p:sp>
        <p:nvSpPr>
          <p:cNvPr id="1459" name="Google Shape;1459;p64"/>
          <p:cNvSpPr txBox="1"/>
          <p:nvPr>
            <p:ph idx="1" type="body"/>
          </p:nvPr>
        </p:nvSpPr>
        <p:spPr>
          <a:xfrm>
            <a:off x="304800" y="990600"/>
            <a:ext cx="11432116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do “leave all pairs out” or “leave-all-ntuples-out” if feeling resourceful.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folks do k-folds in which each fold is an independently-chosen subset of the data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you know what AIC and BIC are?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If so…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LOOCV behaves like AIC asymptotically.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k-fold behaves like BIC if you choose k carefully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If not…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Nyardely nyardely nyoo nyoo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65"/>
          <p:cNvSpPr txBox="1"/>
          <p:nvPr>
            <p:ph type="title"/>
          </p:nvPr>
        </p:nvSpPr>
        <p:spPr>
          <a:xfrm>
            <a:off x="402167" y="165100"/>
            <a:ext cx="113792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Cross-Validation for regression</a:t>
            </a:r>
            <a:endParaRPr/>
          </a:p>
        </p:txBody>
      </p:sp>
      <p:sp>
        <p:nvSpPr>
          <p:cNvPr id="1465" name="Google Shape;1465;p65"/>
          <p:cNvSpPr txBox="1"/>
          <p:nvPr>
            <p:ph idx="1" type="body"/>
          </p:nvPr>
        </p:nvSpPr>
        <p:spPr>
          <a:xfrm>
            <a:off x="304800" y="1527175"/>
            <a:ext cx="11432116" cy="494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Choosing the number of hidden units in a neural net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selection (see later)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Choosing a polynomial degree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Choosing which regressor to use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66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Supervising Gradient Descent</a:t>
            </a:r>
            <a:endParaRPr/>
          </a:p>
        </p:txBody>
      </p:sp>
      <p:sp>
        <p:nvSpPr>
          <p:cNvPr id="1471" name="Google Shape;1471;p66"/>
          <p:cNvSpPr txBox="1"/>
          <p:nvPr>
            <p:ph idx="1" type="body"/>
          </p:nvPr>
        </p:nvSpPr>
        <p:spPr>
          <a:xfrm>
            <a:off x="304800" y="990600"/>
            <a:ext cx="11432116" cy="3279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a weird but common use of Test-set validation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you have a neural net with too many hidden units. It will overfit.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gradient descent progresses, maintain a graph of MSE-testset-error vs. Iteration</a:t>
            </a:r>
            <a:endParaRPr/>
          </a:p>
        </p:txBody>
      </p:sp>
      <p:cxnSp>
        <p:nvCxnSpPr>
          <p:cNvPr id="1472" name="Google Shape;1472;p66"/>
          <p:cNvCxnSpPr/>
          <p:nvPr/>
        </p:nvCxnSpPr>
        <p:spPr>
          <a:xfrm>
            <a:off x="2438400" y="4191000"/>
            <a:ext cx="0" cy="198120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73" name="Google Shape;1473;p66"/>
          <p:cNvCxnSpPr/>
          <p:nvPr/>
        </p:nvCxnSpPr>
        <p:spPr>
          <a:xfrm>
            <a:off x="2235200" y="6019800"/>
            <a:ext cx="6400800" cy="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74" name="Google Shape;1474;p66"/>
          <p:cNvSpPr txBox="1"/>
          <p:nvPr/>
        </p:nvSpPr>
        <p:spPr>
          <a:xfrm>
            <a:off x="2844800" y="6078537"/>
            <a:ext cx="39624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of Gradient Descent</a:t>
            </a:r>
            <a:endParaRPr/>
          </a:p>
        </p:txBody>
      </p:sp>
      <p:cxnSp>
        <p:nvCxnSpPr>
          <p:cNvPr id="1475" name="Google Shape;1475;p66"/>
          <p:cNvCxnSpPr/>
          <p:nvPr/>
        </p:nvCxnSpPr>
        <p:spPr>
          <a:xfrm>
            <a:off x="6908800" y="6248400"/>
            <a:ext cx="142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476" name="Google Shape;1476;p66"/>
          <p:cNvSpPr txBox="1"/>
          <p:nvPr/>
        </p:nvSpPr>
        <p:spPr>
          <a:xfrm rot="-5400000">
            <a:off x="957526" y="4878651"/>
            <a:ext cx="1979612" cy="448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Mean Squared Error</a:t>
            </a:r>
            <a:endParaRPr/>
          </a:p>
        </p:txBody>
      </p:sp>
      <p:sp>
        <p:nvSpPr>
          <p:cNvPr id="1477" name="Google Shape;1477;p66"/>
          <p:cNvSpPr/>
          <p:nvPr/>
        </p:nvSpPr>
        <p:spPr>
          <a:xfrm>
            <a:off x="2455333" y="4303712"/>
            <a:ext cx="4404783" cy="1719262"/>
          </a:xfrm>
          <a:custGeom>
            <a:rect b="b" l="l" r="r" t="t"/>
            <a:pathLst>
              <a:path extrusionOk="0" h="1083" w="2081">
                <a:moveTo>
                  <a:pt x="0" y="0"/>
                </a:moveTo>
                <a:cubicBezTo>
                  <a:pt x="37" y="24"/>
                  <a:pt x="61" y="72"/>
                  <a:pt x="100" y="85"/>
                </a:cubicBezTo>
                <a:cubicBezTo>
                  <a:pt x="129" y="114"/>
                  <a:pt x="159" y="127"/>
                  <a:pt x="192" y="146"/>
                </a:cubicBezTo>
                <a:cubicBezTo>
                  <a:pt x="267" y="188"/>
                  <a:pt x="211" y="169"/>
                  <a:pt x="261" y="184"/>
                </a:cubicBezTo>
                <a:cubicBezTo>
                  <a:pt x="410" y="288"/>
                  <a:pt x="548" y="410"/>
                  <a:pt x="660" y="553"/>
                </a:cubicBezTo>
                <a:cubicBezTo>
                  <a:pt x="675" y="572"/>
                  <a:pt x="731" y="658"/>
                  <a:pt x="737" y="676"/>
                </a:cubicBezTo>
                <a:cubicBezTo>
                  <a:pt x="742" y="691"/>
                  <a:pt x="744" y="708"/>
                  <a:pt x="752" y="722"/>
                </a:cubicBezTo>
                <a:cubicBezTo>
                  <a:pt x="785" y="777"/>
                  <a:pt x="834" y="820"/>
                  <a:pt x="883" y="860"/>
                </a:cubicBezTo>
                <a:cubicBezTo>
                  <a:pt x="892" y="868"/>
                  <a:pt x="903" y="885"/>
                  <a:pt x="914" y="891"/>
                </a:cubicBezTo>
                <a:cubicBezTo>
                  <a:pt x="935" y="903"/>
                  <a:pt x="961" y="911"/>
                  <a:pt x="983" y="922"/>
                </a:cubicBezTo>
                <a:cubicBezTo>
                  <a:pt x="1026" y="944"/>
                  <a:pt x="1084" y="988"/>
                  <a:pt x="1136" y="991"/>
                </a:cubicBezTo>
                <a:cubicBezTo>
                  <a:pt x="1180" y="993"/>
                  <a:pt x="1223" y="996"/>
                  <a:pt x="1267" y="998"/>
                </a:cubicBezTo>
                <a:cubicBezTo>
                  <a:pt x="1352" y="1011"/>
                  <a:pt x="1435" y="1052"/>
                  <a:pt x="1520" y="1060"/>
                </a:cubicBezTo>
                <a:cubicBezTo>
                  <a:pt x="1706" y="1078"/>
                  <a:pt x="1895" y="1083"/>
                  <a:pt x="2081" y="1083"/>
                </a:cubicBezTo>
              </a:path>
            </a:pathLst>
          </a:custGeom>
          <a:noFill/>
          <a:ln cap="flat" cmpd="sng" w="28575">
            <a:solidFill>
              <a:schemeClr val="folHlink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66"/>
          <p:cNvSpPr txBox="1"/>
          <p:nvPr/>
        </p:nvSpPr>
        <p:spPr>
          <a:xfrm>
            <a:off x="7721600" y="4419600"/>
            <a:ext cx="3759200" cy="1004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Training Set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993366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Test Set</a:t>
            </a:r>
            <a:endParaRPr/>
          </a:p>
        </p:txBody>
      </p:sp>
      <p:sp>
        <p:nvSpPr>
          <p:cNvPr id="1479" name="Google Shape;1479;p66"/>
          <p:cNvSpPr/>
          <p:nvPr/>
        </p:nvSpPr>
        <p:spPr>
          <a:xfrm>
            <a:off x="2438400" y="4254500"/>
            <a:ext cx="3706283" cy="1135062"/>
          </a:xfrm>
          <a:custGeom>
            <a:rect b="b" l="l" r="r" t="t"/>
            <a:pathLst>
              <a:path extrusionOk="0" h="715" w="1751">
                <a:moveTo>
                  <a:pt x="0" y="0"/>
                </a:moveTo>
                <a:cubicBezTo>
                  <a:pt x="58" y="5"/>
                  <a:pt x="95" y="7"/>
                  <a:pt x="146" y="23"/>
                </a:cubicBezTo>
                <a:cubicBezTo>
                  <a:pt x="163" y="42"/>
                  <a:pt x="207" y="69"/>
                  <a:pt x="207" y="69"/>
                </a:cubicBezTo>
                <a:cubicBezTo>
                  <a:pt x="233" y="107"/>
                  <a:pt x="216" y="85"/>
                  <a:pt x="261" y="131"/>
                </a:cubicBezTo>
                <a:cubicBezTo>
                  <a:pt x="288" y="159"/>
                  <a:pt x="314" y="210"/>
                  <a:pt x="330" y="246"/>
                </a:cubicBezTo>
                <a:cubicBezTo>
                  <a:pt x="368" y="330"/>
                  <a:pt x="364" y="392"/>
                  <a:pt x="438" y="461"/>
                </a:cubicBezTo>
                <a:cubicBezTo>
                  <a:pt x="457" y="524"/>
                  <a:pt x="430" y="447"/>
                  <a:pt x="461" y="500"/>
                </a:cubicBezTo>
                <a:cubicBezTo>
                  <a:pt x="465" y="507"/>
                  <a:pt x="462" y="517"/>
                  <a:pt x="468" y="523"/>
                </a:cubicBezTo>
                <a:cubicBezTo>
                  <a:pt x="474" y="529"/>
                  <a:pt x="484" y="528"/>
                  <a:pt x="492" y="530"/>
                </a:cubicBezTo>
                <a:cubicBezTo>
                  <a:pt x="518" y="558"/>
                  <a:pt x="565" y="567"/>
                  <a:pt x="599" y="584"/>
                </a:cubicBezTo>
                <a:cubicBezTo>
                  <a:pt x="690" y="629"/>
                  <a:pt x="787" y="646"/>
                  <a:pt x="883" y="676"/>
                </a:cubicBezTo>
                <a:cubicBezTo>
                  <a:pt x="924" y="689"/>
                  <a:pt x="964" y="704"/>
                  <a:pt x="1006" y="715"/>
                </a:cubicBezTo>
                <a:cubicBezTo>
                  <a:pt x="1091" y="712"/>
                  <a:pt x="1175" y="712"/>
                  <a:pt x="1260" y="707"/>
                </a:cubicBezTo>
                <a:cubicBezTo>
                  <a:pt x="1319" y="704"/>
                  <a:pt x="1415" y="656"/>
                  <a:pt x="1475" y="638"/>
                </a:cubicBezTo>
                <a:cubicBezTo>
                  <a:pt x="1521" y="624"/>
                  <a:pt x="1567" y="607"/>
                  <a:pt x="1613" y="592"/>
                </a:cubicBezTo>
                <a:cubicBezTo>
                  <a:pt x="1751" y="546"/>
                  <a:pt x="1590" y="597"/>
                  <a:pt x="1690" y="569"/>
                </a:cubicBezTo>
                <a:cubicBezTo>
                  <a:pt x="1698" y="567"/>
                  <a:pt x="1713" y="561"/>
                  <a:pt x="1713" y="561"/>
                </a:cubicBezTo>
              </a:path>
            </a:pathLst>
          </a:custGeom>
          <a:noFill/>
          <a:ln cap="flat" cmpd="sng" w="28575">
            <a:solidFill>
              <a:srgbClr val="993366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0" name="Google Shape;1480;p66"/>
          <p:cNvCxnSpPr/>
          <p:nvPr/>
        </p:nvCxnSpPr>
        <p:spPr>
          <a:xfrm>
            <a:off x="4572000" y="5181600"/>
            <a:ext cx="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481" name="Google Shape;1481;p66"/>
          <p:cNvSpPr txBox="1"/>
          <p:nvPr/>
        </p:nvSpPr>
        <p:spPr>
          <a:xfrm>
            <a:off x="4064000" y="4572000"/>
            <a:ext cx="27432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weights you found on this iteration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67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Supervising Gradient Descent</a:t>
            </a:r>
            <a:endParaRPr/>
          </a:p>
        </p:txBody>
      </p:sp>
      <p:sp>
        <p:nvSpPr>
          <p:cNvPr id="1487" name="Google Shape;1487;p67"/>
          <p:cNvSpPr txBox="1"/>
          <p:nvPr>
            <p:ph idx="1" type="body"/>
          </p:nvPr>
        </p:nvSpPr>
        <p:spPr>
          <a:xfrm>
            <a:off x="304800" y="990600"/>
            <a:ext cx="11432116" cy="3279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a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weird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but common use of Test-set validation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you have a neural net with too many hidden units. It will overfit.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gradient descent progresses, maintain a graph of MSE-testset-error vs. Iteration</a:t>
            </a:r>
            <a:endParaRPr/>
          </a:p>
        </p:txBody>
      </p:sp>
      <p:cxnSp>
        <p:nvCxnSpPr>
          <p:cNvPr id="1488" name="Google Shape;1488;p67"/>
          <p:cNvCxnSpPr/>
          <p:nvPr/>
        </p:nvCxnSpPr>
        <p:spPr>
          <a:xfrm>
            <a:off x="2438400" y="4191000"/>
            <a:ext cx="0" cy="198120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89" name="Google Shape;1489;p67"/>
          <p:cNvCxnSpPr/>
          <p:nvPr/>
        </p:nvCxnSpPr>
        <p:spPr>
          <a:xfrm>
            <a:off x="2235200" y="6019800"/>
            <a:ext cx="6400800" cy="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90" name="Google Shape;1490;p67"/>
          <p:cNvSpPr txBox="1"/>
          <p:nvPr/>
        </p:nvSpPr>
        <p:spPr>
          <a:xfrm>
            <a:off x="2844800" y="6078537"/>
            <a:ext cx="39624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of Gradient Descent</a:t>
            </a:r>
            <a:endParaRPr/>
          </a:p>
        </p:txBody>
      </p:sp>
      <p:cxnSp>
        <p:nvCxnSpPr>
          <p:cNvPr id="1491" name="Google Shape;1491;p67"/>
          <p:cNvCxnSpPr/>
          <p:nvPr/>
        </p:nvCxnSpPr>
        <p:spPr>
          <a:xfrm>
            <a:off x="6908800" y="6248400"/>
            <a:ext cx="142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492" name="Google Shape;1492;p67"/>
          <p:cNvSpPr txBox="1"/>
          <p:nvPr/>
        </p:nvSpPr>
        <p:spPr>
          <a:xfrm rot="-5400000">
            <a:off x="957526" y="4878651"/>
            <a:ext cx="1979612" cy="448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Mean Squared Error</a:t>
            </a:r>
            <a:endParaRPr/>
          </a:p>
        </p:txBody>
      </p:sp>
      <p:sp>
        <p:nvSpPr>
          <p:cNvPr id="1493" name="Google Shape;1493;p67"/>
          <p:cNvSpPr/>
          <p:nvPr/>
        </p:nvSpPr>
        <p:spPr>
          <a:xfrm>
            <a:off x="2455333" y="4303712"/>
            <a:ext cx="4404783" cy="1719262"/>
          </a:xfrm>
          <a:custGeom>
            <a:rect b="b" l="l" r="r" t="t"/>
            <a:pathLst>
              <a:path extrusionOk="0" h="1083" w="2081">
                <a:moveTo>
                  <a:pt x="0" y="0"/>
                </a:moveTo>
                <a:cubicBezTo>
                  <a:pt x="37" y="24"/>
                  <a:pt x="61" y="72"/>
                  <a:pt x="100" y="85"/>
                </a:cubicBezTo>
                <a:cubicBezTo>
                  <a:pt x="129" y="114"/>
                  <a:pt x="159" y="127"/>
                  <a:pt x="192" y="146"/>
                </a:cubicBezTo>
                <a:cubicBezTo>
                  <a:pt x="267" y="188"/>
                  <a:pt x="211" y="169"/>
                  <a:pt x="261" y="184"/>
                </a:cubicBezTo>
                <a:cubicBezTo>
                  <a:pt x="410" y="288"/>
                  <a:pt x="548" y="410"/>
                  <a:pt x="660" y="553"/>
                </a:cubicBezTo>
                <a:cubicBezTo>
                  <a:pt x="675" y="572"/>
                  <a:pt x="731" y="658"/>
                  <a:pt x="737" y="676"/>
                </a:cubicBezTo>
                <a:cubicBezTo>
                  <a:pt x="742" y="691"/>
                  <a:pt x="744" y="708"/>
                  <a:pt x="752" y="722"/>
                </a:cubicBezTo>
                <a:cubicBezTo>
                  <a:pt x="785" y="777"/>
                  <a:pt x="834" y="820"/>
                  <a:pt x="883" y="860"/>
                </a:cubicBezTo>
                <a:cubicBezTo>
                  <a:pt x="892" y="868"/>
                  <a:pt x="903" y="885"/>
                  <a:pt x="914" y="891"/>
                </a:cubicBezTo>
                <a:cubicBezTo>
                  <a:pt x="935" y="903"/>
                  <a:pt x="961" y="911"/>
                  <a:pt x="983" y="922"/>
                </a:cubicBezTo>
                <a:cubicBezTo>
                  <a:pt x="1026" y="944"/>
                  <a:pt x="1084" y="988"/>
                  <a:pt x="1136" y="991"/>
                </a:cubicBezTo>
                <a:cubicBezTo>
                  <a:pt x="1180" y="993"/>
                  <a:pt x="1223" y="996"/>
                  <a:pt x="1267" y="998"/>
                </a:cubicBezTo>
                <a:cubicBezTo>
                  <a:pt x="1352" y="1011"/>
                  <a:pt x="1435" y="1052"/>
                  <a:pt x="1520" y="1060"/>
                </a:cubicBezTo>
                <a:cubicBezTo>
                  <a:pt x="1706" y="1078"/>
                  <a:pt x="1895" y="1083"/>
                  <a:pt x="2081" y="1083"/>
                </a:cubicBezTo>
              </a:path>
            </a:pathLst>
          </a:custGeom>
          <a:noFill/>
          <a:ln cap="flat" cmpd="sng" w="28575">
            <a:solidFill>
              <a:schemeClr val="folHlink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67"/>
          <p:cNvSpPr txBox="1"/>
          <p:nvPr/>
        </p:nvSpPr>
        <p:spPr>
          <a:xfrm>
            <a:off x="7721600" y="4419600"/>
            <a:ext cx="3759200" cy="1004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Training Set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993366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Test Set</a:t>
            </a:r>
            <a:endParaRPr/>
          </a:p>
        </p:txBody>
      </p:sp>
      <p:sp>
        <p:nvSpPr>
          <p:cNvPr id="1495" name="Google Shape;1495;p67"/>
          <p:cNvSpPr/>
          <p:nvPr/>
        </p:nvSpPr>
        <p:spPr>
          <a:xfrm>
            <a:off x="2438400" y="4254500"/>
            <a:ext cx="3706283" cy="1135062"/>
          </a:xfrm>
          <a:custGeom>
            <a:rect b="b" l="l" r="r" t="t"/>
            <a:pathLst>
              <a:path extrusionOk="0" h="715" w="1751">
                <a:moveTo>
                  <a:pt x="0" y="0"/>
                </a:moveTo>
                <a:cubicBezTo>
                  <a:pt x="58" y="5"/>
                  <a:pt x="95" y="7"/>
                  <a:pt x="146" y="23"/>
                </a:cubicBezTo>
                <a:cubicBezTo>
                  <a:pt x="163" y="42"/>
                  <a:pt x="207" y="69"/>
                  <a:pt x="207" y="69"/>
                </a:cubicBezTo>
                <a:cubicBezTo>
                  <a:pt x="233" y="107"/>
                  <a:pt x="216" y="85"/>
                  <a:pt x="261" y="131"/>
                </a:cubicBezTo>
                <a:cubicBezTo>
                  <a:pt x="288" y="159"/>
                  <a:pt x="314" y="210"/>
                  <a:pt x="330" y="246"/>
                </a:cubicBezTo>
                <a:cubicBezTo>
                  <a:pt x="368" y="330"/>
                  <a:pt x="364" y="392"/>
                  <a:pt x="438" y="461"/>
                </a:cubicBezTo>
                <a:cubicBezTo>
                  <a:pt x="457" y="524"/>
                  <a:pt x="430" y="447"/>
                  <a:pt x="461" y="500"/>
                </a:cubicBezTo>
                <a:cubicBezTo>
                  <a:pt x="465" y="507"/>
                  <a:pt x="462" y="517"/>
                  <a:pt x="468" y="523"/>
                </a:cubicBezTo>
                <a:cubicBezTo>
                  <a:pt x="474" y="529"/>
                  <a:pt x="484" y="528"/>
                  <a:pt x="492" y="530"/>
                </a:cubicBezTo>
                <a:cubicBezTo>
                  <a:pt x="518" y="558"/>
                  <a:pt x="565" y="567"/>
                  <a:pt x="599" y="584"/>
                </a:cubicBezTo>
                <a:cubicBezTo>
                  <a:pt x="690" y="629"/>
                  <a:pt x="787" y="646"/>
                  <a:pt x="883" y="676"/>
                </a:cubicBezTo>
                <a:cubicBezTo>
                  <a:pt x="924" y="689"/>
                  <a:pt x="964" y="704"/>
                  <a:pt x="1006" y="715"/>
                </a:cubicBezTo>
                <a:cubicBezTo>
                  <a:pt x="1091" y="712"/>
                  <a:pt x="1175" y="712"/>
                  <a:pt x="1260" y="707"/>
                </a:cubicBezTo>
                <a:cubicBezTo>
                  <a:pt x="1319" y="704"/>
                  <a:pt x="1415" y="656"/>
                  <a:pt x="1475" y="638"/>
                </a:cubicBezTo>
                <a:cubicBezTo>
                  <a:pt x="1521" y="624"/>
                  <a:pt x="1567" y="607"/>
                  <a:pt x="1613" y="592"/>
                </a:cubicBezTo>
                <a:cubicBezTo>
                  <a:pt x="1751" y="546"/>
                  <a:pt x="1590" y="597"/>
                  <a:pt x="1690" y="569"/>
                </a:cubicBezTo>
                <a:cubicBezTo>
                  <a:pt x="1698" y="567"/>
                  <a:pt x="1713" y="561"/>
                  <a:pt x="1713" y="561"/>
                </a:cubicBezTo>
              </a:path>
            </a:pathLst>
          </a:custGeom>
          <a:noFill/>
          <a:ln cap="flat" cmpd="sng" w="28575">
            <a:solidFill>
              <a:srgbClr val="993366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6" name="Google Shape;1496;p67"/>
          <p:cNvCxnSpPr/>
          <p:nvPr/>
        </p:nvCxnSpPr>
        <p:spPr>
          <a:xfrm>
            <a:off x="4572000" y="5181600"/>
            <a:ext cx="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497" name="Google Shape;1497;p67"/>
          <p:cNvSpPr txBox="1"/>
          <p:nvPr/>
        </p:nvSpPr>
        <p:spPr>
          <a:xfrm>
            <a:off x="4064000" y="4572000"/>
            <a:ext cx="27432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weights you found on this iteration</a:t>
            </a:r>
            <a:endParaRPr/>
          </a:p>
        </p:txBody>
      </p:sp>
      <p:sp>
        <p:nvSpPr>
          <p:cNvPr id="1498" name="Google Shape;1498;p67"/>
          <p:cNvSpPr/>
          <p:nvPr/>
        </p:nvSpPr>
        <p:spPr>
          <a:xfrm>
            <a:off x="3759200" y="2438400"/>
            <a:ext cx="8229600" cy="1828800"/>
          </a:xfrm>
          <a:prstGeom prst="wedgeRectCallout">
            <a:avLst>
              <a:gd fmla="val 667" name="adj1"/>
              <a:gd fmla="val -10763" name="adj2"/>
            </a:avLst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Relies on an intuition that a not-fully-minimized set of weights is somewhat like having fewer parameters.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Works pretty well in practice, apparently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68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Cross-validation for classification</a:t>
            </a:r>
            <a:endParaRPr/>
          </a:p>
        </p:txBody>
      </p:sp>
      <p:sp>
        <p:nvSpPr>
          <p:cNvPr id="1504" name="Google Shape;1504;p68"/>
          <p:cNvSpPr txBox="1"/>
          <p:nvPr>
            <p:ph idx="1" type="body"/>
          </p:nvPr>
        </p:nvSpPr>
        <p:spPr>
          <a:xfrm>
            <a:off x="304800" y="990600"/>
            <a:ext cx="11432116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Instead of computing the sum squared errors on a test set, you should compute…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69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Cross-validation for classification</a:t>
            </a:r>
            <a:endParaRPr/>
          </a:p>
        </p:txBody>
      </p:sp>
      <p:sp>
        <p:nvSpPr>
          <p:cNvPr id="1510" name="Google Shape;1510;p69"/>
          <p:cNvSpPr txBox="1"/>
          <p:nvPr>
            <p:ph idx="1" type="body"/>
          </p:nvPr>
        </p:nvSpPr>
        <p:spPr>
          <a:xfrm>
            <a:off x="304800" y="990600"/>
            <a:ext cx="11432116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Instead of computing the sum squared errors on a test set, you should compute…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The total number of misclassifications on a testset.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70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Cross-validation for classification</a:t>
            </a:r>
            <a:endParaRPr/>
          </a:p>
        </p:txBody>
      </p:sp>
      <p:sp>
        <p:nvSpPr>
          <p:cNvPr id="1516" name="Google Shape;1516;p70"/>
          <p:cNvSpPr txBox="1"/>
          <p:nvPr>
            <p:ph idx="1" type="body"/>
          </p:nvPr>
        </p:nvSpPr>
        <p:spPr>
          <a:xfrm>
            <a:off x="304800" y="990600"/>
            <a:ext cx="11432116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Instead of computing the sum squared errors on a test set, you should compute…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The total number of misclassifications on a testset.</a:t>
            </a:r>
            <a:endParaRPr/>
          </a:p>
        </p:txBody>
      </p:sp>
      <p:cxnSp>
        <p:nvCxnSpPr>
          <p:cNvPr id="1517" name="Google Shape;1517;p70"/>
          <p:cNvCxnSpPr/>
          <p:nvPr/>
        </p:nvCxnSpPr>
        <p:spPr>
          <a:xfrm>
            <a:off x="1320800" y="3048000"/>
            <a:ext cx="0" cy="3429000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18" name="Google Shape;1518;p70"/>
          <p:cNvCxnSpPr/>
          <p:nvPr/>
        </p:nvCxnSpPr>
        <p:spPr>
          <a:xfrm rot="10800000">
            <a:off x="1117600" y="6324600"/>
            <a:ext cx="4876800" cy="0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19" name="Google Shape;1519;p70"/>
          <p:cNvSpPr/>
          <p:nvPr/>
        </p:nvSpPr>
        <p:spPr>
          <a:xfrm>
            <a:off x="1615016" y="4697412"/>
            <a:ext cx="101600" cy="762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70"/>
          <p:cNvSpPr/>
          <p:nvPr/>
        </p:nvSpPr>
        <p:spPr>
          <a:xfrm>
            <a:off x="2870200" y="5332412"/>
            <a:ext cx="101600" cy="762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70"/>
          <p:cNvSpPr/>
          <p:nvPr/>
        </p:nvSpPr>
        <p:spPr>
          <a:xfrm>
            <a:off x="2705100" y="4332287"/>
            <a:ext cx="101600" cy="762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70"/>
          <p:cNvSpPr/>
          <p:nvPr/>
        </p:nvSpPr>
        <p:spPr>
          <a:xfrm>
            <a:off x="2789767" y="4610100"/>
            <a:ext cx="101600" cy="762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70"/>
          <p:cNvSpPr/>
          <p:nvPr/>
        </p:nvSpPr>
        <p:spPr>
          <a:xfrm>
            <a:off x="2131483" y="4421187"/>
            <a:ext cx="101600" cy="762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70"/>
          <p:cNvSpPr/>
          <p:nvPr/>
        </p:nvSpPr>
        <p:spPr>
          <a:xfrm>
            <a:off x="2770716" y="4975225"/>
            <a:ext cx="101600" cy="762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70"/>
          <p:cNvSpPr/>
          <p:nvPr/>
        </p:nvSpPr>
        <p:spPr>
          <a:xfrm>
            <a:off x="3139016" y="5851525"/>
            <a:ext cx="101600" cy="762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70"/>
          <p:cNvSpPr/>
          <p:nvPr/>
        </p:nvSpPr>
        <p:spPr>
          <a:xfrm>
            <a:off x="2152649" y="5153025"/>
            <a:ext cx="101600" cy="76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70"/>
          <p:cNvSpPr/>
          <p:nvPr/>
        </p:nvSpPr>
        <p:spPr>
          <a:xfrm>
            <a:off x="2607733" y="6064250"/>
            <a:ext cx="101600" cy="762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70"/>
          <p:cNvSpPr/>
          <p:nvPr/>
        </p:nvSpPr>
        <p:spPr>
          <a:xfrm>
            <a:off x="2165349" y="4724400"/>
            <a:ext cx="101600" cy="76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p70"/>
          <p:cNvSpPr/>
          <p:nvPr/>
        </p:nvSpPr>
        <p:spPr>
          <a:xfrm>
            <a:off x="1981200" y="4660900"/>
            <a:ext cx="101600" cy="76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70"/>
          <p:cNvSpPr/>
          <p:nvPr/>
        </p:nvSpPr>
        <p:spPr>
          <a:xfrm>
            <a:off x="2969683" y="4322762"/>
            <a:ext cx="101600" cy="76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70"/>
          <p:cNvSpPr/>
          <p:nvPr/>
        </p:nvSpPr>
        <p:spPr>
          <a:xfrm>
            <a:off x="4152900" y="4452937"/>
            <a:ext cx="101600" cy="76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70"/>
          <p:cNvSpPr/>
          <p:nvPr/>
        </p:nvSpPr>
        <p:spPr>
          <a:xfrm>
            <a:off x="4673600" y="4419600"/>
            <a:ext cx="101600" cy="76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70"/>
          <p:cNvSpPr/>
          <p:nvPr/>
        </p:nvSpPr>
        <p:spPr>
          <a:xfrm>
            <a:off x="4876800" y="4572000"/>
            <a:ext cx="101600" cy="76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70"/>
          <p:cNvSpPr/>
          <p:nvPr/>
        </p:nvSpPr>
        <p:spPr>
          <a:xfrm>
            <a:off x="3793067" y="4294187"/>
            <a:ext cx="101600" cy="76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70"/>
          <p:cNvSpPr/>
          <p:nvPr/>
        </p:nvSpPr>
        <p:spPr>
          <a:xfrm>
            <a:off x="4588933" y="3717925"/>
            <a:ext cx="101600" cy="76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70"/>
          <p:cNvSpPr/>
          <p:nvPr/>
        </p:nvSpPr>
        <p:spPr>
          <a:xfrm>
            <a:off x="4275667" y="3817937"/>
            <a:ext cx="101600" cy="76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70"/>
          <p:cNvSpPr/>
          <p:nvPr/>
        </p:nvSpPr>
        <p:spPr>
          <a:xfrm>
            <a:off x="1983316" y="4884737"/>
            <a:ext cx="101600" cy="76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70"/>
          <p:cNvSpPr/>
          <p:nvPr/>
        </p:nvSpPr>
        <p:spPr>
          <a:xfrm>
            <a:off x="1691216" y="4591050"/>
            <a:ext cx="101600" cy="76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70"/>
          <p:cNvSpPr/>
          <p:nvPr/>
        </p:nvSpPr>
        <p:spPr>
          <a:xfrm>
            <a:off x="4817533" y="4140200"/>
            <a:ext cx="101600" cy="76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70"/>
          <p:cNvSpPr/>
          <p:nvPr/>
        </p:nvSpPr>
        <p:spPr>
          <a:xfrm>
            <a:off x="4250267" y="5192712"/>
            <a:ext cx="101600" cy="76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70"/>
          <p:cNvSpPr/>
          <p:nvPr/>
        </p:nvSpPr>
        <p:spPr>
          <a:xfrm>
            <a:off x="4252383" y="4691062"/>
            <a:ext cx="101600" cy="76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70"/>
          <p:cNvSpPr txBox="1"/>
          <p:nvPr/>
        </p:nvSpPr>
        <p:spPr>
          <a:xfrm>
            <a:off x="6206067" y="3167062"/>
            <a:ext cx="5706533" cy="210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What’s LOOCV of 1-NN?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What’s LOOCV of 3-NN?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What’s LOOCV of 22-NN?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71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Cross-validation for classification</a:t>
            </a:r>
            <a:endParaRPr/>
          </a:p>
        </p:txBody>
      </p:sp>
      <p:sp>
        <p:nvSpPr>
          <p:cNvPr id="1548" name="Google Shape;1548;p71"/>
          <p:cNvSpPr txBox="1"/>
          <p:nvPr>
            <p:ph idx="1" type="body"/>
          </p:nvPr>
        </p:nvSpPr>
        <p:spPr>
          <a:xfrm>
            <a:off x="304800" y="990600"/>
            <a:ext cx="11432116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Instead of computing the sum squared errors on a test set, you should compute…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The total number of misclassifications on a testset.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there’s a more sensitive alternative: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Compute 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log P(all test outputs|all test inputs, your model)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72"/>
          <p:cNvSpPr txBox="1"/>
          <p:nvPr>
            <p:ph type="title"/>
          </p:nvPr>
        </p:nvSpPr>
        <p:spPr>
          <a:xfrm>
            <a:off x="402167" y="165100"/>
            <a:ext cx="113792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Cross-Validation for classification</a:t>
            </a:r>
            <a:endParaRPr/>
          </a:p>
        </p:txBody>
      </p:sp>
      <p:sp>
        <p:nvSpPr>
          <p:cNvPr id="1554" name="Google Shape;1554;p72"/>
          <p:cNvSpPr txBox="1"/>
          <p:nvPr>
            <p:ph idx="1" type="body"/>
          </p:nvPr>
        </p:nvSpPr>
        <p:spPr>
          <a:xfrm>
            <a:off x="304800" y="1527175"/>
            <a:ext cx="11432116" cy="494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Choosing the pruning parameter for decision trees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selection (see later)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kind of Gaussian to use in a Gaussian-based Bayes Classifier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Choosing which classifier to use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73"/>
          <p:cNvSpPr txBox="1"/>
          <p:nvPr>
            <p:ph type="title"/>
          </p:nvPr>
        </p:nvSpPr>
        <p:spPr>
          <a:xfrm>
            <a:off x="402167" y="165100"/>
            <a:ext cx="11379200" cy="1273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Cross-Validation for density estimation</a:t>
            </a:r>
            <a:endParaRPr/>
          </a:p>
        </p:txBody>
      </p:sp>
      <p:sp>
        <p:nvSpPr>
          <p:cNvPr id="1560" name="Google Shape;1560;p73"/>
          <p:cNvSpPr txBox="1"/>
          <p:nvPr>
            <p:ph idx="1" type="body"/>
          </p:nvPr>
        </p:nvSpPr>
        <p:spPr>
          <a:xfrm>
            <a:off x="304800" y="1527175"/>
            <a:ext cx="11432116" cy="494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the sum of log-likelihoods of test points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Example uses: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Choosing what kind of Gaussian assumption to use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the density estimator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Feature selection (testset density will almost always look better with fewer features)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74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Feature Selection</a:t>
            </a:r>
            <a:endParaRPr/>
          </a:p>
        </p:txBody>
      </p:sp>
      <p:sp>
        <p:nvSpPr>
          <p:cNvPr id="1566" name="Google Shape;1566;p74"/>
          <p:cNvSpPr txBox="1"/>
          <p:nvPr>
            <p:ph idx="1" type="body"/>
          </p:nvPr>
        </p:nvSpPr>
        <p:spPr>
          <a:xfrm>
            <a:off x="304800" y="990600"/>
            <a:ext cx="11432116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you have a learning algorithm LA and a set of input attributes </a:t>
            </a: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 X</a:t>
            </a:r>
            <a:r>
              <a:rPr b="0" baseline="-2500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X</a:t>
            </a:r>
            <a:r>
              <a:rPr b="0" baseline="-2500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.. X</a:t>
            </a:r>
            <a:r>
              <a:rPr b="0" baseline="-2500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expect that LA will only find some subset of the attributes useful.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Question: How can we use cross-validation to find a useful subset?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ideas: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Forward selection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Backward elimination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 Climbing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Stochastic search (Simulated Annealing or GAs)</a:t>
            </a:r>
            <a:endParaRPr/>
          </a:p>
        </p:txBody>
      </p:sp>
      <p:sp>
        <p:nvSpPr>
          <p:cNvPr id="1567" name="Google Shape;1567;p74"/>
          <p:cNvSpPr/>
          <p:nvPr/>
        </p:nvSpPr>
        <p:spPr>
          <a:xfrm>
            <a:off x="5689600" y="4572000"/>
            <a:ext cx="5892800" cy="1219200"/>
          </a:xfrm>
          <a:prstGeom prst="wedgeRectCallout">
            <a:avLst>
              <a:gd fmla="val 1606" name="adj1"/>
              <a:gd fmla="val -8213" name="adj2"/>
            </a:avLst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Another fun area in which Andrew has spent a lot of his wild youth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75"/>
          <p:cNvSpPr txBox="1"/>
          <p:nvPr>
            <p:ph type="title"/>
          </p:nvPr>
        </p:nvSpPr>
        <p:spPr>
          <a:xfrm>
            <a:off x="304800" y="152400"/>
            <a:ext cx="1137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Very serious warning</a:t>
            </a:r>
            <a:endParaRPr/>
          </a:p>
        </p:txBody>
      </p:sp>
      <p:sp>
        <p:nvSpPr>
          <p:cNvPr id="1573" name="Google Shape;1573;p75"/>
          <p:cNvSpPr txBox="1"/>
          <p:nvPr>
            <p:ph idx="1" type="body"/>
          </p:nvPr>
        </p:nvSpPr>
        <p:spPr>
          <a:xfrm>
            <a:off x="304800" y="609600"/>
            <a:ext cx="11432116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Intensive use of cross validation can overfit.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How? </a:t>
            </a:r>
            <a:endParaRPr/>
          </a:p>
          <a:p>
            <a:pPr indent="-762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3CC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3CC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3CC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3CC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3CC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can be done about it?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76"/>
          <p:cNvSpPr txBox="1"/>
          <p:nvPr>
            <p:ph type="title"/>
          </p:nvPr>
        </p:nvSpPr>
        <p:spPr>
          <a:xfrm>
            <a:off x="304800" y="152400"/>
            <a:ext cx="1137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Very serious warning</a:t>
            </a:r>
            <a:endParaRPr/>
          </a:p>
        </p:txBody>
      </p:sp>
      <p:sp>
        <p:nvSpPr>
          <p:cNvPr id="1579" name="Google Shape;1579;p76"/>
          <p:cNvSpPr txBox="1"/>
          <p:nvPr>
            <p:ph idx="1" type="body"/>
          </p:nvPr>
        </p:nvSpPr>
        <p:spPr>
          <a:xfrm>
            <a:off x="304800" y="609600"/>
            <a:ext cx="11432116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Intensive use of cross validation can overfit.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How? 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Imagine a dataset with 50 records and 1000 attributes.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You try 1000 linear regression models, each one using one of the attributes.</a:t>
            </a:r>
            <a:endParaRPr/>
          </a:p>
          <a:p>
            <a:pPr indent="-762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can be done about it?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77"/>
          <p:cNvSpPr txBox="1"/>
          <p:nvPr>
            <p:ph type="title"/>
          </p:nvPr>
        </p:nvSpPr>
        <p:spPr>
          <a:xfrm>
            <a:off x="304800" y="152400"/>
            <a:ext cx="1137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Very serious warning</a:t>
            </a:r>
            <a:endParaRPr/>
          </a:p>
        </p:txBody>
      </p:sp>
      <p:sp>
        <p:nvSpPr>
          <p:cNvPr id="1585" name="Google Shape;1585;p77"/>
          <p:cNvSpPr txBox="1"/>
          <p:nvPr>
            <p:ph idx="1" type="body"/>
          </p:nvPr>
        </p:nvSpPr>
        <p:spPr>
          <a:xfrm>
            <a:off x="304800" y="609600"/>
            <a:ext cx="11432116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Intensive use of cross validation can overfit.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How? 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Imagine a dataset with 50 records and 1000 attributes.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You try 1000 linear regression models, each one using one of the attributes.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The best of those 1000 looks good!</a:t>
            </a:r>
            <a:endParaRPr/>
          </a:p>
          <a:p>
            <a:pPr indent="-762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can be done about it?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78"/>
          <p:cNvSpPr txBox="1"/>
          <p:nvPr>
            <p:ph type="title"/>
          </p:nvPr>
        </p:nvSpPr>
        <p:spPr>
          <a:xfrm>
            <a:off x="304800" y="152400"/>
            <a:ext cx="1137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Very serious warning</a:t>
            </a:r>
            <a:endParaRPr/>
          </a:p>
        </p:txBody>
      </p:sp>
      <p:sp>
        <p:nvSpPr>
          <p:cNvPr id="1591" name="Google Shape;1591;p78"/>
          <p:cNvSpPr txBox="1"/>
          <p:nvPr>
            <p:ph idx="1" type="body"/>
          </p:nvPr>
        </p:nvSpPr>
        <p:spPr>
          <a:xfrm>
            <a:off x="304800" y="609600"/>
            <a:ext cx="11432116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Intensive use of cross validation can overfit.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How? 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Imagine a dataset with 50 records and 1000 attributes.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You try 1000 linear regression models, each one using one of the attributes.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The best of those 1000 looks good!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But you realize it would have looked good even if the output had been purely random!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can be done about it?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Hold out an additional testset before doing any model selection. Check the best model performs well even on the additional testset.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rPr>
              <a:t>Or: Randomization Testing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79"/>
          <p:cNvSpPr txBox="1"/>
          <p:nvPr>
            <p:ph type="title"/>
          </p:nvPr>
        </p:nvSpPr>
        <p:spPr>
          <a:xfrm>
            <a:off x="304800" y="152400"/>
            <a:ext cx="1137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What you should know</a:t>
            </a:r>
            <a:endParaRPr/>
          </a:p>
        </p:txBody>
      </p:sp>
      <p:sp>
        <p:nvSpPr>
          <p:cNvPr id="1597" name="Google Shape;1597;p79"/>
          <p:cNvSpPr txBox="1"/>
          <p:nvPr>
            <p:ph idx="1" type="body"/>
          </p:nvPr>
        </p:nvSpPr>
        <p:spPr>
          <a:xfrm>
            <a:off x="304800" y="990600"/>
            <a:ext cx="11432116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you can’t use “training-set-error” to estimate the quality of your learning algorithm on your data.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you can’t use “training set error” to choose the learning algorithm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Test-set cross-validation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Leave-one-out cross-validation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k-fold cross-validation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selection methods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CV for classification, regression &amp; densities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ends">
  <a:themeElements>
    <a:clrScheme name="default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E4A8"/>
      </a:accent4>
      <a:accent5>
        <a:srgbClr val="FFCF01"/>
      </a:accent5>
      <a:accent6>
        <a:srgbClr val="FFFFFF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